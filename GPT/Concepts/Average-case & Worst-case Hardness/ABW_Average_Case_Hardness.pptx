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3f3754c4d1d455e" /><Relationship Type="http://schemas.openxmlformats.org/officeDocument/2006/relationships/extended-properties" Target="/docProps/app.xml" Id="Rae380940d0c44abe" /><Relationship Type="http://schemas.openxmlformats.org/officeDocument/2006/relationships/officeDocument" Target="/ppt/presentation.xml" Id="Rf0ca670bcb7f43ea" /></Relationships>
</file>

<file path=ppt/presentation.xml><?xml version="1.0" encoding="utf-8"?>
<p:presentation xmlns:p="http://schemas.openxmlformats.org/presentationml/2006/main">
  <p:sldMasterIdLst>
    <p:sldMasterId xmlns:r="http://schemas.openxmlformats.org/officeDocument/2006/relationships" id="2147483648" r:id="Rc7eaa82e83ca4755"/>
  </p:sldMasterIdLst>
  <p:notesMasterIdLst>
    <p:notesMasterId xmlns:r="http://schemas.openxmlformats.org/officeDocument/2006/relationships" r:id="R53cd2b79d6044bf6"/>
  </p:notesMasterIdLst>
  <p:sldIdLst>
    <p:sldId xmlns:r="http://schemas.openxmlformats.org/officeDocument/2006/relationships" id="256" r:id="R46fa980f31144c71"/>
    <p:sldId xmlns:r="http://schemas.openxmlformats.org/officeDocument/2006/relationships" id="257" r:id="R8db7c5a873a449d4"/>
    <p:sldId xmlns:r="http://schemas.openxmlformats.org/officeDocument/2006/relationships" id="258" r:id="Rd8d6127318124e0d"/>
    <p:sldId xmlns:r="http://schemas.openxmlformats.org/officeDocument/2006/relationships" id="259" r:id="Rb5493b2d9a10461c"/>
    <p:sldId xmlns:r="http://schemas.openxmlformats.org/officeDocument/2006/relationships" id="260" r:id="R3eb37c69686d4abd"/>
    <p:sldId xmlns:r="http://schemas.openxmlformats.org/officeDocument/2006/relationships" id="261" r:id="R05a974199a544d85"/>
    <p:sldId xmlns:r="http://schemas.openxmlformats.org/officeDocument/2006/relationships" id="262" r:id="Re70d8a5b876b41a9"/>
    <p:sldId xmlns:r="http://schemas.openxmlformats.org/officeDocument/2006/relationships" id="263" r:id="Rac650af5788244ea"/>
    <p:sldId xmlns:r="http://schemas.openxmlformats.org/officeDocument/2006/relationships" id="264" r:id="R8a2ddeaedf1a4666"/>
    <p:sldId xmlns:r="http://schemas.openxmlformats.org/officeDocument/2006/relationships" id="265" r:id="Re796ec5f1342441d"/>
    <p:sldId xmlns:r="http://schemas.openxmlformats.org/officeDocument/2006/relationships" id="266" r:id="Rdd64e40e2b9f42c4"/>
    <p:sldId xmlns:r="http://schemas.openxmlformats.org/officeDocument/2006/relationships" id="267" r:id="R7a12a7daffec425b"/>
    <p:sldId xmlns:r="http://schemas.openxmlformats.org/officeDocument/2006/relationships" id="268" r:id="R6875bd9731204b6f"/>
    <p:sldId xmlns:r="http://schemas.openxmlformats.org/officeDocument/2006/relationships" id="269" r:id="R153241fd3e554c7d"/>
    <p:sldId xmlns:r="http://schemas.openxmlformats.org/officeDocument/2006/relationships" id="270" r:id="Rbaa567ec569d45a5"/>
    <p:sldId xmlns:r="http://schemas.openxmlformats.org/officeDocument/2006/relationships" id="271" r:id="Rd59cf76fc52a4088"/>
    <p:sldId xmlns:r="http://schemas.openxmlformats.org/officeDocument/2006/relationships" id="272" r:id="Ra122dbcbc6354762"/>
    <p:sldId xmlns:r="http://schemas.openxmlformats.org/officeDocument/2006/relationships" id="273" r:id="R4337db4954f54294"/>
    <p:sldId xmlns:r="http://schemas.openxmlformats.org/officeDocument/2006/relationships" id="274" r:id="R7910f89a2eb94b61"/>
    <p:sldId xmlns:r="http://schemas.openxmlformats.org/officeDocument/2006/relationships" id="275" r:id="R70f8bd2a038446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336a16051b4f57" /><Relationship Type="http://schemas.openxmlformats.org/officeDocument/2006/relationships/slideMaster" Target="/ppt/slideMasters/slideMaster1.xml" Id="Rc7eaa82e83ca4755" /><Relationship Type="http://schemas.openxmlformats.org/officeDocument/2006/relationships/notesMaster" Target="/ppt/notesMasters/notesMaster1.xml" Id="R53cd2b79d6044bf6" /><Relationship Type="http://schemas.openxmlformats.org/officeDocument/2006/relationships/presProps" Target="/ppt/presProps.xml" Id="R8072a9a69aef49c0" /><Relationship Type="http://schemas.openxmlformats.org/officeDocument/2006/relationships/tableStyles" Target="/ppt/tableStyles.xml" Id="Rb91c0042980d4453" /><Relationship Type="http://schemas.openxmlformats.org/officeDocument/2006/relationships/slide" Target="/ppt/slides/slide1.xml" Id="R46fa980f31144c71" /><Relationship Type="http://schemas.openxmlformats.org/officeDocument/2006/relationships/slide" Target="/ppt/slides/slide2.xml" Id="R8db7c5a873a449d4" /><Relationship Type="http://schemas.openxmlformats.org/officeDocument/2006/relationships/slide" Target="/ppt/slides/slide3.xml" Id="Rd8d6127318124e0d" /><Relationship Type="http://schemas.openxmlformats.org/officeDocument/2006/relationships/slide" Target="/ppt/slides/slide4.xml" Id="Rb5493b2d9a10461c" /><Relationship Type="http://schemas.openxmlformats.org/officeDocument/2006/relationships/slide" Target="/ppt/slides/slide5.xml" Id="R3eb37c69686d4abd" /><Relationship Type="http://schemas.openxmlformats.org/officeDocument/2006/relationships/slide" Target="/ppt/slides/slide6.xml" Id="R05a974199a544d85" /><Relationship Type="http://schemas.openxmlformats.org/officeDocument/2006/relationships/slide" Target="/ppt/slides/slide7.xml" Id="Re70d8a5b876b41a9" /><Relationship Type="http://schemas.openxmlformats.org/officeDocument/2006/relationships/slide" Target="/ppt/slides/slide8.xml" Id="Rac650af5788244ea" /><Relationship Type="http://schemas.openxmlformats.org/officeDocument/2006/relationships/slide" Target="/ppt/slides/slide9.xml" Id="R8a2ddeaedf1a4666" /><Relationship Type="http://schemas.openxmlformats.org/officeDocument/2006/relationships/slide" Target="/ppt/slides/slide10.xml" Id="Re796ec5f1342441d" /><Relationship Type="http://schemas.openxmlformats.org/officeDocument/2006/relationships/slide" Target="/ppt/slides/slide11.xml" Id="Rdd64e40e2b9f42c4" /><Relationship Type="http://schemas.openxmlformats.org/officeDocument/2006/relationships/slide" Target="/ppt/slides/slide12.xml" Id="R7a12a7daffec425b" /><Relationship Type="http://schemas.openxmlformats.org/officeDocument/2006/relationships/slide" Target="/ppt/slides/slide13.xml" Id="R6875bd9731204b6f" /><Relationship Type="http://schemas.openxmlformats.org/officeDocument/2006/relationships/slide" Target="/ppt/slides/slide14.xml" Id="R153241fd3e554c7d" /><Relationship Type="http://schemas.openxmlformats.org/officeDocument/2006/relationships/slide" Target="/ppt/slides/slide15.xml" Id="Rbaa567ec569d45a5" /><Relationship Type="http://schemas.openxmlformats.org/officeDocument/2006/relationships/slide" Target="/ppt/slides/slide16.xml" Id="Rd59cf76fc52a4088" /><Relationship Type="http://schemas.openxmlformats.org/officeDocument/2006/relationships/slide" Target="/ppt/slides/slide17.xml" Id="Ra122dbcbc6354762" /><Relationship Type="http://schemas.openxmlformats.org/officeDocument/2006/relationships/slide" Target="/ppt/slides/slide18.xml" Id="R4337db4954f54294" /><Relationship Type="http://schemas.openxmlformats.org/officeDocument/2006/relationships/slide" Target="/ppt/slides/slide19.xml" Id="R7910f89a2eb94b61" /><Relationship Type="http://schemas.openxmlformats.org/officeDocument/2006/relationships/slide" Target="/ppt/slides/slide20.xml" Id="R70f8bd2a038446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39c029b0864e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fcd9ce3eb5427e" /><Relationship Type="http://schemas.openxmlformats.org/officeDocument/2006/relationships/notesMaster" Target="/ppt/notesMasters/notesMaster1.xml" Id="Reb64422565ca46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b8fea9f4574615" /><Relationship Type="http://schemas.openxmlformats.org/officeDocument/2006/relationships/notesMaster" Target="/ppt/notesMasters/notesMaster1.xml" Id="R93fbfa34496340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5b8a03e87a4d81" /><Relationship Type="http://schemas.openxmlformats.org/officeDocument/2006/relationships/notesMaster" Target="/ppt/notesMasters/notesMaster1.xml" Id="Rc6ebe3af1d0e42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2bcfddbd5440e4" /><Relationship Type="http://schemas.openxmlformats.org/officeDocument/2006/relationships/notesMaster" Target="/ppt/notesMasters/notesMaster1.xml" Id="Rccbbaba12f0c4f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772df4336c4abc" /><Relationship Type="http://schemas.openxmlformats.org/officeDocument/2006/relationships/notesMaster" Target="/ppt/notesMasters/notesMaster1.xml" Id="Ra9aed818fb0846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43524a23104e24" /><Relationship Type="http://schemas.openxmlformats.org/officeDocument/2006/relationships/notesMaster" Target="/ppt/notesMasters/notesMaster1.xml" Id="Ra176a0ffec60461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dc4ed340904a53" /><Relationship Type="http://schemas.openxmlformats.org/officeDocument/2006/relationships/notesMaster" Target="/ppt/notesMasters/notesMaster1.xml" Id="R53ce65ad59694e3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3f1efbc8754d76" /><Relationship Type="http://schemas.openxmlformats.org/officeDocument/2006/relationships/notesMaster" Target="/ppt/notesMasters/notesMaster1.xml" Id="R079e5618237e4d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96a229befc4d0e" /><Relationship Type="http://schemas.openxmlformats.org/officeDocument/2006/relationships/notesMaster" Target="/ppt/notesMasters/notesMaster1.xml" Id="Rebd780efb11243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c1cab646ea546c7" /><Relationship Type="http://schemas.openxmlformats.org/officeDocument/2006/relationships/notesMaster" Target="/ppt/notesMasters/notesMaster1.xml" Id="Rd53d6b57ec9e45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48f669ee394d25" /><Relationship Type="http://schemas.openxmlformats.org/officeDocument/2006/relationships/notesMaster" Target="/ppt/notesMasters/notesMaster1.xml" Id="R3758800aa57a486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542cc2dcbe42fd" /><Relationship Type="http://schemas.openxmlformats.org/officeDocument/2006/relationships/notesMaster" Target="/ppt/notesMasters/notesMaster1.xml" Id="Racce06e16db24e6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be6fd76e4e4c79" /><Relationship Type="http://schemas.openxmlformats.org/officeDocument/2006/relationships/notesMaster" Target="/ppt/notesMasters/notesMaster1.xml" Id="R70e7df5d40f344d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c8c9ee0ffff4762" /><Relationship Type="http://schemas.openxmlformats.org/officeDocument/2006/relationships/notesMaster" Target="/ppt/notesMasters/notesMaster1.xml" Id="R36de79f7e3444be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b1d3dd66b2d4a80" /><Relationship Type="http://schemas.openxmlformats.org/officeDocument/2006/relationships/notesMaster" Target="/ppt/notesMasters/notesMaster1.xml" Id="R4fc5f933317c4e3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c07a9ac2e6e46f5" /><Relationship Type="http://schemas.openxmlformats.org/officeDocument/2006/relationships/notesMaster" Target="/ppt/notesMasters/notesMaster1.xml" Id="Rd8d55990e38b4cb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2772ab821144a9" /><Relationship Type="http://schemas.openxmlformats.org/officeDocument/2006/relationships/notesMaster" Target="/ppt/notesMasters/notesMaster1.xml" Id="R4e55811a967948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718fe6cf89847ec" /><Relationship Type="http://schemas.openxmlformats.org/officeDocument/2006/relationships/notesMaster" Target="/ppt/notesMasters/notesMaster1.xml" Id="Raf7f38ad9f3c476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559b6394599460c" /><Relationship Type="http://schemas.openxmlformats.org/officeDocument/2006/relationships/notesMaster" Target="/ppt/notesMasters/notesMaster1.xml" Id="R7545dcaaa6d14d0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660621ace804d31" /><Relationship Type="http://schemas.openxmlformats.org/officeDocument/2006/relationships/notesMaster" Target="/ppt/notesMasters/notesMaster1.xml" Id="R70b2ddfc8bf844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15–20 minute conceptual presentation for cryptography colleagues. Slides 1–16 are the main talk and 17–20 are the appendix. Terminology: average-case hardness, also called hardness on average. The illustrations use deliberately small numbers and artificial distributions to explain definitions. They are not proposed cryptographic parameters. Assessment date: 6 October 2026.</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https://www.cs.cornell.edu/courses/cs6830/2009fa/lecnotes.pdf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Interpretation of the sentence supplied by the user. ABW seeks additional assumption families for public-key encryption, involving local constraints and graph structure. The word new refers to the paper’s 2009/2010 context. The claim is a conditional construction result. Difference from existing assumptions does not establish greater security or efficiency.</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average-case refers to cryptographic success probabilities under an instance distribution. General average-case complexity can also study expected running time, but that is not the only definition. NP-hardness is a worst-case reduction statement. Assuming an appropriate worst-case separation, it rules out a solver correct on every instance, without establishing a useful average-case success bound for a particular distribution.</a:t>
            </a:r>
          </a:p>
          <a:p xmlns:a="http://schemas.openxmlformats.org/drawingml/2006/main">
            <a:r>
              <a:t/>
            </a:r>
          </a:p>
          <a:p xmlns:a="http://schemas.openxmlformats.org/drawingml/2006/main">
            <a:r>
              <a:t>Sources</a:t>
            </a:r>
          </a:p>
          <a:p xmlns:a="http://schemas.openxmlformats.org/drawingml/2006/main">
            <a:r>
              <a:t>https://www.cs.cornell.edu/courses/cs6830/2009fa/lecnotes.pdf</a:t>
            </a:r>
          </a:p>
          <a:p xmlns:a="http://schemas.openxmlformats.org/drawingml/2006/main">
            <a:r>
              <a:t>https://theory.cs.princeton.edu/complexity/book.pdf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original teaching example. With probability .99, the sampler outputs a trivially satisfiable formula of the desired size, such as x1 conjoined with padding tautologies. With probability .01 it outputs an arbitrary formula drawn from an efficiently sampleable general-formula distribution Q_n. The solver that always says satisfiable is correct with probability at least .99, regardless of its behaviour on Q_n. The general branch does not consist exclusively of hard or unsatisfiable inputs. The chart displays sampler branch mass, not measured hardness or exact classification success. SAT as a worst-case problem remains NP-complete.</a:t>
            </a:r>
          </a:p>
          <a:p xmlns:a="http://schemas.openxmlformats.org/drawingml/2006/main">
            <a:r>
              <a:t/>
            </a:r>
          </a:p>
          <a:p xmlns:a="http://schemas.openxmlformats.org/drawingml/2006/main">
            <a:r>
              <a:t>Sources</a:t>
            </a:r>
          </a:p>
          <a:p xmlns:a="http://schemas.openxmlformats.org/drawingml/2006/main">
            <a:r>
              <a:t>https://www.cs.cornell.edu/courses/cs6830/2009fa/lecnotes.pdf</a:t>
            </a:r>
          </a:p>
          <a:p xmlns:a="http://schemas.openxmlformats.org/drawingml/2006/main">
            <a:r>
              <a:t>https://theory.cs.princeton.edu/complexity/book.pdf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original distribution illustration inspired by standard factoring assumptions. An even product N=2p reveals a nontrivial factor immediately. Products of two independently sampled, distinct, similarly sized primes are a different distribution. Classical hardness for suitably large random semiprimes is conjectured; the small products shown are easy and only illustrate arithmetic. Factoring is not known to be NP-hard, and RSA inversion is not simply equivalent to factoring in general. The point is distribution dependence, not a hardness proof.</a:t>
            </a:r>
          </a:p>
          <a:p xmlns:a="http://schemas.openxmlformats.org/drawingml/2006/main">
            <a:r>
              <a:t/>
            </a:r>
          </a:p>
          <a:p xmlns:a="http://schemas.openxmlformats.org/drawingml/2006/main">
            <a:r>
              <a:t>Sources</a:t>
            </a:r>
          </a:p>
          <a:p xmlns:a="http://schemas.openxmlformats.org/drawingml/2006/main">
            <a:r>
              <a:t>https://www.cs.cornell.edu/courses/cs6830/2009fa/lecnotes.pdf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recovery of a planted secret, draw (I,w) from a defined efficient joint generator and supply only I to A. Average A’s success over the generator’s random choices and the adversary’s random coins. A general search problem may accept any valid witness; planted recovery specifically scores equality with the sampled w. The security parameter indexes an ensemble D_n rather than a single distribution. This deck later uses n for ABW’s number of variables. Do not confuse average success with expected running time.</a:t>
            </a:r>
          </a:p>
          <a:p xmlns:a="http://schemas.openxmlformats.org/drawingml/2006/main">
            <a:r>
              <a:t/>
            </a:r>
          </a:p>
          <a:p xmlns:a="http://schemas.openxmlformats.org/drawingml/2006/main">
            <a:r>
              <a:t>Sources</a:t>
            </a:r>
          </a:p>
          <a:p xmlns:a="http://schemas.openxmlformats.org/drawingml/2006/main">
            <a:r>
              <a:t>https://www.cs.cornell.edu/courses/cs6830/2009fa/lecnotes.pdf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row is the probability for a blind independent guess of a uniformly sampled n-bit secret, not a claim about posterior information after observations. A general search verifier may accept any valid witness. A balanced distinguishing game chooses one of two distributions with probability 1/2 each, so blind guessing succeeds with probability 1/2. In an unbalanced classification dataset, always guessing the more common class can succeed much more often without learning anything. Use advantage above an appropriate baseline and specify its normalization.</a:t>
            </a:r>
          </a:p>
          <a:p xmlns:a="http://schemas.openxmlformats.org/drawingml/2006/main">
            <a:r>
              <a:t/>
            </a:r>
          </a:p>
          <a:p xmlns:a="http://schemas.openxmlformats.org/drawingml/2006/main">
            <a:r>
              <a:t>Sources</a:t>
            </a:r>
          </a:p>
          <a:p xmlns:a="http://schemas.openxmlformats.org/drawingml/2006/main">
            <a:r>
              <a:t>https://www.cs.cornell.edu/courses/cs6830/2009fa/lecnotes.pdf</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original pedagogical description. Sampling a witness first and then computing its image can be easy, while recovering a preimage from the image can be conjecturally difficult. Factoring illustrates this with sampled primes and their product. For general one-way functions, recovering any preimage suffices, not necessarily the exact sampled x. This generation idea alone does not construct a public-key encryption scheme. In ABW’s ciphertext equations, x is fresh encryption randomness rather than the long-term decryption key.</a:t>
            </a:r>
          </a:p>
          <a:p xmlns:a="http://schemas.openxmlformats.org/drawingml/2006/main">
            <a:r>
              <a:t/>
            </a:r>
          </a:p>
          <a:p xmlns:a="http://schemas.openxmlformats.org/drawingml/2006/main">
            <a:r>
              <a:t>Sources</a:t>
            </a:r>
          </a:p>
          <a:p xmlns:a="http://schemas.openxmlformats.org/drawingml/2006/main">
            <a:r>
              <a:t>https://www.cs.cornell.edu/courses/cs6830/2009fa/lecnotes.pdf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Independently sample each row of M uniformly among binary vectors with exactly d ones. Sample x uniformly and noise entries independently as Ber(epsilon), then set b=Mx+e. The adversary gets M and b. The picture shows the noiseless part of one row selecting x1,x2,x4. Changing locality, row distribution, sample count or noise changes the assumption.</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finite-field example, not a hardness instance. Use x=(1,0,1,1)^T. The clean labels are (0,0,1,0)^T. Set e=(0,1,0,0)^T to illustrate one realized error, giving b=(0,1,1,0)^T. This is one chosen realization, not an assertion that Bernoulli noise always flips exactly one equation. Matrix rows select variables {1,2,3},{1,2,4},{1,3,4},{2,3,4}. All arithmetic uses XOR. The next slide shows a different assignment with an exact fit.</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calculation using the prior slide. M is a full-rank 4 by 4 matrix over F2, so every label vector has a unique exact fit. For b=(0,1,1,0)^T, that fit is z=(0,1,1,0)^T. The sampled x=(1,0,1,1)^T violates one observed equation. Thus optimizing the observed fit does not automatically recover x. This deliberately underspecified small system is not in the ABW hardness regime, and it demonstrates why sample count and information-theoretic identifiability must be considered. Noiseless parity consistency and solving are polynomial-time tasks; noisy maximum satisfaction is a different task.</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Bernoulli errors give W~Binomial(m,epsilon), E[W]=m epsilon. The calculated illustrative PMF uses m=20, epsilon=.1, displaying k=0 through 8. The omitted tail above 8 is small but nonzero. Expected noise of 2 is not a deterministic error count. Cryptographic average-case hardness instead concerns the success of every efficient attacker across generated instances, including all noise realizations and attacker randomness. This slide separates two uses of the word average.</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https://www.cs.cornell.edu/courses/cs6830/2009fa/lecnotes.pdf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ABW Definition 5.1 sets success below 2/3 for every PPT algorithm at sufficiently large n. Assumption 5.2 uses Search3LIN(C0 n^1.4,C1 n^-0.2), for every positive constants C0,C1; footnote 9 says the applications only need appropriate fixed universal constants. The theorem’s constants and all reduction losses matter. This is a weak constant-success hardness statement, not a claim that every recovery probability is negligible. Probability includes sampling M,x,e and the adversary’s coins. The single-assumption theorem is search-based.</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ABW gives conditional implications from selected combinations of assumptions to semantically secure PKE. An efficient attack on the constructed encryption would, through the analysed reduction chain, yield an algorithm conflicting with the selected assumption. Parameter and success losses must be accounted for. Restricted algorithm lower bounds support plausibility but do not prove general hardness. Key generation plants a secret decryption structure under a law whose relationship to the problem ensemble is itself analysed. The raw weak bit scheme also requires amplification.</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https://crypto.ethz.ch/publications/files/HolRen05.pdf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Definitions rather than a chronology of the authors’ work. A hardness assumption is a conjectural computational statement. A reduction is a mathematical implication that can be proved while its premise remains conjectural. A benchmark or a lower bound for a restricted attack model gives evidence of a limited scope. No finite experiment exhausts all efficient algorithms. A novel attack can invalidate a proposed parameter set without refuting an asymptotic hardness assumption for all sufficiently large sizes.</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https://www.cs.cornell.edu/courses/cs6830/2009fa/lecnotes.pdf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Checklist drawn from the definitions developed in this presentation. Precisely name the input ensemble and distinguish the problem sampler from the planted public-key sampler. Fix success semantics and information available to the attacker. Specify n,m,d,epsilon and quantitative resource assumptions, classical or quantum. ABW’s asymptotic constant-success assumption alone does not calibrate a concrete 128-bit security estimate.</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Simplified comparison for a specified search success event. A weak statement can bound failure away from zero for every efficient adversary, leaving high success possible. Strong one-wayness requires negligible inversion success. Negligible means eventually smaller than 1/p(n) for every positive polynomial p. ABW uses a constant success threshold for Search3LIN and a nontrivial reduction/amplification argument to obtain strong encryption security. Weak and strong one-way functions can be related through an appropriate amplification construction; arbitrary repetition is not automatically a proof for every primitive.</a:t>
            </a:r>
          </a:p>
          <a:p xmlns:a="http://schemas.openxmlformats.org/drawingml/2006/main">
            <a:r>
              <a:t/>
            </a:r>
          </a:p>
          <a:p xmlns:a="http://schemas.openxmlformats.org/drawingml/2006/main">
            <a:r>
              <a:t>Sources</a:t>
            </a:r>
          </a:p>
          <a:p xmlns:a="http://schemas.openxmlformats.org/drawingml/2006/main">
            <a:r>
              <a:t>https://www.cs.cornell.edu/courses/cs6830/2009fa/lecnotes.pdf</a:t>
            </a:r>
          </a:p>
          <a:p xmlns:a="http://schemas.openxmlformats.org/drawingml/2006/main">
            <a:r>
              <a:t>https://www.math.ias.edu/~avi/PUBLICATIONS/MYPAPERS/ABW09/ABW09.pdf</a:t>
            </a:r>
          </a:p>
          <a:p xmlns:a="http://schemas.openxmlformats.org/drawingml/2006/main">
            <a:r>
              <a:t>https://crypto.ethz.ch/publications/files/HolRen05.pdf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P_n and Q_n as two input ensembles. Independently sample a fair hidden bit B, draw I from P_n for B=0 or Q_n for B=1, then let A guess B. This formulation measures |Pr[A(I)=B]-1/2|. ABW and many papers instead define distinguishing advantage as |Pr[A(P_n)=1]-Pr[A(Q_n)=1]|, which equals twice the guessing advantage for this experiment. Use one convention consistently. A biased class frequency is not evidence of cryptographic distinguishing power.</a:t>
            </a:r>
          </a:p>
          <a:p xmlns:a="http://schemas.openxmlformats.org/drawingml/2006/main">
            <a:r>
              <a:t/>
            </a:r>
          </a:p>
          <a:p xmlns:a="http://schemas.openxmlformats.org/drawingml/2006/main">
            <a:r>
              <a:t>Sources</a:t>
            </a:r>
          </a:p>
          <a:p xmlns:a="http://schemas.openxmlformats.org/drawingml/2006/main">
            <a:r>
              <a:t>https://www.cs.cornell.edu/courses/cs6830/2009fa/lecnotes.pdf</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example. M=[[1,1,1,0],[1,1,0,1],[1,0,1,1],[0,1,1,1]], x=(1,0,1,1)^T, e=(0,1,0,0)^T. Mx=(0,0,1,0)^T, b=(0,1,1,0)^T. For z=(0,1,1,0)^T, Mz=b. The matrix is invertible over F2, so z is the unique exact fit for b. The example demonstrates fit versus planted recovery rather than computational hardness. The delta z+x=(1,1,0,1)^T satisfies M delta=e.</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for the material. The SAT mixture, factoring numbers, parity example and binomial chart are original teaching examples and calculated illustrations. Reference URLs also appear in relevant speaker notes. ABW’s source is the November 2009 manuscript; the conference version appeared at STOC 2010.</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https://www.cs.cornell.edu/courses/cs6830/2009fa/lecnotes.pdf</a:t>
            </a:r>
          </a:p>
          <a:p xmlns:a="http://schemas.openxmlformats.org/drawingml/2006/main">
            <a:r>
              <a:t>https://theory.cs.princeton.edu/complexity/book.pdf</a:t>
            </a:r>
          </a:p>
          <a:p xmlns:a="http://schemas.openxmlformats.org/drawingml/2006/main">
            <a:r>
              <a:t>https://crypto.ethz.ch/publications/files/HolRen05.pdf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e77e11d02f46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71fc15a98541cd" /><Relationship Type="http://schemas.openxmlformats.org/officeDocument/2006/relationships/slideLayout" Target="/ppt/slideLayouts/slideLayout1.xml" Id="Rbc108020c5c149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108020c5c149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4b2464767a4abe" /><Relationship Type="http://schemas.openxmlformats.org/officeDocument/2006/relationships/image" Target="/ppt/media/image.png" Id="R6d956a3be59b4e38" /><Relationship Type="http://schemas.openxmlformats.org/officeDocument/2006/relationships/notesSlide" Target="/ppt/notesSlides/notesSlide1.xml" Id="R76112a16d98442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75742937734dbf" /><Relationship Type="http://schemas.openxmlformats.org/officeDocument/2006/relationships/notesSlide" Target="/ppt/notesSlides/notesSlide2.xml" Id="Re23063d61ef04df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e0a4b48d594daf" /><Relationship Type="http://schemas.openxmlformats.org/officeDocument/2006/relationships/notesSlide" Target="/ppt/notesSlides/notesSlide3.xml" Id="Rb885e4372a4f42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3ccdf29be3a464e" /><Relationship Type="http://schemas.openxmlformats.org/officeDocument/2006/relationships/chart" Target="/ppt/slides/charts/chart1.xml" Id="Rc50f18ba38434598" /><Relationship Type="http://schemas.openxmlformats.org/officeDocument/2006/relationships/notesSlide" Target="/ppt/notesSlides/notesSlide4.xml" Id="R25d3e41944514e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830c99b0606405d" /><Relationship Type="http://schemas.openxmlformats.org/officeDocument/2006/relationships/notesSlide" Target="/ppt/notesSlides/notesSlide5.xml" Id="R4a327ef4435a4c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c33d6f68a394416" /><Relationship Type="http://schemas.openxmlformats.org/officeDocument/2006/relationships/notesSlide" Target="/ppt/notesSlides/notesSlide6.xml" Id="R3149dc76960e49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aab9e82c214d1e" /><Relationship Type="http://schemas.openxmlformats.org/officeDocument/2006/relationships/notesSlide" Target="/ppt/notesSlides/notesSlide7.xml" Id="Radef639facfa4d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8a3ae8d08f47c7" /><Relationship Type="http://schemas.openxmlformats.org/officeDocument/2006/relationships/notesSlide" Target="/ppt/notesSlides/notesSlide8.xml" Id="Rbd063c3973ba41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e6309a3a34f448e" /><Relationship Type="http://schemas.openxmlformats.org/officeDocument/2006/relationships/image" Target="/ppt/media/image2.png" Id="R2a62e48248694c2f" /><Relationship Type="http://schemas.openxmlformats.org/officeDocument/2006/relationships/notesSlide" Target="/ppt/notesSlides/notesSlide9.xml" Id="R4300ee001e1e41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9d04b703f949dc" /><Relationship Type="http://schemas.openxmlformats.org/officeDocument/2006/relationships/notesSlide" Target="/ppt/notesSlides/notesSlide10.xml" Id="Rbd5fb52e66414c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ce426931c8a4e77" /><Relationship Type="http://schemas.openxmlformats.org/officeDocument/2006/relationships/notesSlide" Target="/ppt/notesSlides/notesSlide11.xml" Id="Rca60f8c7975d47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0f257bc23704486" /><Relationship Type="http://schemas.openxmlformats.org/officeDocument/2006/relationships/chart" Target="/ppt/slides/charts/chart2.xml" Id="R8fd1bace084843ca" /><Relationship Type="http://schemas.openxmlformats.org/officeDocument/2006/relationships/notesSlide" Target="/ppt/notesSlides/notesSlide12.xml" Id="R055ad57133cf4b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11d6dfe191d4abb" /><Relationship Type="http://schemas.openxmlformats.org/officeDocument/2006/relationships/notesSlide" Target="/ppt/notesSlides/notesSlide13.xml" Id="R2cf9ae55e894411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612750372434d41" /><Relationship Type="http://schemas.openxmlformats.org/officeDocument/2006/relationships/notesSlide" Target="/ppt/notesSlides/notesSlide14.xml" Id="Rf852e6b1e6824bf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9cccc143ce24702" /><Relationship Type="http://schemas.openxmlformats.org/officeDocument/2006/relationships/notesSlide" Target="/ppt/notesSlides/notesSlide15.xml" Id="Rf1042b115bb24b7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2bf28b4a608462b" /><Relationship Type="http://schemas.openxmlformats.org/officeDocument/2006/relationships/notesSlide" Target="/ppt/notesSlides/notesSlide16.xml" Id="R83a5cc29fd88434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603579093104957" /><Relationship Type="http://schemas.openxmlformats.org/officeDocument/2006/relationships/notesSlide" Target="/ppt/notesSlides/notesSlide17.xml" Id="R6f5d90a691dd465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bf3c84404b6411b" /><Relationship Type="http://schemas.openxmlformats.org/officeDocument/2006/relationships/notesSlide" Target="/ppt/notesSlides/notesSlide18.xml" Id="Rfe5252dd4cf94de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257b3ae47e84c80" /><Relationship Type="http://schemas.openxmlformats.org/officeDocument/2006/relationships/notesSlide" Target="/ppt/notesSlides/notesSlide19.xml" Id="R97d4dbd19ab54a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421d8e0665240db" /><Relationship Type="http://schemas.openxmlformats.org/officeDocument/2006/relationships/notesSlide" Target="/ppt/notesSlides/notesSlide20.xml" Id="Rad93941206234a6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pieChart>
        <c:ser>
          <c:idx val="0"/>
          <c:order val="0"/>
          <c:tx>
            <c:v>Sampler probability</c:v>
          </c:tx>
          <c:cat>
            <c:strRef>
              <c:f>'Chart Data'!$A$2:$A$3</c:f>
              <c:strCache>
                <c:ptCount val="2"/>
                <c:pt idx="0">
                  <c:v>Easy satisfiable branch</c:v>
                </c:pt>
                <c:pt idx="1">
                  <c:v>General formula branch</c:v>
                </c:pt>
              </c:strCache>
            </c:strRef>
          </c:cat>
          <c:val>
            <c:numRef>
              <c:f>'Chart Data'!$B$2:$B$3</c:f>
              <c:numCache>
                <c:formatCode>General</c:formatCode>
                <c:ptCount val="2"/>
                <c:pt idx="0">
                  <c:v>99</c:v>
                </c:pt>
                <c:pt idx="1">
                  <c:v>1</c:v>
                </c:pt>
              </c:numCache>
            </c:numRef>
          </c:val>
        </c:ser>
        <c:dLbls>
          <c:txPr>
            <a:bodyPr xmlns:a="http://schemas.openxmlformats.org/drawingml/2006/main" anchorCtr="1"/>
            <a:lstStyle xmlns:a="http://schemas.openxmlformats.org/drawingml/2006/main"/>
            <a:p xmlns:a="http://schemas.openxmlformats.org/drawingml/2006/main">
              <a:pPr>
                <a:defRPr sz="1725">
                  <a:solidFill>
                    <a:srgbClr val="FFFFFF"/>
                  </a:solidFill>
                  <a:latin typeface="Aptos"/>
                  <a:ea typeface="Aptos"/>
                  <a:cs typeface="Aptos"/>
                </a:defRPr>
              </a:pPr>
            </a:p>
          </c:txPr>
          <c:dLblPos val="bestFit"/>
          <c:showLegendKey val="0"/>
          <c:showVal val="0"/>
          <c:showCatName val="0"/>
          <c:showSerName val="0"/>
          <c:showPercent val="1"/>
          <c:showBubbleSize val="0"/>
          <c:showLeaderLines val="0"/>
        </c:dLbls>
        <c:firstSliceAng val="270"/>
      </c:pieChart>
    </c:plotArea>
    <c:legend>
      <c:legendPos val="b"/>
      <c:overlay val="0"/>
      <c:txPr>
        <a:bodyPr xmlns:a="http://schemas.openxmlformats.org/drawingml/2006/main" anchorCtr="1"/>
        <a:lstStyle xmlns:a="http://schemas.openxmlformats.org/drawingml/2006/main"/>
        <a:p xmlns:a="http://schemas.openxmlformats.org/drawingml/2006/main">
          <a:pPr>
            <a:defRPr sz="1575">
              <a:latin typeface="Aptos"/>
              <a:ea typeface="Aptos"/>
              <a:cs typeface="Aptos"/>
            </a:defRPr>
          </a:pPr>
        </a:p>
      </c:txPr>
    </c:legend>
    <c:plotVisOnly val="1"/>
  </c:chart>
  <c:spPr>
    <a:solidFill xmlns:a="http://schemas.openxmlformats.org/drawingml/2006/main">
      <a:srgbClr val="F7F5F0"/>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Probability</c:v>
          </c:tx>
          <c:spPr>
            <a:solidFill xmlns:a="http://schemas.openxmlformats.org/drawingml/2006/main">
              <a:srgbClr val="087F82"/>
            </a:solidFill>
          </c:spPr>
          <c:cat>
            <c:numRef>
              <c:f>'Chart Data'!$A$2:$A$10</c:f>
              <c:numCache>
                <c:formatCode>General</c:formatCode>
                <c:ptCount val="9"/>
                <c:pt idx="0">
                  <c:v>0</c:v>
                </c:pt>
                <c:pt idx="1">
                  <c:v>1</c:v>
                </c:pt>
                <c:pt idx="2">
                  <c:v>2</c:v>
                </c:pt>
                <c:pt idx="3">
                  <c:v>3</c:v>
                </c:pt>
                <c:pt idx="4">
                  <c:v>4</c:v>
                </c:pt>
                <c:pt idx="5">
                  <c:v>5</c:v>
                </c:pt>
                <c:pt idx="6">
                  <c:v>6</c:v>
                </c:pt>
                <c:pt idx="7">
                  <c:v>7</c:v>
                </c:pt>
                <c:pt idx="8">
                  <c:v>8</c:v>
                </c:pt>
              </c:numCache>
            </c:numRef>
          </c:cat>
          <c:val>
            <c:numRef>
              <c:f>'Chart Data'!$B$2:$B$10</c:f>
              <c:numCache>
                <c:formatCode>0%</c:formatCode>
                <c:ptCount val="9"/>
                <c:pt idx="0">
                  <c:v>0.1215766546</c:v>
                </c:pt>
                <c:pt idx="1">
                  <c:v>0.2701703435</c:v>
                </c:pt>
                <c:pt idx="2">
                  <c:v>0.2851798071</c:v>
                </c:pt>
                <c:pt idx="3">
                  <c:v>0.1901198714</c:v>
                </c:pt>
                <c:pt idx="4">
                  <c:v>0.0897788281</c:v>
                </c:pt>
                <c:pt idx="5">
                  <c:v>0.0319213611</c:v>
                </c:pt>
                <c:pt idx="6">
                  <c:v>0.0088670448</c:v>
                </c:pt>
                <c:pt idx="7">
                  <c:v>0.0019704544</c:v>
                </c:pt>
                <c:pt idx="8">
                  <c:v>0.0003557765</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Number of flipped answers W</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ptos"/>
                <a:ea typeface="Aptos"/>
                <a:cs typeface="Aptos"/>
              </a:defRPr>
            </a:pPr>
          </a:p>
        </c:txPr>
        <c:crossAx val="48672768"/>
      </c:catAx>
      <c:valAx>
        <c:axId val="48672768"/>
        <c:scaling>
          <c:orientation val="minMax"/>
          <c:max val="0.3"/>
          <c:min val="0"/>
        </c:scaling>
        <c:delete val="0"/>
        <c:axPos val="l"/>
        <c:majorGridlines>
          <c:spPr>
            <a:ln xmlns:a="http://schemas.openxmlformats.org/drawingml/2006/main" w="4763">
              <a:solidFill>
                <a:srgbClr val="C7D3D4"/>
              </a:solidFill>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Probability</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ptos"/>
                <a:ea typeface="Aptos"/>
                <a:cs typeface="Aptos"/>
              </a:defRPr>
            </a:pPr>
          </a:p>
        </c:txPr>
        <c:crossAx val="48650112"/>
        <c:crossBetween val="between"/>
        <c:majorUnit val="0.1"/>
      </c:valAx>
      <c:spPr>
        <a:solidFill xmlns:a="http://schemas.openxmlformats.org/drawingml/2006/main">
          <a:srgbClr val="F7F5F0"/>
        </a:solidFill>
      </c:spPr>
    </c:plotArea>
    <c:plotVisOnly val="1"/>
  </c:chart>
  <c:spPr>
    <a:solidFill xmlns:a="http://schemas.openxmlformats.org/drawingml/2006/main">
      <a:srgbClr val="F7F5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DB2B51-839D-4891-9691-D500ADB23C5B}"/>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9471798D-7B06-4B8F-806B-F00B9FE77EAA}"/>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D1D0A681-BD2D-47AB-A2C7-4BF64AC8D293}"/>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d956a3be59b4e38"/>
          <a:stretch xmlns:a="http://schemas.openxmlformats.org/drawingml/2006/main"/>
        </p:blipFill>
        <p:spPr>
          <a:xfrm xmlns:a="http://schemas.openxmlformats.org/drawingml/2006/main">
            <a:off x="6200775" y="1535113"/>
            <a:ext cx="5238750" cy="349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A1080B3-3088-45F5-A699-1D9669945462}"/>
              </a:ext>
            </a:extLst>
          </p:cNvPr>
          <p:cNvSpPr>
            <a:spLocks xmlns:a="http://schemas.openxmlformats.org/drawingml/2006/main" noGrp="1"/>
          </p:cNvSpPr>
          <p:nvPr/>
        </p:nvSpPr>
        <p:spPr>
          <a:xfrm xmlns:a="http://schemas.openxmlformats.org/drawingml/2006/main">
            <a:off x="609600" y="1162050"/>
            <a:ext cx="928687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112F43"/>
                </a:solidFill>
                <a:latin typeface="Aptos"/>
                <a:ea typeface="Aptos"/>
                <a:cs typeface="Aptos"/>
              </a:defRPr>
            </a:pPr>
            <a:r>
              <a:rPr sz="4425" b="1">
                <a:solidFill>
                  <a:srgbClr val="112F43"/>
                </a:solidFill>
                <a:latin typeface="Aptos"/>
                <a:ea typeface="Aptos"/>
                <a:cs typeface="Aptos"/>
              </a:rPr>
              <a:t>Average-case hardness</a:t>
            </a:r>
          </a:p>
          <a:p xmlns:a="http://schemas.openxmlformats.org/drawingml/2006/main">
            <a:pPr algn="l">
              <a:defRPr sz="4425" b="1">
                <a:solidFill>
                  <a:srgbClr val="112F43"/>
                </a:solidFill>
                <a:latin typeface="Aptos"/>
                <a:ea typeface="Aptos"/>
                <a:cs typeface="Aptos"/>
              </a:defRPr>
            </a:pPr>
            <a:r>
              <a:rPr sz="4425" b="1">
                <a:solidFill>
                  <a:srgbClr val="112F43"/>
                </a:solidFill>
                <a:latin typeface="Aptos"/>
                <a:ea typeface="Aptos"/>
                <a:cs typeface="Aptos"/>
              </a:rPr>
              <a:t>and the foundations</a:t>
            </a:r>
          </a:p>
          <a:p xmlns:a="http://schemas.openxmlformats.org/drawingml/2006/main">
            <a:pPr algn="l">
              <a:defRPr sz="4425" b="1">
                <a:solidFill>
                  <a:srgbClr val="112F43"/>
                </a:solidFill>
                <a:latin typeface="Aptos"/>
                <a:ea typeface="Aptos"/>
                <a:cs typeface="Aptos"/>
              </a:defRPr>
            </a:pPr>
            <a:r>
              <a:rPr sz="4425" b="1">
                <a:solidFill>
                  <a:srgbClr val="112F43"/>
                </a:solidFill>
                <a:latin typeface="Aptos"/>
                <a:ea typeface="Aptos"/>
                <a:cs typeface="Aptos"/>
              </a:rPr>
              <a:t>of public-key encryption</a:t>
            </a:r>
          </a:p>
        </p:txBody>
      </p:sp>
      <p:sp>
        <p:nvSpPr>
          <p:cNvPr id="6" name="">
            <a:extLst xmlns:a="http://schemas.openxmlformats.org/drawingml/2006/main">
              <a:ext uri="{FF2B5EF4-FFF2-40B4-BE49-F238E27FC236}">
                <a16:creationId xmlns:a16="http://schemas.microsoft.com/office/drawing/2014/main" id="{8CD04496-F994-4E7F-A0D1-47130D863388}"/>
              </a:ext>
            </a:extLst>
          </p:cNvPr>
          <p:cNvSpPr>
            <a:spLocks xmlns:a="http://schemas.openxmlformats.org/drawingml/2006/main" noGrp="1"/>
          </p:cNvSpPr>
          <p:nvPr/>
        </p:nvSpPr>
        <p:spPr>
          <a:xfrm xmlns:a="http://schemas.openxmlformats.org/drawingml/2006/main">
            <a:off x="647700" y="4067175"/>
            <a:ext cx="9906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2F43"/>
                </a:solidFill>
                <a:latin typeface="Aptos"/>
                <a:ea typeface="Aptos"/>
                <a:cs typeface="Aptos"/>
              </a:defRPr>
            </a:pPr>
            <a:r>
              <a:rPr sz="2400" b="0">
                <a:solidFill>
                  <a:srgbClr val="112F43"/>
                </a:solidFill>
                <a:latin typeface="Aptos"/>
                <a:ea typeface="Aptos"/>
                <a:cs typeface="Aptos"/>
              </a:rPr>
              <a:t>Understanding ABW’s opening claim</a:t>
            </a:r>
          </a:p>
        </p:txBody>
      </p:sp>
      <p:sp>
        <p:nvSpPr>
          <p:cNvPr id="7" name="">
            <a:extLst xmlns:a="http://schemas.openxmlformats.org/drawingml/2006/main">
              <a:ext uri="{FF2B5EF4-FFF2-40B4-BE49-F238E27FC236}">
                <a16:creationId xmlns:a16="http://schemas.microsoft.com/office/drawing/2014/main" id="{BD7C1887-DDA0-40C8-B68B-7DDF59A21279}"/>
              </a:ext>
            </a:extLst>
          </p:cNvPr>
          <p:cNvSpPr>
            <a:spLocks xmlns:a="http://schemas.openxmlformats.org/drawingml/2006/main" noGrp="1"/>
          </p:cNvSpPr>
          <p:nvPr/>
        </p:nvSpPr>
        <p:spPr>
          <a:xfrm xmlns:a="http://schemas.openxmlformats.org/drawingml/2006/main">
            <a:off x="647700" y="4876800"/>
            <a:ext cx="647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56A74"/>
                </a:solidFill>
                <a:latin typeface="Aptos"/>
                <a:ea typeface="Aptos"/>
                <a:cs typeface="Aptos"/>
              </a:defRPr>
            </a:pPr>
            <a:r>
              <a:rPr sz="1950" b="0">
                <a:solidFill>
                  <a:srgbClr val="556A74"/>
                </a:solidFill>
                <a:latin typeface="Aptos"/>
                <a:ea typeface="Aptos"/>
                <a:cs typeface="Aptos"/>
              </a:rPr>
              <a:t>Definitions and worked examples</a:t>
            </a:r>
          </a:p>
        </p:txBody>
      </p:sp>
      <p:sp>
        <p:nvSpPr>
          <p:cNvPr id="8" name="">
            <a:extLst xmlns:a="http://schemas.openxmlformats.org/drawingml/2006/main">
              <a:ext uri="{FF2B5EF4-FFF2-40B4-BE49-F238E27FC236}">
                <a16:creationId xmlns:a16="http://schemas.microsoft.com/office/drawing/2014/main" id="{ABDB360E-72C0-435C-A1F6-6113FA078E7D}"/>
              </a:ext>
            </a:extLst>
          </p:cNvPr>
          <p:cNvSpPr>
            <a:spLocks xmlns:a="http://schemas.openxmlformats.org/drawingml/2006/main" noGrp="1"/>
          </p:cNvSpPr>
          <p:nvPr/>
        </p:nvSpPr>
        <p:spPr>
          <a:xfrm xmlns:a="http://schemas.openxmlformats.org/drawingml/2006/main">
            <a:off x="647700" y="6048375"/>
            <a:ext cx="8286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Research discussion · 6 October 2026</a:t>
            </a:r>
          </a:p>
        </p:txBody>
      </p:sp>
    </p:spTree>
    <p:extLst>
      <p:ext uri="{BB962C8B-B14F-4D97-AF65-F5344CB8AC3E}">
        <p14:creationId xmlns:p14="http://schemas.microsoft.com/office/powerpoint/2010/main" val="763470254"/>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E15857-4627-41B2-8BCB-4BAC3CB7C76E}"/>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What does “broaden the foundations” mean?</a:t>
            </a:r>
          </a:p>
        </p:txBody>
      </p:sp>
      <p:sp>
        <p:nvSpPr>
          <p:cNvPr id="2" name="">
            <a:extLst xmlns:a="http://schemas.openxmlformats.org/drawingml/2006/main">
              <a:ext uri="{FF2B5EF4-FFF2-40B4-BE49-F238E27FC236}">
                <a16:creationId xmlns:a16="http://schemas.microsoft.com/office/drawing/2014/main" id="{BE81DA69-5FCC-46A2-B432-8116729FC531}"/>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3A484EF4-CAE3-41DF-B9C9-6998E799B5E1}"/>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8B82945D-949D-442E-A539-88936B1CCAEB}"/>
              </a:ext>
            </a:extLst>
          </p:cNvPr>
          <p:cNvSpPr>
            <a:spLocks xmlns:a="http://schemas.openxmlformats.org/drawingml/2006/main" noGrp="1"/>
          </p:cNvSpPr>
          <p:nvPr/>
        </p:nvSpPr>
        <p:spPr>
          <a:xfrm xmlns:a="http://schemas.openxmlformats.org/drawingml/2006/main">
            <a:off x="609600" y="1600200"/>
            <a:ext cx="108394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087F82"/>
                </a:solidFill>
                <a:latin typeface="Aptos"/>
                <a:ea typeface="Aptos"/>
                <a:cs typeface="Aptos"/>
              </a:defRPr>
            </a:pPr>
            <a:r>
              <a:rPr sz="3075" b="1">
                <a:solidFill>
                  <a:srgbClr val="087F82"/>
                </a:solidFill>
                <a:latin typeface="Aptos"/>
                <a:ea typeface="Aptos"/>
                <a:cs typeface="Aptos"/>
              </a:rPr>
              <a:t>A wider set of assumptions can support PKE.</a:t>
            </a:r>
          </a:p>
        </p:txBody>
      </p:sp>
      <p:graphicFrame>
        <p:nvGraphicFramePr>
          <p:cNvPr id="11" name=""/>
          <p:cNvGraphicFramePr/>
          <p:nvPr/>
        </p:nvGraphicFramePr>
        <p:xfrm>
          <a:off xmlns:a="http://schemas.openxmlformats.org/drawingml/2006/main" x="609600" y="2828925"/>
          <a:ext xmlns:a="http://schemas.openxmlformats.org/drawingml/2006/main" cx="10972800" cy="2847975"/>
        </p:xfrm>
        <a:graphic xmlns:a="http://schemas.openxmlformats.org/drawingml/2006/main">
          <a:graphicData uri="http://schemas.openxmlformats.org/drawingml/2006/table">
            <a:tbl>
              <a:tblPr/>
              <a:tblGrid>
                <a:gridCol w="3905250"/>
                <a:gridCol w="7067550"/>
              </a:tblGrid>
              <a:tr h="711994">
                <a:tc>
                  <a:txBody>
                    <a:bodyPr/>
                    <a:lstStyle/>
                    <a:p>
                      <a:r>
                        <a:rPr sz="1725" b="1">
                          <a:solidFill>
                            <a:srgbClr val="FFFFFF"/>
                          </a:solidFill>
                          <a:latin typeface="Aptos"/>
                          <a:ea typeface="Aptos"/>
                          <a:cs typeface="Aptos"/>
                        </a:rPr>
                        <a:t>Phrase</a:t>
                      </a:r>
                    </a:p>
                  </a:txBody>
                  <a:tcPr marL="142875" marR="114300" marT="104775" marB="85725" anchor="ctr">
                    <a:solidFill>
                      <a:srgbClr val="112F43"/>
                    </a:solidFill>
                  </a:tcPr>
                </a:tc>
                <a:tc>
                  <a:txBody>
                    <a:bodyPr/>
                    <a:lstStyle/>
                    <a:p>
                      <a:r>
                        <a:rPr sz="1725" b="1">
                          <a:solidFill>
                            <a:srgbClr val="FFFFFF"/>
                          </a:solidFill>
                          <a:latin typeface="Aptos"/>
                          <a:ea typeface="Aptos"/>
                          <a:cs typeface="Aptos"/>
                        </a:rPr>
                        <a:t>Meaning</a:t>
                      </a:r>
                    </a:p>
                  </a:txBody>
                  <a:tcPr marL="142875" marR="114300" marT="104775" marB="85725" anchor="ctr">
                    <a:solidFill>
                      <a:srgbClr val="112F43"/>
                    </a:solidFill>
                  </a:tcPr>
                </a:tc>
              </a:tr>
              <a:tr h="711994">
                <a:tc>
                  <a:txBody>
                    <a:bodyPr/>
                    <a:lstStyle/>
                    <a:p>
                      <a:r>
                        <a:rPr sz="1725">
                          <a:solidFill>
                            <a:srgbClr val="112F43"/>
                          </a:solidFill>
                          <a:latin typeface="Aptos"/>
                          <a:ea typeface="Aptos"/>
                          <a:cs typeface="Aptos"/>
                        </a:rPr>
                        <a:t>Natural combinatorial problems</a:t>
                      </a:r>
                    </a:p>
                  </a:txBody>
                  <a:tcPr marL="142875" marR="114300" marT="104775" marB="85725" anchor="ctr">
                    <a:solidFill>
                      <a:srgbClr val="F7F5F0"/>
                    </a:solidFill>
                  </a:tcPr>
                </a:tc>
                <a:tc>
                  <a:txBody>
                    <a:bodyPr/>
                    <a:lstStyle/>
                    <a:p>
                      <a:r>
                        <a:rPr sz="1725">
                          <a:solidFill>
                            <a:srgbClr val="112F43"/>
                          </a:solidFill>
                          <a:latin typeface="Aptos"/>
                          <a:ea typeface="Aptos"/>
                          <a:cs typeface="Aptos"/>
                        </a:rPr>
                        <a:t>Local constraints and graphs, studied beyond cryptography</a:t>
                      </a:r>
                    </a:p>
                  </a:txBody>
                  <a:tcPr marL="142875" marR="114300" marT="104775" marB="85725" anchor="ctr">
                    <a:solidFill>
                      <a:srgbClr val="F7F5F0"/>
                    </a:solidFill>
                  </a:tcPr>
                </a:tc>
              </a:tr>
              <a:tr h="711994">
                <a:tc>
                  <a:txBody>
                    <a:bodyPr/>
                    <a:lstStyle/>
                    <a:p>
                      <a:r>
                        <a:rPr sz="1725">
                          <a:solidFill>
                            <a:srgbClr val="112F43"/>
                          </a:solidFill>
                          <a:latin typeface="Aptos"/>
                          <a:ea typeface="Aptos"/>
                          <a:cs typeface="Aptos"/>
                        </a:rPr>
                        <a:t>NP-hard optimization</a:t>
                      </a:r>
                    </a:p>
                  </a:txBody>
                  <a:tcPr marL="142875" marR="114300" marT="104775" marB="85725" anchor="ctr">
                    <a:solidFill>
                      <a:srgbClr val="F7F5F0"/>
                    </a:solidFill>
                  </a:tcPr>
                </a:tc>
                <a:tc>
                  <a:txBody>
                    <a:bodyPr/>
                    <a:lstStyle/>
                    <a:p>
                      <a:r>
                        <a:rPr sz="1725">
                          <a:solidFill>
                            <a:srgbClr val="112F43"/>
                          </a:solidFill>
                          <a:latin typeface="Aptos"/>
                          <a:ea typeface="Aptos"/>
                          <a:cs typeface="Aptos"/>
                        </a:rPr>
                        <a:t>Maximize satisfied equations with three variables each</a:t>
                      </a:r>
                    </a:p>
                  </a:txBody>
                  <a:tcPr marL="142875" marR="114300" marT="104775" marB="85725" anchor="ctr">
                    <a:solidFill>
                      <a:srgbClr val="F7F5F0"/>
                    </a:solidFill>
                  </a:tcPr>
                </a:tc>
              </a:tr>
              <a:tr h="711994">
                <a:tc>
                  <a:txBody>
                    <a:bodyPr/>
                    <a:lstStyle/>
                    <a:p>
                      <a:r>
                        <a:rPr sz="1725">
                          <a:solidFill>
                            <a:srgbClr val="112F43"/>
                          </a:solidFill>
                          <a:latin typeface="Aptos"/>
                          <a:ea typeface="Aptos"/>
                          <a:cs typeface="Aptos"/>
                        </a:rPr>
                        <a:t>New average-case assumptions</a:t>
                      </a:r>
                    </a:p>
                  </a:txBody>
                  <a:tcPr marL="142875" marR="114300" marT="104775" marB="85725" anchor="ctr">
                    <a:solidFill>
                      <a:srgbClr val="F7F5F0"/>
                    </a:solidFill>
                  </a:tcPr>
                </a:tc>
                <a:tc>
                  <a:txBody>
                    <a:bodyPr/>
                    <a:lstStyle/>
                    <a:p>
                      <a:r>
                        <a:rPr sz="1725">
                          <a:solidFill>
                            <a:srgbClr val="112F43"/>
                          </a:solidFill>
                          <a:latin typeface="Aptos"/>
                          <a:ea typeface="Aptos"/>
                          <a:cs typeface="Aptos"/>
                        </a:rPr>
                        <a:t>Difficulty under a specified random sampling rule</a:t>
                      </a:r>
                    </a:p>
                  </a:txBody>
                  <a:tcPr marL="142875" marR="114300" marT="104775" marB="85725" anchor="ctr">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C32906C5-C107-42DC-9E5B-D9D6A86CA761}"/>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Worst-case optimization hardness alone does not establish cryptographic security.</a:t>
            </a:r>
          </a:p>
        </p:txBody>
      </p:sp>
    </p:spTree>
    <p:extLst>
      <p:ext uri="{BB962C8B-B14F-4D97-AF65-F5344CB8AC3E}">
        <p14:creationId xmlns:p14="http://schemas.microsoft.com/office/powerpoint/2010/main" val="438722811"/>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890F66-BBC3-4627-B9A1-CC5E755A69D6}"/>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Worst-case and average-case hardness</a:t>
            </a:r>
          </a:p>
        </p:txBody>
      </p:sp>
      <p:sp>
        <p:nvSpPr>
          <p:cNvPr id="2" name="">
            <a:extLst xmlns:a="http://schemas.openxmlformats.org/drawingml/2006/main">
              <a:ext uri="{FF2B5EF4-FFF2-40B4-BE49-F238E27FC236}">
                <a16:creationId xmlns:a16="http://schemas.microsoft.com/office/drawing/2014/main" id="{FF71B09F-300B-4BA0-A4F1-40CE6F01417F}"/>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1B8C6B88-C4E5-4E39-8E01-607C2C43AB6A}"/>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2570A87E-8BE2-4C4D-AE83-514D5D87AB81}"/>
              </a:ext>
            </a:extLst>
          </p:cNvPr>
          <p:cNvSpPr>
            <a:spLocks xmlns:a="http://schemas.openxmlformats.org/drawingml/2006/main" noGrp="1"/>
          </p:cNvSpPr>
          <p:nvPr/>
        </p:nvSpPr>
        <p:spPr>
          <a:xfrm xmlns:a="http://schemas.openxmlformats.org/drawingml/2006/main">
            <a:off x="609600" y="16573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Worst-case viewpoint</a:t>
            </a:r>
          </a:p>
        </p:txBody>
      </p:sp>
      <p:sp>
        <p:nvSpPr>
          <p:cNvPr id="5" name="">
            <a:extLst xmlns:a="http://schemas.openxmlformats.org/drawingml/2006/main">
              <a:ext uri="{FF2B5EF4-FFF2-40B4-BE49-F238E27FC236}">
                <a16:creationId xmlns:a16="http://schemas.microsoft.com/office/drawing/2014/main" id="{172E9AD3-70A8-40FE-AA65-67DA5DAAE5B7}"/>
              </a:ext>
            </a:extLst>
          </p:cNvPr>
          <p:cNvSpPr>
            <a:spLocks xmlns:a="http://schemas.openxmlformats.org/drawingml/2006/main" noGrp="1"/>
          </p:cNvSpPr>
          <p:nvPr/>
        </p:nvSpPr>
        <p:spPr>
          <a:xfrm xmlns:a="http://schemas.openxmlformats.org/drawingml/2006/main">
            <a:off x="609600" y="2428875"/>
            <a:ext cx="5095875"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12F43"/>
                </a:solidFill>
                <a:latin typeface="Aptos"/>
                <a:ea typeface="Aptos"/>
                <a:cs typeface="Aptos"/>
              </a:defRPr>
            </a:pPr>
            <a:r>
              <a:rPr sz="2325" b="0">
                <a:solidFill>
                  <a:srgbClr val="112F43"/>
                </a:solidFill>
                <a:latin typeface="Aptos"/>
                <a:ea typeface="Aptos"/>
                <a:cs typeface="Aptos"/>
              </a:rPr>
              <a:t>Can one efficient algorithm</a:t>
            </a:r>
          </a:p>
          <a:p xmlns:a="http://schemas.openxmlformats.org/drawingml/2006/main">
            <a:pPr algn="l">
              <a:defRPr sz="2325" b="0">
                <a:solidFill>
                  <a:srgbClr val="112F43"/>
                </a:solidFill>
                <a:latin typeface="Aptos"/>
                <a:ea typeface="Aptos"/>
                <a:cs typeface="Aptos"/>
              </a:defRPr>
            </a:pPr>
            <a:r>
              <a:rPr sz="2325" b="0">
                <a:solidFill>
                  <a:srgbClr val="112F43"/>
                </a:solidFill>
                <a:latin typeface="Aptos"/>
                <a:ea typeface="Aptos"/>
                <a:cs typeface="Aptos"/>
              </a:rPr>
              <a:t>handle every valid instance?</a:t>
            </a:r>
          </a:p>
          <a:p xmlns:a="http://schemas.openxmlformats.org/drawingml/2006/main">
            <a:r>
              <a:t/>
            </a:r>
          </a:p>
          <a:p xmlns:a="http://schemas.openxmlformats.org/drawingml/2006/main">
            <a:pPr algn="l">
              <a:defRPr sz="2325" b="0">
                <a:solidFill>
                  <a:srgbClr val="112F43"/>
                </a:solidFill>
                <a:latin typeface="Aptos"/>
                <a:ea typeface="Aptos"/>
                <a:cs typeface="Aptos"/>
              </a:defRPr>
            </a:pPr>
            <a:r>
              <a:rPr sz="2325" b="0">
                <a:solidFill>
                  <a:srgbClr val="112F43"/>
                </a:solidFill>
                <a:latin typeface="Aptos"/>
                <a:ea typeface="Aptos"/>
                <a:cs typeface="Aptos"/>
              </a:rPr>
              <a:t>Difficult inputs may occur rarely</a:t>
            </a:r>
          </a:p>
          <a:p xmlns:a="http://schemas.openxmlformats.org/drawingml/2006/main">
            <a:pPr algn="l">
              <a:defRPr sz="2325" b="0">
                <a:solidFill>
                  <a:srgbClr val="112F43"/>
                </a:solidFill>
                <a:latin typeface="Aptos"/>
                <a:ea typeface="Aptos"/>
                <a:cs typeface="Aptos"/>
              </a:defRPr>
            </a:pPr>
            <a:r>
              <a:rPr sz="2325" b="0">
                <a:solidFill>
                  <a:srgbClr val="112F43"/>
                </a:solidFill>
                <a:latin typeface="Aptos"/>
                <a:ea typeface="Aptos"/>
                <a:cs typeface="Aptos"/>
              </a:rPr>
              <a:t>under our sampling rule.</a:t>
            </a:r>
          </a:p>
        </p:txBody>
      </p:sp>
      <p:sp>
        <p:nvSpPr>
          <p:cNvPr id="6" name="">
            <a:extLst xmlns:a="http://schemas.openxmlformats.org/drawingml/2006/main">
              <a:ext uri="{FF2B5EF4-FFF2-40B4-BE49-F238E27FC236}">
                <a16:creationId xmlns:a16="http://schemas.microsoft.com/office/drawing/2014/main" id="{FF3BAB6D-6604-4D0F-AEF8-638EB10D47A6}"/>
              </a:ext>
            </a:extLst>
          </p:cNvPr>
          <p:cNvSpPr>
            <a:spLocks xmlns:a="http://schemas.openxmlformats.org/drawingml/2006/main" noGrp="1"/>
          </p:cNvSpPr>
          <p:nvPr/>
        </p:nvSpPr>
        <p:spPr>
          <a:xfrm xmlns:a="http://schemas.openxmlformats.org/drawingml/2006/main">
            <a:off x="6553200" y="1657350"/>
            <a:ext cx="4991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45C48"/>
                </a:solidFill>
                <a:latin typeface="Aptos"/>
                <a:ea typeface="Aptos"/>
                <a:cs typeface="Aptos"/>
              </a:defRPr>
            </a:pPr>
            <a:r>
              <a:rPr sz="2100" b="1">
                <a:solidFill>
                  <a:srgbClr val="C45C48"/>
                </a:solidFill>
                <a:latin typeface="Aptos"/>
                <a:ea typeface="Aptos"/>
                <a:cs typeface="Aptos"/>
              </a:rPr>
              <a:t>Cryptographic viewpoint</a:t>
            </a:r>
          </a:p>
        </p:txBody>
      </p:sp>
      <p:sp>
        <p:nvSpPr>
          <p:cNvPr id="7" name="">
            <a:extLst xmlns:a="http://schemas.openxmlformats.org/drawingml/2006/main">
              <a:ext uri="{FF2B5EF4-FFF2-40B4-BE49-F238E27FC236}">
                <a16:creationId xmlns:a16="http://schemas.microsoft.com/office/drawing/2014/main" id="{7369C422-B34B-4BBA-B80E-27F4DDFFF6FB}"/>
              </a:ext>
            </a:extLst>
          </p:cNvPr>
          <p:cNvSpPr>
            <a:spLocks xmlns:a="http://schemas.openxmlformats.org/drawingml/2006/main" noGrp="1"/>
          </p:cNvSpPr>
          <p:nvPr/>
        </p:nvSpPr>
        <p:spPr>
          <a:xfrm xmlns:a="http://schemas.openxmlformats.org/drawingml/2006/main">
            <a:off x="6553200" y="2428875"/>
            <a:ext cx="499110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How often can an efficient attacker</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succeed on generated instances?</a:t>
            </a:r>
          </a:p>
          <a:p xmlns:a="http://schemas.openxmlformats.org/drawingml/2006/main">
            <a:r>
              <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The sampling distribution</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forms part of the assumption.</a:t>
            </a:r>
          </a:p>
        </p:txBody>
      </p:sp>
      <p:sp>
        <p:nvSpPr>
          <p:cNvPr id="8" name="">
            <a:extLst xmlns:a="http://schemas.openxmlformats.org/drawingml/2006/main">
              <a:ext uri="{FF2B5EF4-FFF2-40B4-BE49-F238E27FC236}">
                <a16:creationId xmlns:a16="http://schemas.microsoft.com/office/drawing/2014/main" id="{9F90789B-B8B8-4394-888B-F5DF8BB03E26}"/>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Worst-case NP-hardness supplies no automatic success bound for the chosen sampler.</a:t>
            </a:r>
          </a:p>
        </p:txBody>
      </p:sp>
    </p:spTree>
    <p:extLst>
      <p:ext uri="{BB962C8B-B14F-4D97-AF65-F5344CB8AC3E}">
        <p14:creationId xmlns:p14="http://schemas.microsoft.com/office/powerpoint/2010/main" val="715963961"/>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FE365B-3D8D-4660-8792-2A4A21361A20}"/>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Example 1: an easy distribution of SAT inputs</a:t>
            </a:r>
          </a:p>
        </p:txBody>
      </p:sp>
      <p:sp>
        <p:nvSpPr>
          <p:cNvPr id="2" name="">
            <a:extLst xmlns:a="http://schemas.openxmlformats.org/drawingml/2006/main">
              <a:ext uri="{FF2B5EF4-FFF2-40B4-BE49-F238E27FC236}">
                <a16:creationId xmlns:a16="http://schemas.microsoft.com/office/drawing/2014/main" id="{B1C2C4CE-3CC8-4D66-AFB0-877E897D877E}"/>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43C3CAFF-94EB-4162-AB44-8447FE75FA38}"/>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04</a:t>
            </a:r>
          </a:p>
        </p:txBody>
      </p:sp>
      <p:graphicFrame>
        <p:nvGraphicFramePr>
          <p:cNvPr id="12" name="Chart"/>
          <p:cNvGraphicFramePr/>
          <p:nvPr/>
        </p:nvGraphicFramePr>
        <p:xfrm>
          <a:off xmlns:a="http://schemas.openxmlformats.org/drawingml/2006/main" x="428625" y="1562100"/>
          <a:ext xmlns:a="http://schemas.openxmlformats.org/drawingml/2006/main" cx="6038850" cy="4010025"/>
        </p:xfrm>
        <a:graphic xmlns:a="http://schemas.openxmlformats.org/drawingml/2006/main">
          <a:graphicData uri="http://schemas.openxmlformats.org/drawingml/2006/chart">
            <c:chart xmlns:r="http://schemas.openxmlformats.org/officeDocument/2006/relationships" xmlns:c="http://schemas.openxmlformats.org/drawingml/2006/chart" r:id="Rc50f18ba38434598"/>
          </a:graphicData>
        </a:graphic>
      </p:graphicFrame>
      <p:sp>
        <p:nvSpPr>
          <p:cNvPr id="5" name="">
            <a:extLst xmlns:a="http://schemas.openxmlformats.org/drawingml/2006/main">
              <a:ext uri="{FF2B5EF4-FFF2-40B4-BE49-F238E27FC236}">
                <a16:creationId xmlns:a16="http://schemas.microsoft.com/office/drawing/2014/main" id="{C9546DC6-6837-40E1-9E2C-714695D50798}"/>
              </a:ext>
            </a:extLst>
          </p:cNvPr>
          <p:cNvSpPr>
            <a:spLocks xmlns:a="http://schemas.openxmlformats.org/drawingml/2006/main" noGrp="1"/>
          </p:cNvSpPr>
          <p:nvPr/>
        </p:nvSpPr>
        <p:spPr>
          <a:xfrm xmlns:a="http://schemas.openxmlformats.org/drawingml/2006/main">
            <a:off x="7048500" y="1657350"/>
            <a:ext cx="447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Artificial sampler</a:t>
            </a:r>
          </a:p>
        </p:txBody>
      </p:sp>
      <p:sp>
        <p:nvSpPr>
          <p:cNvPr id="6" name="">
            <a:extLst xmlns:a="http://schemas.openxmlformats.org/drawingml/2006/main">
              <a:ext uri="{FF2B5EF4-FFF2-40B4-BE49-F238E27FC236}">
                <a16:creationId xmlns:a16="http://schemas.microsoft.com/office/drawing/2014/main" id="{C4AEA988-E91E-4153-8E30-3ADE54B6679E}"/>
              </a:ext>
            </a:extLst>
          </p:cNvPr>
          <p:cNvSpPr>
            <a:spLocks xmlns:a="http://schemas.openxmlformats.org/drawingml/2006/main" noGrp="1"/>
          </p:cNvSpPr>
          <p:nvPr/>
        </p:nvSpPr>
        <p:spPr>
          <a:xfrm xmlns:a="http://schemas.openxmlformats.org/drawingml/2006/main">
            <a:off x="7048500" y="2419350"/>
            <a:ext cx="4476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99%: obviously satisfiable</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1%: general SAT formulas</a:t>
            </a:r>
          </a:p>
          <a:p xmlns:a="http://schemas.openxmlformats.org/drawingml/2006/main">
            <a:r>
              <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Always answer “satisfiable”.</a:t>
            </a:r>
          </a:p>
        </p:txBody>
      </p:sp>
      <p:sp>
        <p:nvSpPr>
          <p:cNvPr id="7" name="">
            <a:extLst xmlns:a="http://schemas.openxmlformats.org/drawingml/2006/main">
              <a:ext uri="{FF2B5EF4-FFF2-40B4-BE49-F238E27FC236}">
                <a16:creationId xmlns:a16="http://schemas.microsoft.com/office/drawing/2014/main" id="{486795AA-9D36-4241-A329-8872C8EBD470}"/>
              </a:ext>
            </a:extLst>
          </p:cNvPr>
          <p:cNvSpPr>
            <a:spLocks xmlns:a="http://schemas.openxmlformats.org/drawingml/2006/main" noGrp="1"/>
          </p:cNvSpPr>
          <p:nvPr/>
        </p:nvSpPr>
        <p:spPr>
          <a:xfrm xmlns:a="http://schemas.openxmlformats.org/drawingml/2006/main">
            <a:off x="7048500" y="467677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87F82"/>
                </a:solidFill>
                <a:latin typeface="Aptos"/>
                <a:ea typeface="Aptos"/>
                <a:cs typeface="Aptos"/>
              </a:defRPr>
            </a:pPr>
            <a:r>
              <a:rPr sz="3375" b="1">
                <a:solidFill>
                  <a:srgbClr val="087F82"/>
                </a:solidFill>
                <a:latin typeface="Aptos"/>
                <a:ea typeface="Aptos"/>
                <a:cs typeface="Aptos"/>
              </a:rPr>
              <a:t>Success ≥ 99%</a:t>
            </a:r>
          </a:p>
        </p:txBody>
      </p:sp>
      <p:sp>
        <p:nvSpPr>
          <p:cNvPr id="8" name="">
            <a:extLst xmlns:a="http://schemas.openxmlformats.org/drawingml/2006/main">
              <a:ext uri="{FF2B5EF4-FFF2-40B4-BE49-F238E27FC236}">
                <a16:creationId xmlns:a16="http://schemas.microsoft.com/office/drawing/2014/main" id="{FC453DBB-9DD7-4A47-B640-292E66D91F84}"/>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SAT remains NP-complete. This particular distribution is easy for the decision task.</a:t>
            </a:r>
          </a:p>
        </p:txBody>
      </p:sp>
    </p:spTree>
    <p:extLst>
      <p:ext uri="{BB962C8B-B14F-4D97-AF65-F5344CB8AC3E}">
        <p14:creationId xmlns:p14="http://schemas.microsoft.com/office/powerpoint/2010/main" val="1109060836"/>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1CFC85-A8C2-4392-9E92-692C34B8E503}"/>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Example 2: factoring depends on how inputs arise</a:t>
            </a:r>
          </a:p>
        </p:txBody>
      </p:sp>
      <p:sp>
        <p:nvSpPr>
          <p:cNvPr id="2" name="">
            <a:extLst xmlns:a="http://schemas.openxmlformats.org/drawingml/2006/main">
              <a:ext uri="{FF2B5EF4-FFF2-40B4-BE49-F238E27FC236}">
                <a16:creationId xmlns:a16="http://schemas.microsoft.com/office/drawing/2014/main" id="{FC414E22-FCEF-48ED-93E0-B3A727460FB2}"/>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113CA211-4406-4610-911B-6EB17EC353C9}"/>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05</a:t>
            </a:r>
          </a:p>
        </p:txBody>
      </p:sp>
      <p:graphicFrame>
        <p:nvGraphicFramePr>
          <p:cNvPr id="10" name=""/>
          <p:cNvGraphicFramePr/>
          <p:nvPr/>
        </p:nvGraphicFramePr>
        <p:xfrm>
          <a:off xmlns:a="http://schemas.openxmlformats.org/drawingml/2006/main" x="609600" y="1657350"/>
          <a:ext xmlns:a="http://schemas.openxmlformats.org/drawingml/2006/main" cx="10972800" cy="2628900"/>
        </p:xfrm>
        <a:graphic xmlns:a="http://schemas.openxmlformats.org/drawingml/2006/main">
          <a:graphicData uri="http://schemas.openxmlformats.org/drawingml/2006/table">
            <a:tbl>
              <a:tblPr/>
              <a:tblGrid>
                <a:gridCol w="3238500"/>
                <a:gridCol w="3981450"/>
                <a:gridCol w="3752850"/>
              </a:tblGrid>
              <a:tr h="876300">
                <a:tc>
                  <a:txBody>
                    <a:bodyPr/>
                    <a:lstStyle/>
                    <a:p>
                      <a:r>
                        <a:rPr sz="1950" b="1">
                          <a:solidFill>
                            <a:srgbClr val="FFFFFF"/>
                          </a:solidFill>
                          <a:latin typeface="Aptos"/>
                          <a:ea typeface="Aptos"/>
                          <a:cs typeface="Aptos"/>
                        </a:rPr>
                        <a:t>Input generation</a:t>
                      </a:r>
                    </a:p>
                  </a:txBody>
                  <a:tcPr marL="142875" marR="114300" marT="104775" marB="85725" anchor="ctr">
                    <a:solidFill>
                      <a:srgbClr val="112F43"/>
                    </a:solidFill>
                  </a:tcPr>
                </a:tc>
                <a:tc>
                  <a:txBody>
                    <a:bodyPr/>
                    <a:lstStyle/>
                    <a:p>
                      <a:r>
                        <a:rPr sz="1950" b="1">
                          <a:solidFill>
                            <a:srgbClr val="FFFFFF"/>
                          </a:solidFill>
                          <a:latin typeface="Aptos"/>
                          <a:ea typeface="Aptos"/>
                          <a:cs typeface="Aptos"/>
                        </a:rPr>
                        <a:t>Small arithmetic example</a:t>
                      </a:r>
                    </a:p>
                  </a:txBody>
                  <a:tcPr marL="142875" marR="114300" marT="104775" marB="85725" anchor="ctr">
                    <a:solidFill>
                      <a:srgbClr val="112F43"/>
                    </a:solidFill>
                  </a:tcPr>
                </a:tc>
                <a:tc>
                  <a:txBody>
                    <a:bodyPr/>
                    <a:lstStyle/>
                    <a:p>
                      <a:r>
                        <a:rPr sz="1950" b="1">
                          <a:solidFill>
                            <a:srgbClr val="FFFFFF"/>
                          </a:solidFill>
                          <a:latin typeface="Aptos"/>
                          <a:ea typeface="Aptos"/>
                          <a:cs typeface="Aptos"/>
                        </a:rPr>
                        <a:t>What the attacker knows</a:t>
                      </a:r>
                    </a:p>
                  </a:txBody>
                  <a:tcPr marL="142875" marR="114300" marT="104775" marB="85725" anchor="ctr">
                    <a:solidFill>
                      <a:srgbClr val="112F43"/>
                    </a:solidFill>
                  </a:tcPr>
                </a:tc>
              </a:tr>
              <a:tr h="876300">
                <a:tc>
                  <a:txBody>
                    <a:bodyPr/>
                    <a:lstStyle/>
                    <a:p>
                      <a:r>
                        <a:rPr sz="1950">
                          <a:solidFill>
                            <a:srgbClr val="112F43"/>
                          </a:solidFill>
                          <a:latin typeface="Aptos"/>
                          <a:ea typeface="Aptos"/>
                          <a:cs typeface="Aptos"/>
                        </a:rPr>
                        <a:t>N = 2p</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2 × 1009 = 2018</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2 divides every generated input</a:t>
                      </a:r>
                    </a:p>
                  </a:txBody>
                  <a:tcPr marL="142875" marR="114300" marT="104775" marB="85725" anchor="ctr">
                    <a:solidFill>
                      <a:srgbClr val="F7F5F0"/>
                    </a:solidFill>
                  </a:tcPr>
                </a:tc>
              </a:tr>
              <a:tr h="876300">
                <a:tc>
                  <a:txBody>
                    <a:bodyPr/>
                    <a:lstStyle/>
                    <a:p>
                      <a:r>
                        <a:rPr sz="1950">
                          <a:solidFill>
                            <a:srgbClr val="112F43"/>
                          </a:solidFill>
                          <a:latin typeface="Aptos"/>
                          <a:ea typeface="Aptos"/>
                          <a:cs typeface="Aptos"/>
                        </a:rPr>
                        <a:t>N = pq, balanced primes</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1009 × 1013 = 1,022,117</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No factor is deliberately fixed</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273DB820-3874-408A-AF5B-2ABE752D2455}"/>
              </a:ext>
            </a:extLst>
          </p:cNvPr>
          <p:cNvSpPr>
            <a:spLocks xmlns:a="http://schemas.openxmlformats.org/drawingml/2006/main" noGrp="1"/>
          </p:cNvSpPr>
          <p:nvPr/>
        </p:nvSpPr>
        <p:spPr>
          <a:xfrm xmlns:a="http://schemas.openxmlformats.org/drawingml/2006/main">
            <a:off x="609600" y="4895850"/>
            <a:ext cx="108394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2F43"/>
                </a:solidFill>
                <a:latin typeface="Aptos"/>
                <a:ea typeface="Aptos"/>
                <a:cs typeface="Aptos"/>
              </a:defRPr>
            </a:pPr>
            <a:r>
              <a:rPr sz="2400" b="0">
                <a:solidFill>
                  <a:srgbClr val="112F43"/>
                </a:solidFill>
                <a:latin typeface="Aptos"/>
                <a:ea typeface="Aptos"/>
                <a:cs typeface="Aptos"/>
              </a:rPr>
              <a:t>Both rows ask for factors.</a:t>
            </a:r>
          </a:p>
          <a:p xmlns:a="http://schemas.openxmlformats.org/drawingml/2006/main">
            <a:pPr algn="l">
              <a:defRPr sz="2400" b="0">
                <a:solidFill>
                  <a:srgbClr val="112F43"/>
                </a:solidFill>
                <a:latin typeface="Aptos"/>
                <a:ea typeface="Aptos"/>
                <a:cs typeface="Aptos"/>
              </a:defRPr>
            </a:pPr>
            <a:r>
              <a:rPr sz="2400" b="0">
                <a:solidFill>
                  <a:srgbClr val="112F43"/>
                </a:solidFill>
                <a:latin typeface="Aptos"/>
                <a:ea typeface="Aptos"/>
                <a:cs typeface="Aptos"/>
              </a:rPr>
              <a:t>Their generation rules create very different attack opportunities.</a:t>
            </a:r>
          </a:p>
        </p:txBody>
      </p:sp>
      <p:sp>
        <p:nvSpPr>
          <p:cNvPr id="6" name="">
            <a:extLst xmlns:a="http://schemas.openxmlformats.org/drawingml/2006/main">
              <a:ext uri="{FF2B5EF4-FFF2-40B4-BE49-F238E27FC236}">
                <a16:creationId xmlns:a16="http://schemas.microsoft.com/office/drawing/2014/main" id="{1805A8F2-67D5-4B08-BF16-A490A5F716EA}"/>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Both numerical examples are easy. Large-instance hardness requires an explicit assumption.</a:t>
            </a:r>
          </a:p>
        </p:txBody>
      </p:sp>
    </p:spTree>
    <p:extLst>
      <p:ext uri="{BB962C8B-B14F-4D97-AF65-F5344CB8AC3E}">
        <p14:creationId xmlns:p14="http://schemas.microsoft.com/office/powerpoint/2010/main" val="345051384"/>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464910-DA8E-4C2F-8697-2427CD665783}"/>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Average success comes from a precise experiment</a:t>
            </a:r>
          </a:p>
        </p:txBody>
      </p:sp>
      <p:sp>
        <p:nvSpPr>
          <p:cNvPr id="2" name="">
            <a:extLst xmlns:a="http://schemas.openxmlformats.org/drawingml/2006/main">
              <a:ext uri="{FF2B5EF4-FFF2-40B4-BE49-F238E27FC236}">
                <a16:creationId xmlns:a16="http://schemas.microsoft.com/office/drawing/2014/main" id="{E34F1FCC-A78F-4E0E-A9DF-9A7D1E90DD0E}"/>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7C54B459-A227-4BE7-8F9C-B721F9FF6E3E}"/>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06</a:t>
            </a:r>
          </a:p>
        </p:txBody>
      </p:sp>
      <p:sp>
        <p:nvSpPr>
          <p:cNvPr id="4" name="">
            <a:extLst xmlns:a="http://schemas.openxmlformats.org/drawingml/2006/main">
              <a:ext uri="{FF2B5EF4-FFF2-40B4-BE49-F238E27FC236}">
                <a16:creationId xmlns:a16="http://schemas.microsoft.com/office/drawing/2014/main" id="{7F0D42D7-31E3-4D9D-BB5C-0B6200918AF3}"/>
              </a:ext>
            </a:extLst>
          </p:cNvPr>
          <p:cNvSpPr>
            <a:spLocks xmlns:a="http://schemas.openxmlformats.org/drawingml/2006/main" noGrp="1"/>
          </p:cNvSpPr>
          <p:nvPr/>
        </p:nvSpPr>
        <p:spPr>
          <a:xfrm xmlns:a="http://schemas.openxmlformats.org/drawingml/2006/main">
            <a:off x="609600" y="165735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82"/>
                </a:solidFill>
                <a:latin typeface="Aptos"/>
                <a:ea typeface="Aptos"/>
                <a:cs typeface="Aptos"/>
              </a:defRPr>
            </a:pPr>
            <a:r>
              <a:rPr sz="3300" b="1">
                <a:solidFill>
                  <a:srgbClr val="087F82"/>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E07413A3-2661-417F-8CA6-D8AEC2E06953}"/>
              </a:ext>
            </a:extLst>
          </p:cNvPr>
          <p:cNvSpPr>
            <a:spLocks xmlns:a="http://schemas.openxmlformats.org/drawingml/2006/main" noGrp="1"/>
          </p:cNvSpPr>
          <p:nvPr/>
        </p:nvSpPr>
        <p:spPr>
          <a:xfrm xmlns:a="http://schemas.openxmlformats.org/drawingml/2006/main">
            <a:off x="1714500" y="1666875"/>
            <a:ext cx="962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12F43"/>
                </a:solidFill>
                <a:latin typeface="Aptos"/>
                <a:ea typeface="Aptos"/>
                <a:cs typeface="Aptos"/>
              </a:defRPr>
            </a:pPr>
            <a:r>
              <a:rPr sz="2325" b="1">
                <a:solidFill>
                  <a:srgbClr val="112F43"/>
                </a:solidFill>
                <a:latin typeface="Aptos"/>
                <a:ea typeface="Aptos"/>
                <a:cs typeface="Aptos"/>
              </a:rPr>
              <a:t>Generate an instance</a:t>
            </a:r>
          </a:p>
        </p:txBody>
      </p:sp>
      <p:sp>
        <p:nvSpPr>
          <p:cNvPr id="6" name="">
            <a:extLst xmlns:a="http://schemas.openxmlformats.org/drawingml/2006/main">
              <a:ext uri="{FF2B5EF4-FFF2-40B4-BE49-F238E27FC236}">
                <a16:creationId xmlns:a16="http://schemas.microsoft.com/office/drawing/2014/main" id="{08EBF69D-9D9F-42B2-A77A-C8487293AB51}"/>
              </a:ext>
            </a:extLst>
          </p:cNvPr>
          <p:cNvSpPr>
            <a:spLocks xmlns:a="http://schemas.openxmlformats.org/drawingml/2006/main" noGrp="1"/>
          </p:cNvSpPr>
          <p:nvPr/>
        </p:nvSpPr>
        <p:spPr>
          <a:xfrm xmlns:a="http://schemas.openxmlformats.org/drawingml/2006/main">
            <a:off x="1714500" y="2200275"/>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The sampler chooses a public instance I and hidden witness w.</a:t>
            </a:r>
          </a:p>
        </p:txBody>
      </p:sp>
      <p:sp>
        <p:nvSpPr>
          <p:cNvPr id="7" name="">
            <a:extLst xmlns:a="http://schemas.openxmlformats.org/drawingml/2006/main">
              <a:ext uri="{FF2B5EF4-FFF2-40B4-BE49-F238E27FC236}">
                <a16:creationId xmlns:a16="http://schemas.microsoft.com/office/drawing/2014/main" id="{613645FA-265B-439B-B1A3-8ED16CD8B28E}"/>
              </a:ext>
            </a:extLst>
          </p:cNvPr>
          <p:cNvSpPr>
            <a:spLocks xmlns:a="http://schemas.openxmlformats.org/drawingml/2006/main" noGrp="1"/>
          </p:cNvSpPr>
          <p:nvPr/>
        </p:nvSpPr>
        <p:spPr>
          <a:xfrm xmlns:a="http://schemas.openxmlformats.org/drawingml/2006/main">
            <a:off x="609600" y="310515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82"/>
                </a:solidFill>
                <a:latin typeface="Aptos"/>
                <a:ea typeface="Aptos"/>
                <a:cs typeface="Aptos"/>
              </a:defRPr>
            </a:pPr>
            <a:r>
              <a:rPr sz="3300" b="1">
                <a:solidFill>
                  <a:srgbClr val="087F82"/>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24A02DA8-B53A-4E80-8CBD-90F9030C6C6D}"/>
              </a:ext>
            </a:extLst>
          </p:cNvPr>
          <p:cNvSpPr>
            <a:spLocks xmlns:a="http://schemas.openxmlformats.org/drawingml/2006/main" noGrp="1"/>
          </p:cNvSpPr>
          <p:nvPr/>
        </p:nvSpPr>
        <p:spPr>
          <a:xfrm xmlns:a="http://schemas.openxmlformats.org/drawingml/2006/main">
            <a:off x="1714500" y="3114675"/>
            <a:ext cx="962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12F43"/>
                </a:solidFill>
                <a:latin typeface="Aptos"/>
                <a:ea typeface="Aptos"/>
                <a:cs typeface="Aptos"/>
              </a:defRPr>
            </a:pPr>
            <a:r>
              <a:rPr sz="2325" b="1">
                <a:solidFill>
                  <a:srgbClr val="112F43"/>
                </a:solidFill>
                <a:latin typeface="Aptos"/>
                <a:ea typeface="Aptos"/>
                <a:cs typeface="Aptos"/>
              </a:rPr>
              <a:t>Run the attacker</a:t>
            </a:r>
          </a:p>
        </p:txBody>
      </p:sp>
      <p:sp>
        <p:nvSpPr>
          <p:cNvPr id="9" name="">
            <a:extLst xmlns:a="http://schemas.openxmlformats.org/drawingml/2006/main">
              <a:ext uri="{FF2B5EF4-FFF2-40B4-BE49-F238E27FC236}">
                <a16:creationId xmlns:a16="http://schemas.microsoft.com/office/drawing/2014/main" id="{5D0AC6C0-90CF-4228-9F31-6AEDD016A16E}"/>
              </a:ext>
            </a:extLst>
          </p:cNvPr>
          <p:cNvSpPr>
            <a:spLocks xmlns:a="http://schemas.openxmlformats.org/drawingml/2006/main" noGrp="1"/>
          </p:cNvSpPr>
          <p:nvPr/>
        </p:nvSpPr>
        <p:spPr>
          <a:xfrm xmlns:a="http://schemas.openxmlformats.org/drawingml/2006/main">
            <a:off x="1714500" y="3648075"/>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A sees I and may use its own random coins.</a:t>
            </a:r>
          </a:p>
        </p:txBody>
      </p:sp>
      <p:sp>
        <p:nvSpPr>
          <p:cNvPr id="10" name="">
            <a:extLst xmlns:a="http://schemas.openxmlformats.org/drawingml/2006/main">
              <a:ext uri="{FF2B5EF4-FFF2-40B4-BE49-F238E27FC236}">
                <a16:creationId xmlns:a16="http://schemas.microsoft.com/office/drawing/2014/main" id="{9C8AD3CF-2F96-468A-86F1-A8AD30AEECED}"/>
              </a:ext>
            </a:extLst>
          </p:cNvPr>
          <p:cNvSpPr>
            <a:spLocks xmlns:a="http://schemas.openxmlformats.org/drawingml/2006/main" noGrp="1"/>
          </p:cNvSpPr>
          <p:nvPr/>
        </p:nvSpPr>
        <p:spPr>
          <a:xfrm xmlns:a="http://schemas.openxmlformats.org/drawingml/2006/main">
            <a:off x="609600" y="4552950"/>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82"/>
                </a:solidFill>
                <a:latin typeface="Aptos"/>
                <a:ea typeface="Aptos"/>
                <a:cs typeface="Aptos"/>
              </a:defRPr>
            </a:pPr>
            <a:r>
              <a:rPr sz="3300" b="1">
                <a:solidFill>
                  <a:srgbClr val="087F82"/>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719C2B3C-691F-4EBB-BA99-65086C438214}"/>
              </a:ext>
            </a:extLst>
          </p:cNvPr>
          <p:cNvSpPr>
            <a:spLocks xmlns:a="http://schemas.openxmlformats.org/drawingml/2006/main" noGrp="1"/>
          </p:cNvSpPr>
          <p:nvPr/>
        </p:nvSpPr>
        <p:spPr>
          <a:xfrm xmlns:a="http://schemas.openxmlformats.org/drawingml/2006/main">
            <a:off x="1714500" y="4562475"/>
            <a:ext cx="962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12F43"/>
                </a:solidFill>
                <a:latin typeface="Aptos"/>
                <a:ea typeface="Aptos"/>
                <a:cs typeface="Aptos"/>
              </a:defRPr>
            </a:pPr>
            <a:r>
              <a:rPr sz="2325" b="1">
                <a:solidFill>
                  <a:srgbClr val="112F43"/>
                </a:solidFill>
                <a:latin typeface="Aptos"/>
                <a:ea typeface="Aptos"/>
                <a:cs typeface="Aptos"/>
              </a:rPr>
              <a:t>Measure success</a:t>
            </a:r>
          </a:p>
        </p:txBody>
      </p:sp>
      <p:sp>
        <p:nvSpPr>
          <p:cNvPr id="12" name="">
            <a:extLst xmlns:a="http://schemas.openxmlformats.org/drawingml/2006/main">
              <a:ext uri="{FF2B5EF4-FFF2-40B4-BE49-F238E27FC236}">
                <a16:creationId xmlns:a16="http://schemas.microsoft.com/office/drawing/2014/main" id="{E4A0057A-06EF-4989-8BB4-59EAE0995828}"/>
              </a:ext>
            </a:extLst>
          </p:cNvPr>
          <p:cNvSpPr>
            <a:spLocks xmlns:a="http://schemas.openxmlformats.org/drawingml/2006/main" noGrp="1"/>
          </p:cNvSpPr>
          <p:nvPr/>
        </p:nvSpPr>
        <p:spPr>
          <a:xfrm xmlns:a="http://schemas.openxmlformats.org/drawingml/2006/main">
            <a:off x="1714500" y="5095875"/>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Repeat the experiment according to that same sampling law.</a:t>
            </a:r>
          </a:p>
        </p:txBody>
      </p:sp>
    </p:spTree>
    <p:extLst>
      <p:ext uri="{BB962C8B-B14F-4D97-AF65-F5344CB8AC3E}">
        <p14:creationId xmlns:p14="http://schemas.microsoft.com/office/powerpoint/2010/main" val="1076698668"/>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F546083-67F5-4E23-8826-EE195E9F4F20}"/>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Success means different things for different tasks</a:t>
            </a:r>
          </a:p>
        </p:txBody>
      </p:sp>
      <p:sp>
        <p:nvSpPr>
          <p:cNvPr id="2" name="">
            <a:extLst xmlns:a="http://schemas.openxmlformats.org/drawingml/2006/main">
              <a:ext uri="{FF2B5EF4-FFF2-40B4-BE49-F238E27FC236}">
                <a16:creationId xmlns:a16="http://schemas.microsoft.com/office/drawing/2014/main" id="{FABC9D47-4C6B-4670-96B4-32E600EE2331}"/>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F29375EB-8F66-4E7F-BD3A-820B9F16E015}"/>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07</a:t>
            </a:r>
          </a:p>
        </p:txBody>
      </p:sp>
      <p:graphicFrame>
        <p:nvGraphicFramePr>
          <p:cNvPr id="9" name=""/>
          <p:cNvGraphicFramePr/>
          <p:nvPr/>
        </p:nvGraphicFramePr>
        <p:xfrm>
          <a:off xmlns:a="http://schemas.openxmlformats.org/drawingml/2006/main" x="609600" y="1657350"/>
          <a:ext xmlns:a="http://schemas.openxmlformats.org/drawingml/2006/main" cx="10972800" cy="3667125"/>
        </p:xfrm>
        <a:graphic xmlns:a="http://schemas.openxmlformats.org/drawingml/2006/main">
          <a:graphicData uri="http://schemas.openxmlformats.org/drawingml/2006/table">
            <a:tbl>
              <a:tblPr/>
              <a:tblGrid>
                <a:gridCol w="2752725"/>
                <a:gridCol w="5400675"/>
                <a:gridCol w="2819400"/>
              </a:tblGrid>
              <a:tr h="733425">
                <a:tc>
                  <a:txBody>
                    <a:bodyPr/>
                    <a:lstStyle/>
                    <a:p>
                      <a:r>
                        <a:rPr sz="1875" b="1">
                          <a:solidFill>
                            <a:srgbClr val="FFFFFF"/>
                          </a:solidFill>
                          <a:latin typeface="Aptos"/>
                          <a:ea typeface="Aptos"/>
                          <a:cs typeface="Aptos"/>
                        </a:rPr>
                        <a:t>Task</a:t>
                      </a:r>
                    </a:p>
                  </a:txBody>
                  <a:tcPr marL="142875" marR="114300" marT="104775" marB="85725" anchor="ctr">
                    <a:solidFill>
                      <a:srgbClr val="112F43"/>
                    </a:solidFill>
                  </a:tcPr>
                </a:tc>
                <a:tc>
                  <a:txBody>
                    <a:bodyPr/>
                    <a:lstStyle/>
                    <a:p>
                      <a:r>
                        <a:rPr sz="1875" b="1">
                          <a:solidFill>
                            <a:srgbClr val="FFFFFF"/>
                          </a:solidFill>
                          <a:latin typeface="Aptos"/>
                          <a:ea typeface="Aptos"/>
                          <a:cs typeface="Aptos"/>
                        </a:rPr>
                        <a:t>Required outcome</a:t>
                      </a:r>
                    </a:p>
                  </a:txBody>
                  <a:tcPr marL="142875" marR="114300" marT="104775" marB="85725" anchor="ctr">
                    <a:solidFill>
                      <a:srgbClr val="112F43"/>
                    </a:solidFill>
                  </a:tcPr>
                </a:tc>
                <a:tc>
                  <a:txBody>
                    <a:bodyPr/>
                    <a:lstStyle/>
                    <a:p>
                      <a:r>
                        <a:rPr sz="1875" b="1">
                          <a:solidFill>
                            <a:srgbClr val="FFFFFF"/>
                          </a:solidFill>
                          <a:latin typeface="Aptos"/>
                          <a:ea typeface="Aptos"/>
                          <a:cs typeface="Aptos"/>
                        </a:rPr>
                        <a:t>Blind baseline</a:t>
                      </a:r>
                    </a:p>
                  </a:txBody>
                  <a:tcPr marL="142875" marR="114300" marT="104775" marB="85725" anchor="ctr">
                    <a:solidFill>
                      <a:srgbClr val="112F43"/>
                    </a:solidFill>
                  </a:tcPr>
                </a:tc>
              </a:tr>
              <a:tr h="733425">
                <a:tc>
                  <a:txBody>
                    <a:bodyPr/>
                    <a:lstStyle/>
                    <a:p>
                      <a:r>
                        <a:rPr sz="1875">
                          <a:solidFill>
                            <a:srgbClr val="112F43"/>
                          </a:solidFill>
                          <a:latin typeface="Aptos"/>
                          <a:ea typeface="Aptos"/>
                          <a:cs typeface="Aptos"/>
                        </a:rPr>
                        <a:t>Planted recovery</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Output the exact sampled x</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2⁻ⁿ for uniform x</a:t>
                      </a:r>
                    </a:p>
                  </a:txBody>
                  <a:tcPr marL="142875" marR="114300" marT="104775" marB="85725" anchor="ctr">
                    <a:solidFill>
                      <a:srgbClr val="F7F5F0"/>
                    </a:solidFill>
                  </a:tcPr>
                </a:tc>
              </a:tr>
              <a:tr h="733425">
                <a:tc>
                  <a:txBody>
                    <a:bodyPr/>
                    <a:lstStyle/>
                    <a:p>
                      <a:r>
                        <a:rPr sz="1875">
                          <a:solidFill>
                            <a:srgbClr val="112F43"/>
                          </a:solidFill>
                          <a:latin typeface="Aptos"/>
                          <a:ea typeface="Aptos"/>
                          <a:cs typeface="Aptos"/>
                        </a:rPr>
                        <a:t>Valid-witness search</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Output any acceptable witness</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Depends on the relation</a:t>
                      </a:r>
                    </a:p>
                  </a:txBody>
                  <a:tcPr marL="142875" marR="114300" marT="104775" marB="85725" anchor="ctr">
                    <a:solidFill>
                      <a:srgbClr val="F7F5F0"/>
                    </a:solidFill>
                  </a:tcPr>
                </a:tc>
              </a:tr>
              <a:tr h="733425">
                <a:tc>
                  <a:txBody>
                    <a:bodyPr/>
                    <a:lstStyle/>
                    <a:p>
                      <a:r>
                        <a:rPr sz="1875">
                          <a:solidFill>
                            <a:srgbClr val="112F43"/>
                          </a:solidFill>
                          <a:latin typeface="Aptos"/>
                          <a:ea typeface="Aptos"/>
                          <a:cs typeface="Aptos"/>
                        </a:rPr>
                        <a:t>Balanced distinguishing</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Identify which distribution generated I</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1/2</a:t>
                      </a:r>
                    </a:p>
                  </a:txBody>
                  <a:tcPr marL="142875" marR="114300" marT="104775" marB="85725" anchor="ctr">
                    <a:solidFill>
                      <a:srgbClr val="F7F5F0"/>
                    </a:solidFill>
                  </a:tcPr>
                </a:tc>
              </a:tr>
              <a:tr h="733425">
                <a:tc>
                  <a:txBody>
                    <a:bodyPr/>
                    <a:lstStyle/>
                    <a:p>
                      <a:r>
                        <a:rPr sz="1875">
                          <a:solidFill>
                            <a:srgbClr val="112F43"/>
                          </a:solidFill>
                          <a:latin typeface="Aptos"/>
                          <a:ea typeface="Aptos"/>
                          <a:cs typeface="Aptos"/>
                        </a:rPr>
                        <a:t>Optimization</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Meet the specified objective or approximation</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Depends on the problem</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6C742D33-A05B-4668-9AA3-DFA81BAA2C75}"/>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The task and the success threshold belong in every hardness assumption.</a:t>
            </a:r>
          </a:p>
        </p:txBody>
      </p:sp>
    </p:spTree>
    <p:extLst>
      <p:ext uri="{BB962C8B-B14F-4D97-AF65-F5344CB8AC3E}">
        <p14:creationId xmlns:p14="http://schemas.microsoft.com/office/powerpoint/2010/main" val="381419139"/>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A9F6B0-818C-454E-896B-05CB27A02949}"/>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Generating an instance can be easy</a:t>
            </a:r>
          </a:p>
        </p:txBody>
      </p:sp>
      <p:sp>
        <p:nvSpPr>
          <p:cNvPr id="2" name="">
            <a:extLst xmlns:a="http://schemas.openxmlformats.org/drawingml/2006/main">
              <a:ext uri="{FF2B5EF4-FFF2-40B4-BE49-F238E27FC236}">
                <a16:creationId xmlns:a16="http://schemas.microsoft.com/office/drawing/2014/main" id="{CE859CCD-3A17-42D2-9449-A9D46E8B3E11}"/>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4F2EA1BE-81C8-48F6-AF19-07081FC17F7D}"/>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BADD8BA2-C043-4CE8-8C25-3846C124255F}"/>
              </a:ext>
            </a:extLst>
          </p:cNvPr>
          <p:cNvSpPr>
            <a:spLocks xmlns:a="http://schemas.openxmlformats.org/drawingml/2006/main" noGrp="1"/>
          </p:cNvSpPr>
          <p:nvPr/>
        </p:nvSpPr>
        <p:spPr>
          <a:xfrm xmlns:a="http://schemas.openxmlformats.org/drawingml/2006/main">
            <a:off x="609600" y="16859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Generation</a:t>
            </a:r>
          </a:p>
        </p:txBody>
      </p:sp>
      <p:sp>
        <p:nvSpPr>
          <p:cNvPr id="5" name="">
            <a:extLst xmlns:a="http://schemas.openxmlformats.org/drawingml/2006/main">
              <a:ext uri="{FF2B5EF4-FFF2-40B4-BE49-F238E27FC236}">
                <a16:creationId xmlns:a16="http://schemas.microsoft.com/office/drawing/2014/main" id="{3DEF9473-BEE4-4E3B-B954-49E49BDC8BFE}"/>
              </a:ext>
            </a:extLst>
          </p:cNvPr>
          <p:cNvSpPr>
            <a:spLocks xmlns:a="http://schemas.openxmlformats.org/drawingml/2006/main" noGrp="1"/>
          </p:cNvSpPr>
          <p:nvPr/>
        </p:nvSpPr>
        <p:spPr>
          <a:xfrm xmlns:a="http://schemas.openxmlformats.org/drawingml/2006/main">
            <a:off x="609600" y="2476500"/>
            <a:ext cx="5143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Sample x</a:t>
            </a:r>
          </a:p>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Compute y = f(x)</a:t>
            </a:r>
          </a:p>
        </p:txBody>
      </p:sp>
      <p:sp>
        <p:nvSpPr>
          <p:cNvPr id="6" name="">
            <a:extLst xmlns:a="http://schemas.openxmlformats.org/drawingml/2006/main">
              <a:ext uri="{FF2B5EF4-FFF2-40B4-BE49-F238E27FC236}">
                <a16:creationId xmlns:a16="http://schemas.microsoft.com/office/drawing/2014/main" id="{9C69A632-2824-4A25-A29B-23EECAB25B80}"/>
              </a:ext>
            </a:extLst>
          </p:cNvPr>
          <p:cNvSpPr>
            <a:spLocks xmlns:a="http://schemas.openxmlformats.org/drawingml/2006/main" noGrp="1"/>
          </p:cNvSpPr>
          <p:nvPr/>
        </p:nvSpPr>
        <p:spPr>
          <a:xfrm xmlns:a="http://schemas.openxmlformats.org/drawingml/2006/main">
            <a:off x="6553200" y="1685925"/>
            <a:ext cx="4991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45C48"/>
                </a:solidFill>
                <a:latin typeface="Aptos"/>
                <a:ea typeface="Aptos"/>
                <a:cs typeface="Aptos"/>
              </a:defRPr>
            </a:pPr>
            <a:r>
              <a:rPr sz="2100" b="1">
                <a:solidFill>
                  <a:srgbClr val="C45C48"/>
                </a:solidFill>
                <a:latin typeface="Aptos"/>
                <a:ea typeface="Aptos"/>
                <a:cs typeface="Aptos"/>
              </a:rPr>
              <a:t>Recovery challenge</a:t>
            </a:r>
          </a:p>
        </p:txBody>
      </p:sp>
      <p:sp>
        <p:nvSpPr>
          <p:cNvPr id="7" name="">
            <a:extLst xmlns:a="http://schemas.openxmlformats.org/drawingml/2006/main">
              <a:ext uri="{FF2B5EF4-FFF2-40B4-BE49-F238E27FC236}">
                <a16:creationId xmlns:a16="http://schemas.microsoft.com/office/drawing/2014/main" id="{5AFE67F9-F6F2-497A-85FB-A7C97B2088E1}"/>
              </a:ext>
            </a:extLst>
          </p:cNvPr>
          <p:cNvSpPr>
            <a:spLocks xmlns:a="http://schemas.openxmlformats.org/drawingml/2006/main" noGrp="1"/>
          </p:cNvSpPr>
          <p:nvPr/>
        </p:nvSpPr>
        <p:spPr>
          <a:xfrm xmlns:a="http://schemas.openxmlformats.org/drawingml/2006/main">
            <a:off x="6553200" y="2476500"/>
            <a:ext cx="49911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C45C48"/>
                </a:solidFill>
                <a:latin typeface="Aptos"/>
                <a:ea typeface="Aptos"/>
                <a:cs typeface="Aptos"/>
              </a:defRPr>
            </a:pPr>
            <a:r>
              <a:rPr sz="3450" b="1">
                <a:solidFill>
                  <a:srgbClr val="C45C48"/>
                </a:solidFill>
                <a:latin typeface="Aptos"/>
                <a:ea typeface="Aptos"/>
                <a:cs typeface="Aptos"/>
              </a:rPr>
              <a:t>Given y</a:t>
            </a:r>
          </a:p>
          <a:p xmlns:a="http://schemas.openxmlformats.org/drawingml/2006/main">
            <a:pPr algn="l">
              <a:defRPr sz="3450" b="1">
                <a:solidFill>
                  <a:srgbClr val="C45C48"/>
                </a:solidFill>
                <a:latin typeface="Aptos"/>
                <a:ea typeface="Aptos"/>
                <a:cs typeface="Aptos"/>
              </a:defRPr>
            </a:pPr>
            <a:r>
              <a:rPr sz="3450" b="1">
                <a:solidFill>
                  <a:srgbClr val="C45C48"/>
                </a:solidFill>
                <a:latin typeface="Aptos"/>
                <a:ea typeface="Aptos"/>
                <a:cs typeface="Aptos"/>
              </a:rPr>
              <a:t>Find a preimage</a:t>
            </a:r>
          </a:p>
        </p:txBody>
      </p:sp>
      <p:sp>
        <p:nvSpPr>
          <p:cNvPr id="8" name="">
            <a:extLst xmlns:a="http://schemas.openxmlformats.org/drawingml/2006/main">
              <a:ext uri="{FF2B5EF4-FFF2-40B4-BE49-F238E27FC236}">
                <a16:creationId xmlns:a16="http://schemas.microsoft.com/office/drawing/2014/main" id="{924D1EFE-44D7-40B7-A91B-12AEA28C444D}"/>
              </a:ext>
            </a:extLst>
          </p:cNvPr>
          <p:cNvSpPr>
            <a:spLocks xmlns:a="http://schemas.openxmlformats.org/drawingml/2006/main" noGrp="1"/>
          </p:cNvSpPr>
          <p:nvPr/>
        </p:nvSpPr>
        <p:spPr>
          <a:xfrm xmlns:a="http://schemas.openxmlformats.org/drawingml/2006/main">
            <a:off x="609600" y="5038725"/>
            <a:ext cx="108394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12F43"/>
                </a:solidFill>
                <a:latin typeface="Aptos"/>
                <a:ea typeface="Aptos"/>
                <a:cs typeface="Aptos"/>
              </a:defRPr>
            </a:pPr>
            <a:r>
              <a:rPr sz="2325" b="0">
                <a:solidFill>
                  <a:srgbClr val="112F43"/>
                </a:solidFill>
                <a:latin typeface="Aptos"/>
                <a:ea typeface="Aptos"/>
                <a:cs typeface="Aptos"/>
              </a:rPr>
              <a:t>Easy forward computation can coexist</a:t>
            </a:r>
          </a:p>
          <a:p xmlns:a="http://schemas.openxmlformats.org/drawingml/2006/main">
            <a:pPr algn="l">
              <a:defRPr sz="2325" b="0">
                <a:solidFill>
                  <a:srgbClr val="112F43"/>
                </a:solidFill>
                <a:latin typeface="Aptos"/>
                <a:ea typeface="Aptos"/>
                <a:cs typeface="Aptos"/>
              </a:defRPr>
            </a:pPr>
            <a:r>
              <a:rPr sz="2325" b="0">
                <a:solidFill>
                  <a:srgbClr val="112F43"/>
                </a:solidFill>
                <a:latin typeface="Aptos"/>
                <a:ea typeface="Aptos"/>
                <a:cs typeface="Aptos"/>
              </a:rPr>
              <a:t>with conjectured average-case inversion difficulty.</a:t>
            </a:r>
          </a:p>
        </p:txBody>
      </p:sp>
    </p:spTree>
    <p:extLst>
      <p:ext uri="{BB962C8B-B14F-4D97-AF65-F5344CB8AC3E}">
        <p14:creationId xmlns:p14="http://schemas.microsoft.com/office/powerpoint/2010/main" val="197885626"/>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F1AD12-2BE4-4324-80A3-43617208923D}"/>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ABW’s sparse noisy-equation experiment</a:t>
            </a:r>
          </a:p>
        </p:txBody>
      </p:sp>
      <p:sp>
        <p:nvSpPr>
          <p:cNvPr id="2" name="">
            <a:extLst xmlns:a="http://schemas.openxmlformats.org/drawingml/2006/main">
              <a:ext uri="{FF2B5EF4-FFF2-40B4-BE49-F238E27FC236}">
                <a16:creationId xmlns:a16="http://schemas.microsoft.com/office/drawing/2014/main" id="{1FF476E6-7B45-4622-8F77-EBFF3E0DF1D1}"/>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D2100B33-76BC-4097-B956-F818C89A321A}"/>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09</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a62e48248694c2f"/>
          <a:stretch xmlns:a="http://schemas.openxmlformats.org/drawingml/2006/main"/>
        </p:blipFill>
        <p:spPr>
          <a:xfrm xmlns:a="http://schemas.openxmlformats.org/drawingml/2006/main">
            <a:off x="695325" y="1790700"/>
            <a:ext cx="5715000"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976E134-95A1-44F2-9CC8-FA71908B7CDB}"/>
              </a:ext>
            </a:extLst>
          </p:cNvPr>
          <p:cNvSpPr>
            <a:spLocks xmlns:a="http://schemas.openxmlformats.org/drawingml/2006/main" noGrp="1"/>
          </p:cNvSpPr>
          <p:nvPr/>
        </p:nvSpPr>
        <p:spPr>
          <a:xfrm xmlns:a="http://schemas.openxmlformats.org/drawingml/2006/main">
            <a:off x="7200900" y="1704975"/>
            <a:ext cx="43624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087F82"/>
                </a:solidFill>
                <a:latin typeface="Aptos"/>
                <a:ea typeface="Aptos"/>
                <a:cs typeface="Aptos"/>
              </a:defRPr>
            </a:pPr>
            <a:r>
              <a:rPr sz="4050" b="1">
                <a:solidFill>
                  <a:srgbClr val="087F82"/>
                </a:solidFill>
                <a:latin typeface="Aptos"/>
                <a:ea typeface="Aptos"/>
                <a:cs typeface="Aptos"/>
              </a:rPr>
              <a:t>b = Mx + e</a:t>
            </a:r>
          </a:p>
        </p:txBody>
      </p:sp>
      <p:sp>
        <p:nvSpPr>
          <p:cNvPr id="6" name="">
            <a:extLst xmlns:a="http://schemas.openxmlformats.org/drawingml/2006/main">
              <a:ext uri="{FF2B5EF4-FFF2-40B4-BE49-F238E27FC236}">
                <a16:creationId xmlns:a16="http://schemas.microsoft.com/office/drawing/2014/main" id="{9115ED06-1E64-4EA8-9878-E4ACDB04864A}"/>
              </a:ext>
            </a:extLst>
          </p:cNvPr>
          <p:cNvSpPr>
            <a:spLocks xmlns:a="http://schemas.openxmlformats.org/drawingml/2006/main" noGrp="1"/>
          </p:cNvSpPr>
          <p:nvPr/>
        </p:nvSpPr>
        <p:spPr>
          <a:xfrm xmlns:a="http://schemas.openxmlformats.org/drawingml/2006/main">
            <a:off x="7200900" y="2924175"/>
            <a:ext cx="43624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2F43"/>
                </a:solidFill>
                <a:latin typeface="Aptos"/>
                <a:ea typeface="Aptos"/>
                <a:cs typeface="Aptos"/>
              </a:defRPr>
            </a:pPr>
            <a:r>
              <a:rPr sz="2100" b="0">
                <a:solidFill>
                  <a:srgbClr val="112F43"/>
                </a:solidFill>
                <a:latin typeface="Aptos"/>
                <a:ea typeface="Aptos"/>
                <a:cs typeface="Aptos"/>
              </a:rPr>
              <a:t>M: random rows of weight d</a:t>
            </a:r>
          </a:p>
          <a:p xmlns:a="http://schemas.openxmlformats.org/drawingml/2006/main">
            <a:pPr algn="l">
              <a:defRPr sz="2100" b="0">
                <a:solidFill>
                  <a:srgbClr val="112F43"/>
                </a:solidFill>
                <a:latin typeface="Aptos"/>
                <a:ea typeface="Aptos"/>
                <a:cs typeface="Aptos"/>
              </a:defRPr>
            </a:pPr>
            <a:r>
              <a:rPr sz="2100" b="0">
                <a:solidFill>
                  <a:srgbClr val="112F43"/>
                </a:solidFill>
                <a:latin typeface="Aptos"/>
                <a:ea typeface="Aptos"/>
                <a:cs typeface="Aptos"/>
              </a:rPr>
              <a:t>x: a uniform binary assignment</a:t>
            </a:r>
          </a:p>
          <a:p xmlns:a="http://schemas.openxmlformats.org/drawingml/2006/main">
            <a:pPr algn="l">
              <a:defRPr sz="2100" b="0">
                <a:solidFill>
                  <a:srgbClr val="112F43"/>
                </a:solidFill>
                <a:latin typeface="Aptos"/>
                <a:ea typeface="Aptos"/>
                <a:cs typeface="Aptos"/>
              </a:defRPr>
            </a:pPr>
            <a:r>
              <a:rPr sz="2100" b="0">
                <a:solidFill>
                  <a:srgbClr val="112F43"/>
                </a:solidFill>
                <a:latin typeface="Aptos"/>
                <a:ea typeface="Aptos"/>
                <a:cs typeface="Aptos"/>
              </a:rPr>
              <a:t>eᵢ: independent output flips</a:t>
            </a:r>
          </a:p>
          <a:p xmlns:a="http://schemas.openxmlformats.org/drawingml/2006/main">
            <a:r>
              <a:t/>
            </a:r>
          </a:p>
          <a:p xmlns:a="http://schemas.openxmlformats.org/drawingml/2006/main">
            <a:pPr algn="l">
              <a:defRPr sz="2100" b="0">
                <a:solidFill>
                  <a:srgbClr val="112F43"/>
                </a:solidFill>
                <a:latin typeface="Aptos"/>
                <a:ea typeface="Aptos"/>
                <a:cs typeface="Aptos"/>
              </a:defRPr>
            </a:pPr>
            <a:r>
              <a:rPr sz="2100" b="0">
                <a:solidFill>
                  <a:srgbClr val="112F43"/>
                </a:solidFill>
                <a:latin typeface="Aptos"/>
                <a:ea typeface="Aptos"/>
                <a:cs typeface="Aptos"/>
              </a:rPr>
              <a:t>Attacker observes M and b.</a:t>
            </a:r>
          </a:p>
        </p:txBody>
      </p:sp>
      <p:sp>
        <p:nvSpPr>
          <p:cNvPr id="7" name="">
            <a:extLst xmlns:a="http://schemas.openxmlformats.org/drawingml/2006/main">
              <a:ext uri="{FF2B5EF4-FFF2-40B4-BE49-F238E27FC236}">
                <a16:creationId xmlns:a16="http://schemas.microsoft.com/office/drawing/2014/main" id="{3EA2A42C-4A7B-43CA-8E20-9C43B738D5AC}"/>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Arithmetic is mod 2 (XOR). The sampling rule specifies n, m, d and ε.</a:t>
            </a:r>
          </a:p>
        </p:txBody>
      </p:sp>
    </p:spTree>
    <p:extLst>
      <p:ext uri="{BB962C8B-B14F-4D97-AF65-F5344CB8AC3E}">
        <p14:creationId xmlns:p14="http://schemas.microsoft.com/office/powerpoint/2010/main" val="367013648"/>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41D949-D0CC-427A-A008-23E38D3892C3}"/>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Example 3: four noisy parity observations</a:t>
            </a:r>
          </a:p>
        </p:txBody>
      </p:sp>
      <p:sp>
        <p:nvSpPr>
          <p:cNvPr id="2" name="">
            <a:extLst xmlns:a="http://schemas.openxmlformats.org/drawingml/2006/main">
              <a:ext uri="{FF2B5EF4-FFF2-40B4-BE49-F238E27FC236}">
                <a16:creationId xmlns:a16="http://schemas.microsoft.com/office/drawing/2014/main" id="{B326BC99-88CD-4534-8D06-F9EE23A0B251}"/>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55D60DB7-B3EB-4E58-9382-A85B05D67C23}"/>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10</a:t>
            </a:r>
          </a:p>
        </p:txBody>
      </p:sp>
      <p:sp>
        <p:nvSpPr>
          <p:cNvPr id="4" name="">
            <a:extLst xmlns:a="http://schemas.openxmlformats.org/drawingml/2006/main">
              <a:ext uri="{FF2B5EF4-FFF2-40B4-BE49-F238E27FC236}">
                <a16:creationId xmlns:a16="http://schemas.microsoft.com/office/drawing/2014/main" id="{83C9A6D8-123C-4021-B113-42E0BA5E4A4D}"/>
              </a:ext>
            </a:extLst>
          </p:cNvPr>
          <p:cNvSpPr>
            <a:spLocks xmlns:a="http://schemas.openxmlformats.org/drawingml/2006/main" noGrp="1"/>
          </p:cNvSpPr>
          <p:nvPr/>
        </p:nvSpPr>
        <p:spPr>
          <a:xfrm xmlns:a="http://schemas.openxmlformats.org/drawingml/2006/main">
            <a:off x="609600" y="1543050"/>
            <a:ext cx="1085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087F82"/>
                </a:solidFill>
                <a:latin typeface="Aptos"/>
                <a:ea typeface="Aptos"/>
                <a:cs typeface="Aptos"/>
              </a:defRPr>
            </a:pPr>
            <a:r>
              <a:rPr sz="2925" b="1">
                <a:solidFill>
                  <a:srgbClr val="087F82"/>
                </a:solidFill>
                <a:latin typeface="Aptos"/>
                <a:ea typeface="Aptos"/>
                <a:cs typeface="Aptos"/>
              </a:rPr>
              <a:t>x = (1, 0, 1, 1)ᵀ</a:t>
            </a:r>
          </a:p>
        </p:txBody>
      </p:sp>
      <p:graphicFrame>
        <p:nvGraphicFramePr>
          <p:cNvPr id="11" name=""/>
          <p:cNvGraphicFramePr/>
          <p:nvPr/>
        </p:nvGraphicFramePr>
        <p:xfrm>
          <a:off xmlns:a="http://schemas.openxmlformats.org/drawingml/2006/main" x="609600" y="2524125"/>
          <a:ext xmlns:a="http://schemas.openxmlformats.org/drawingml/2006/main" cx="10972800" cy="3009900"/>
        </p:xfrm>
        <a:graphic xmlns:a="http://schemas.openxmlformats.org/drawingml/2006/main">
          <a:graphicData uri="http://schemas.openxmlformats.org/drawingml/2006/table">
            <a:tbl>
              <a:tblPr/>
              <a:tblGrid>
                <a:gridCol w="4743450"/>
                <a:gridCol w="2190750"/>
                <a:gridCol w="1847850"/>
                <a:gridCol w="2190750"/>
              </a:tblGrid>
              <a:tr h="601980">
                <a:tc>
                  <a:txBody>
                    <a:bodyPr/>
                    <a:lstStyle/>
                    <a:p>
                      <a:r>
                        <a:rPr sz="2025" b="1">
                          <a:solidFill>
                            <a:srgbClr val="FFFFFF"/>
                          </a:solidFill>
                          <a:latin typeface="Aptos"/>
                          <a:ea typeface="Aptos"/>
                          <a:cs typeface="Aptos"/>
                        </a:rPr>
                        <a:t>Selected variables</a:t>
                      </a:r>
                    </a:p>
                  </a:txBody>
                  <a:tcPr marL="142875" marR="114300" marT="104775" marB="85725" anchor="ctr">
                    <a:solidFill>
                      <a:srgbClr val="112F43"/>
                    </a:solidFill>
                  </a:tcPr>
                </a:tc>
                <a:tc>
                  <a:txBody>
                    <a:bodyPr/>
                    <a:lstStyle/>
                    <a:p>
                      <a:r>
                        <a:rPr sz="2025" b="1">
                          <a:solidFill>
                            <a:srgbClr val="FFFFFF"/>
                          </a:solidFill>
                          <a:latin typeface="Aptos"/>
                          <a:ea typeface="Aptos"/>
                          <a:cs typeface="Aptos"/>
                        </a:rPr>
                        <a:t>Clean parity</a:t>
                      </a:r>
                    </a:p>
                  </a:txBody>
                  <a:tcPr marL="142875" marR="114300" marT="104775" marB="85725" anchor="ctr">
                    <a:solidFill>
                      <a:srgbClr val="112F43"/>
                    </a:solidFill>
                  </a:tcPr>
                </a:tc>
                <a:tc>
                  <a:txBody>
                    <a:bodyPr/>
                    <a:lstStyle/>
                    <a:p>
                      <a:r>
                        <a:rPr sz="2025" b="1">
                          <a:solidFill>
                            <a:srgbClr val="FFFFFF"/>
                          </a:solidFill>
                          <a:latin typeface="Aptos"/>
                          <a:ea typeface="Aptos"/>
                          <a:cs typeface="Aptos"/>
                        </a:rPr>
                        <a:t>Error bit</a:t>
                      </a:r>
                    </a:p>
                  </a:txBody>
                  <a:tcPr marL="142875" marR="114300" marT="104775" marB="85725" anchor="ctr">
                    <a:solidFill>
                      <a:srgbClr val="112F43"/>
                    </a:solidFill>
                  </a:tcPr>
                </a:tc>
                <a:tc>
                  <a:txBody>
                    <a:bodyPr/>
                    <a:lstStyle/>
                    <a:p>
                      <a:r>
                        <a:rPr sz="2025" b="1">
                          <a:solidFill>
                            <a:srgbClr val="FFFFFF"/>
                          </a:solidFill>
                          <a:latin typeface="Aptos"/>
                          <a:ea typeface="Aptos"/>
                          <a:cs typeface="Aptos"/>
                        </a:rPr>
                        <a:t>Observed bᵢ</a:t>
                      </a:r>
                    </a:p>
                  </a:txBody>
                  <a:tcPr marL="142875" marR="114300" marT="104775" marB="85725" anchor="ctr">
                    <a:solidFill>
                      <a:srgbClr val="112F43"/>
                    </a:solidFill>
                  </a:tcPr>
                </a:tc>
              </a:tr>
              <a:tr h="601980">
                <a:tc>
                  <a:txBody>
                    <a:bodyPr/>
                    <a:lstStyle/>
                    <a:p>
                      <a:r>
                        <a:rPr sz="2025">
                          <a:solidFill>
                            <a:srgbClr val="112F43"/>
                          </a:solidFill>
                          <a:latin typeface="Aptos"/>
                          <a:ea typeface="Aptos"/>
                          <a:cs typeface="Aptos"/>
                        </a:rPr>
                        <a:t>x₁ ⊕ x₂ ⊕ x₃</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0</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0</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0</a:t>
                      </a:r>
                    </a:p>
                  </a:txBody>
                  <a:tcPr marL="142875" marR="114300" marT="104775" marB="85725" anchor="ctr">
                    <a:solidFill>
                      <a:srgbClr val="F7F5F0"/>
                    </a:solidFill>
                  </a:tcPr>
                </a:tc>
              </a:tr>
              <a:tr h="601980">
                <a:tc>
                  <a:txBody>
                    <a:bodyPr/>
                    <a:lstStyle/>
                    <a:p>
                      <a:r>
                        <a:rPr sz="2025">
                          <a:solidFill>
                            <a:srgbClr val="112F43"/>
                          </a:solidFill>
                          <a:latin typeface="Aptos"/>
                          <a:ea typeface="Aptos"/>
                          <a:cs typeface="Aptos"/>
                        </a:rPr>
                        <a:t>x₁ ⊕ x₂ ⊕ x₄</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0</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1</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1</a:t>
                      </a:r>
                    </a:p>
                  </a:txBody>
                  <a:tcPr marL="142875" marR="114300" marT="104775" marB="85725" anchor="ctr">
                    <a:solidFill>
                      <a:srgbClr val="F7F5F0"/>
                    </a:solidFill>
                  </a:tcPr>
                </a:tc>
              </a:tr>
              <a:tr h="601980">
                <a:tc>
                  <a:txBody>
                    <a:bodyPr/>
                    <a:lstStyle/>
                    <a:p>
                      <a:r>
                        <a:rPr sz="2025">
                          <a:solidFill>
                            <a:srgbClr val="112F43"/>
                          </a:solidFill>
                          <a:latin typeface="Aptos"/>
                          <a:ea typeface="Aptos"/>
                          <a:cs typeface="Aptos"/>
                        </a:rPr>
                        <a:t>x₁ ⊕ x₃ ⊕ x₄</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1</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0</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1</a:t>
                      </a:r>
                    </a:p>
                  </a:txBody>
                  <a:tcPr marL="142875" marR="114300" marT="104775" marB="85725" anchor="ctr">
                    <a:solidFill>
                      <a:srgbClr val="F7F5F0"/>
                    </a:solidFill>
                  </a:tcPr>
                </a:tc>
              </a:tr>
              <a:tr h="601980">
                <a:tc>
                  <a:txBody>
                    <a:bodyPr/>
                    <a:lstStyle/>
                    <a:p>
                      <a:r>
                        <a:rPr sz="2025">
                          <a:solidFill>
                            <a:srgbClr val="112F43"/>
                          </a:solidFill>
                          <a:latin typeface="Aptos"/>
                          <a:ea typeface="Aptos"/>
                          <a:cs typeface="Aptos"/>
                        </a:rPr>
                        <a:t>x₂ ⊕ x₃ ⊕ x₄</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0</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0</a:t>
                      </a:r>
                    </a:p>
                  </a:txBody>
                  <a:tcPr marL="142875" marR="114300" marT="104775" marB="85725" anchor="ctr">
                    <a:solidFill>
                      <a:srgbClr val="F7F5F0"/>
                    </a:solidFill>
                  </a:tcPr>
                </a:tc>
                <a:tc>
                  <a:txBody>
                    <a:bodyPr/>
                    <a:lstStyle/>
                    <a:p>
                      <a:r>
                        <a:rPr sz="2025">
                          <a:solidFill>
                            <a:srgbClr val="112F43"/>
                          </a:solidFill>
                          <a:latin typeface="Aptos"/>
                          <a:ea typeface="Aptos"/>
                          <a:cs typeface="Aptos"/>
                        </a:rPr>
                        <a:t>0</a:t>
                      </a:r>
                    </a:p>
                  </a:txBody>
                  <a:tcPr marL="142875" marR="114300" marT="104775" marB="85725" anchor="ctr">
                    <a:solidFill>
                      <a:srgbClr val="F7F5F0"/>
                    </a:solidFill>
                  </a:tcPr>
                </a:tc>
              </a:tr>
            </a:tbl>
          </a:graphicData>
        </a:graphic>
      </p:graphicFrame>
      <p:sp>
        <p:nvSpPr>
          <p:cNvPr id="6" name="">
            <a:extLst xmlns:a="http://schemas.openxmlformats.org/drawingml/2006/main">
              <a:ext uri="{FF2B5EF4-FFF2-40B4-BE49-F238E27FC236}">
                <a16:creationId xmlns:a16="http://schemas.microsoft.com/office/drawing/2014/main" id="{1444B2FC-E44B-4716-96C0-A56FDDAD0E16}"/>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This is one illustrative realization, with one flipped answer.</a:t>
            </a:r>
          </a:p>
        </p:txBody>
      </p:sp>
    </p:spTree>
    <p:extLst>
      <p:ext uri="{BB962C8B-B14F-4D97-AF65-F5344CB8AC3E}">
        <p14:creationId xmlns:p14="http://schemas.microsoft.com/office/powerpoint/2010/main" val="1060708673"/>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5698B13-B86C-4C2D-AB07-8BF60C546059}"/>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 perfect fit can miss the planted assignment</a:t>
            </a:r>
          </a:p>
        </p:txBody>
      </p:sp>
      <p:sp>
        <p:nvSpPr>
          <p:cNvPr id="2" name="">
            <a:extLst xmlns:a="http://schemas.openxmlformats.org/drawingml/2006/main">
              <a:ext uri="{FF2B5EF4-FFF2-40B4-BE49-F238E27FC236}">
                <a16:creationId xmlns:a16="http://schemas.microsoft.com/office/drawing/2014/main" id="{CA0F95E3-8355-481B-BC8F-005DAFD26580}"/>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E526BB85-F536-4669-B228-AE82E361C463}"/>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11</a:t>
            </a:r>
          </a:p>
        </p:txBody>
      </p:sp>
      <p:sp>
        <p:nvSpPr>
          <p:cNvPr id="4" name="">
            <a:extLst xmlns:a="http://schemas.openxmlformats.org/drawingml/2006/main">
              <a:ext uri="{FF2B5EF4-FFF2-40B4-BE49-F238E27FC236}">
                <a16:creationId xmlns:a16="http://schemas.microsoft.com/office/drawing/2014/main" id="{532DAEC5-3AF1-4D60-B04A-BED2C778E659}"/>
              </a:ext>
            </a:extLst>
          </p:cNvPr>
          <p:cNvSpPr>
            <a:spLocks xmlns:a="http://schemas.openxmlformats.org/drawingml/2006/main" noGrp="1"/>
          </p:cNvSpPr>
          <p:nvPr/>
        </p:nvSpPr>
        <p:spPr>
          <a:xfrm xmlns:a="http://schemas.openxmlformats.org/drawingml/2006/main">
            <a:off x="609600" y="166687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Sampled assignment</a:t>
            </a:r>
          </a:p>
        </p:txBody>
      </p:sp>
      <p:sp>
        <p:nvSpPr>
          <p:cNvPr id="5" name="">
            <a:extLst xmlns:a="http://schemas.openxmlformats.org/drawingml/2006/main">
              <a:ext uri="{FF2B5EF4-FFF2-40B4-BE49-F238E27FC236}">
                <a16:creationId xmlns:a16="http://schemas.microsoft.com/office/drawing/2014/main" id="{DE9908D8-6E77-432E-BC64-1E868F667AF2}"/>
              </a:ext>
            </a:extLst>
          </p:cNvPr>
          <p:cNvSpPr>
            <a:spLocks xmlns:a="http://schemas.openxmlformats.org/drawingml/2006/main" noGrp="1"/>
          </p:cNvSpPr>
          <p:nvPr/>
        </p:nvSpPr>
        <p:spPr>
          <a:xfrm xmlns:a="http://schemas.openxmlformats.org/drawingml/2006/main">
            <a:off x="609600" y="24384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87F82"/>
                </a:solidFill>
                <a:latin typeface="Aptos"/>
                <a:ea typeface="Aptos"/>
                <a:cs typeface="Aptos"/>
              </a:defRPr>
            </a:pPr>
            <a:r>
              <a:rPr sz="2850" b="1">
                <a:solidFill>
                  <a:srgbClr val="087F82"/>
                </a:solidFill>
                <a:latin typeface="Aptos"/>
                <a:ea typeface="Aptos"/>
                <a:cs typeface="Aptos"/>
              </a:rPr>
              <a:t>x = (1, 0, 1, 1)ᵀ</a:t>
            </a:r>
          </a:p>
        </p:txBody>
      </p:sp>
      <p:sp>
        <p:nvSpPr>
          <p:cNvPr id="6" name="">
            <a:extLst xmlns:a="http://schemas.openxmlformats.org/drawingml/2006/main">
              <a:ext uri="{FF2B5EF4-FFF2-40B4-BE49-F238E27FC236}">
                <a16:creationId xmlns:a16="http://schemas.microsoft.com/office/drawing/2014/main" id="{6195B7F7-F866-4E54-8462-47CC362C0686}"/>
              </a:ext>
            </a:extLst>
          </p:cNvPr>
          <p:cNvSpPr>
            <a:spLocks xmlns:a="http://schemas.openxmlformats.org/drawingml/2006/main" noGrp="1"/>
          </p:cNvSpPr>
          <p:nvPr/>
        </p:nvSpPr>
        <p:spPr>
          <a:xfrm xmlns:a="http://schemas.openxmlformats.org/drawingml/2006/main">
            <a:off x="609600" y="3724275"/>
            <a:ext cx="5095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One observed equation fails.</a:t>
            </a:r>
          </a:p>
        </p:txBody>
      </p:sp>
      <p:sp>
        <p:nvSpPr>
          <p:cNvPr id="7" name="">
            <a:extLst xmlns:a="http://schemas.openxmlformats.org/drawingml/2006/main">
              <a:ext uri="{FF2B5EF4-FFF2-40B4-BE49-F238E27FC236}">
                <a16:creationId xmlns:a16="http://schemas.microsoft.com/office/drawing/2014/main" id="{D213BD61-598E-498F-B5E1-AFA95495B2AA}"/>
              </a:ext>
            </a:extLst>
          </p:cNvPr>
          <p:cNvSpPr>
            <a:spLocks xmlns:a="http://schemas.openxmlformats.org/drawingml/2006/main" noGrp="1"/>
          </p:cNvSpPr>
          <p:nvPr/>
        </p:nvSpPr>
        <p:spPr>
          <a:xfrm xmlns:a="http://schemas.openxmlformats.org/drawingml/2006/main">
            <a:off x="6553200" y="1666875"/>
            <a:ext cx="4991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45C48"/>
                </a:solidFill>
                <a:latin typeface="Aptos"/>
                <a:ea typeface="Aptos"/>
                <a:cs typeface="Aptos"/>
              </a:defRPr>
            </a:pPr>
            <a:r>
              <a:rPr sz="2100" b="1">
                <a:solidFill>
                  <a:srgbClr val="C45C48"/>
                </a:solidFill>
                <a:latin typeface="Aptos"/>
                <a:ea typeface="Aptos"/>
                <a:cs typeface="Aptos"/>
              </a:rPr>
              <a:t>An exact fitting assignment</a:t>
            </a:r>
          </a:p>
        </p:txBody>
      </p:sp>
      <p:sp>
        <p:nvSpPr>
          <p:cNvPr id="8" name="">
            <a:extLst xmlns:a="http://schemas.openxmlformats.org/drawingml/2006/main">
              <a:ext uri="{FF2B5EF4-FFF2-40B4-BE49-F238E27FC236}">
                <a16:creationId xmlns:a16="http://schemas.microsoft.com/office/drawing/2014/main" id="{2EDA0E9B-E923-4190-A61F-742424AF00B3}"/>
              </a:ext>
            </a:extLst>
          </p:cNvPr>
          <p:cNvSpPr>
            <a:spLocks xmlns:a="http://schemas.openxmlformats.org/drawingml/2006/main" noGrp="1"/>
          </p:cNvSpPr>
          <p:nvPr/>
        </p:nvSpPr>
        <p:spPr>
          <a:xfrm xmlns:a="http://schemas.openxmlformats.org/drawingml/2006/main">
            <a:off x="6553200" y="2438400"/>
            <a:ext cx="4991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C45C48"/>
                </a:solidFill>
                <a:latin typeface="Aptos"/>
                <a:ea typeface="Aptos"/>
                <a:cs typeface="Aptos"/>
              </a:defRPr>
            </a:pPr>
            <a:r>
              <a:rPr sz="2850" b="1">
                <a:solidFill>
                  <a:srgbClr val="C45C48"/>
                </a:solidFill>
                <a:latin typeface="Aptos"/>
                <a:ea typeface="Aptos"/>
                <a:cs typeface="Aptos"/>
              </a:rPr>
              <a:t>z = (0, 1, 1, 0)ᵀ</a:t>
            </a:r>
          </a:p>
        </p:txBody>
      </p:sp>
      <p:sp>
        <p:nvSpPr>
          <p:cNvPr id="9" name="">
            <a:extLst xmlns:a="http://schemas.openxmlformats.org/drawingml/2006/main">
              <a:ext uri="{FF2B5EF4-FFF2-40B4-BE49-F238E27FC236}">
                <a16:creationId xmlns:a16="http://schemas.microsoft.com/office/drawing/2014/main" id="{5687CF49-7754-46FB-BCDE-F077D8CD2AC5}"/>
              </a:ext>
            </a:extLst>
          </p:cNvPr>
          <p:cNvSpPr>
            <a:spLocks xmlns:a="http://schemas.openxmlformats.org/drawingml/2006/main" noGrp="1"/>
          </p:cNvSpPr>
          <p:nvPr/>
        </p:nvSpPr>
        <p:spPr>
          <a:xfrm xmlns:a="http://schemas.openxmlformats.org/drawingml/2006/main">
            <a:off x="6553200" y="3724275"/>
            <a:ext cx="4991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Every observed equation holds.</a:t>
            </a:r>
          </a:p>
        </p:txBody>
      </p:sp>
      <p:sp>
        <p:nvSpPr>
          <p:cNvPr id="10" name="">
            <a:extLst xmlns:a="http://schemas.openxmlformats.org/drawingml/2006/main">
              <a:ext uri="{FF2B5EF4-FFF2-40B4-BE49-F238E27FC236}">
                <a16:creationId xmlns:a16="http://schemas.microsoft.com/office/drawing/2014/main" id="{C3BCBCB4-DF6D-4F8A-9A50-D1C47EC1A522}"/>
              </a:ext>
            </a:extLst>
          </p:cNvPr>
          <p:cNvSpPr>
            <a:spLocks xmlns:a="http://schemas.openxmlformats.org/drawingml/2006/main" noGrp="1"/>
          </p:cNvSpPr>
          <p:nvPr/>
        </p:nvSpPr>
        <p:spPr>
          <a:xfrm xmlns:a="http://schemas.openxmlformats.org/drawingml/2006/main">
            <a:off x="609600" y="50101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087F82"/>
                </a:solidFill>
                <a:latin typeface="Aptos"/>
                <a:ea typeface="Aptos"/>
                <a:cs typeface="Aptos"/>
              </a:defRPr>
            </a:pPr>
            <a:r>
              <a:rPr sz="3525" b="1">
                <a:solidFill>
                  <a:srgbClr val="087F82"/>
                </a:solidFill>
                <a:latin typeface="Aptos"/>
                <a:ea typeface="Aptos"/>
                <a:cs typeface="Aptos"/>
              </a:rPr>
              <a:t>Mz = b, but z ≠ x</a:t>
            </a:r>
          </a:p>
        </p:txBody>
      </p:sp>
      <p:sp>
        <p:nvSpPr>
          <p:cNvPr id="11" name="">
            <a:extLst xmlns:a="http://schemas.openxmlformats.org/drawingml/2006/main">
              <a:ext uri="{FF2B5EF4-FFF2-40B4-BE49-F238E27FC236}">
                <a16:creationId xmlns:a16="http://schemas.microsoft.com/office/drawing/2014/main" id="{792C20D6-4D46-494C-8928-995B54885E99}"/>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Small algebraic example. A better observed fit need not identify the original hidden assignment.</a:t>
            </a:r>
          </a:p>
        </p:txBody>
      </p:sp>
    </p:spTree>
    <p:extLst>
      <p:ext uri="{BB962C8B-B14F-4D97-AF65-F5344CB8AC3E}">
        <p14:creationId xmlns:p14="http://schemas.microsoft.com/office/powerpoint/2010/main" val="405876069"/>
      </p:ext>
    </p:extLst>
  </p:cSld>
</p:sld>
</file>

<file path=ppt/slides/slide1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19E4FB6-ADBF-4A20-8345-8A2A61AC815B}"/>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Expected noise is different from average hardness</a:t>
            </a:r>
          </a:p>
        </p:txBody>
      </p:sp>
      <p:sp>
        <p:nvSpPr>
          <p:cNvPr id="2" name="">
            <a:extLst xmlns:a="http://schemas.openxmlformats.org/drawingml/2006/main">
              <a:ext uri="{FF2B5EF4-FFF2-40B4-BE49-F238E27FC236}">
                <a16:creationId xmlns:a16="http://schemas.microsoft.com/office/drawing/2014/main" id="{4378CCF2-9C93-4435-BBD8-062B41E2C36B}"/>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9B2E4F5B-EC1D-4954-A3ED-182A9957B2C3}"/>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12</a:t>
            </a:r>
          </a:p>
        </p:txBody>
      </p:sp>
      <p:graphicFrame>
        <p:nvGraphicFramePr>
          <p:cNvPr id="14" name="Chart"/>
          <p:cNvGraphicFramePr/>
          <p:nvPr/>
        </p:nvGraphicFramePr>
        <p:xfrm>
          <a:off xmlns:a="http://schemas.openxmlformats.org/drawingml/2006/main" x="447675" y="1933575"/>
          <a:ext xmlns:a="http://schemas.openxmlformats.org/drawingml/2006/main" cx="7019925" cy="3619500"/>
        </p:xfrm>
        <a:graphic xmlns:a="http://schemas.openxmlformats.org/drawingml/2006/main">
          <a:graphicData uri="http://schemas.openxmlformats.org/drawingml/2006/chart">
            <c:chart xmlns:r="http://schemas.openxmlformats.org/officeDocument/2006/relationships" xmlns:c="http://schemas.openxmlformats.org/drawingml/2006/chart" r:id="R8fd1bace084843ca"/>
          </a:graphicData>
        </a:graphic>
      </p:graphicFrame>
      <p:sp>
        <p:nvSpPr>
          <p:cNvPr id="5" name="">
            <a:extLst xmlns:a="http://schemas.openxmlformats.org/drawingml/2006/main">
              <a:ext uri="{FF2B5EF4-FFF2-40B4-BE49-F238E27FC236}">
                <a16:creationId xmlns:a16="http://schemas.microsoft.com/office/drawing/2014/main" id="{ED711604-1B24-435A-9F01-5A3C681D623C}"/>
              </a:ext>
            </a:extLst>
          </p:cNvPr>
          <p:cNvSpPr>
            <a:spLocks xmlns:a="http://schemas.openxmlformats.org/drawingml/2006/main" noGrp="1"/>
          </p:cNvSpPr>
          <p:nvPr/>
        </p:nvSpPr>
        <p:spPr>
          <a:xfrm xmlns:a="http://schemas.openxmlformats.org/drawingml/2006/main">
            <a:off x="828675" y="15621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56A74"/>
                </a:solidFill>
                <a:latin typeface="Aptos"/>
                <a:ea typeface="Aptos"/>
                <a:cs typeface="Aptos"/>
              </a:defRPr>
            </a:pPr>
            <a:r>
              <a:rPr sz="1800" b="0">
                <a:solidFill>
                  <a:srgbClr val="556A74"/>
                </a:solidFill>
                <a:latin typeface="Aptos"/>
                <a:ea typeface="Aptos"/>
                <a:cs typeface="Aptos"/>
              </a:rPr>
              <a:t>Illustration: m = 20, ε = 0.10</a:t>
            </a:r>
          </a:p>
        </p:txBody>
      </p:sp>
      <p:sp>
        <p:nvSpPr>
          <p:cNvPr id="6" name="">
            <a:extLst xmlns:a="http://schemas.openxmlformats.org/drawingml/2006/main">
              <a:ext uri="{FF2B5EF4-FFF2-40B4-BE49-F238E27FC236}">
                <a16:creationId xmlns:a16="http://schemas.microsoft.com/office/drawing/2014/main" id="{09C6F99F-1DB8-4B1D-BC37-3EA43A0B4A7C}"/>
              </a:ext>
            </a:extLst>
          </p:cNvPr>
          <p:cNvSpPr>
            <a:spLocks xmlns:a="http://schemas.openxmlformats.org/drawingml/2006/main" noGrp="1"/>
          </p:cNvSpPr>
          <p:nvPr/>
        </p:nvSpPr>
        <p:spPr>
          <a:xfrm xmlns:a="http://schemas.openxmlformats.org/drawingml/2006/main">
            <a:off x="7867650" y="1666875"/>
            <a:ext cx="36480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Expected noise</a:t>
            </a:r>
          </a:p>
        </p:txBody>
      </p:sp>
      <p:sp>
        <p:nvSpPr>
          <p:cNvPr id="7" name="">
            <a:extLst xmlns:a="http://schemas.openxmlformats.org/drawingml/2006/main">
              <a:ext uri="{FF2B5EF4-FFF2-40B4-BE49-F238E27FC236}">
                <a16:creationId xmlns:a16="http://schemas.microsoft.com/office/drawing/2014/main" id="{86C6D2A6-C7D8-4864-A946-D3D259A24491}"/>
              </a:ext>
            </a:extLst>
          </p:cNvPr>
          <p:cNvSpPr>
            <a:spLocks xmlns:a="http://schemas.openxmlformats.org/drawingml/2006/main" noGrp="1"/>
          </p:cNvSpPr>
          <p:nvPr/>
        </p:nvSpPr>
        <p:spPr>
          <a:xfrm xmlns:a="http://schemas.openxmlformats.org/drawingml/2006/main">
            <a:off x="7867650" y="2276475"/>
            <a:ext cx="36480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82"/>
                </a:solidFill>
                <a:latin typeface="Aptos"/>
                <a:ea typeface="Aptos"/>
                <a:cs typeface="Aptos"/>
              </a:defRPr>
            </a:pPr>
            <a:r>
              <a:rPr sz="3300" b="1">
                <a:solidFill>
                  <a:srgbClr val="087F82"/>
                </a:solidFill>
                <a:latin typeface="Aptos"/>
                <a:ea typeface="Aptos"/>
                <a:cs typeface="Aptos"/>
              </a:rPr>
              <a:t>E[W] = 2</a:t>
            </a:r>
          </a:p>
        </p:txBody>
      </p:sp>
      <p:sp>
        <p:nvSpPr>
          <p:cNvPr id="8" name="">
            <a:extLst xmlns:a="http://schemas.openxmlformats.org/drawingml/2006/main">
              <a:ext uri="{FF2B5EF4-FFF2-40B4-BE49-F238E27FC236}">
                <a16:creationId xmlns:a16="http://schemas.microsoft.com/office/drawing/2014/main" id="{1E9BDB31-1B79-4310-9C5C-8A4555B0D50A}"/>
              </a:ext>
            </a:extLst>
          </p:cNvPr>
          <p:cNvSpPr>
            <a:spLocks xmlns:a="http://schemas.openxmlformats.org/drawingml/2006/main" noGrp="1"/>
          </p:cNvSpPr>
          <p:nvPr/>
        </p:nvSpPr>
        <p:spPr>
          <a:xfrm xmlns:a="http://schemas.openxmlformats.org/drawingml/2006/main">
            <a:off x="7867650" y="3467100"/>
            <a:ext cx="36480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C45C48"/>
                </a:solidFill>
                <a:latin typeface="Aptos"/>
                <a:ea typeface="Aptos"/>
                <a:cs typeface="Aptos"/>
              </a:defRPr>
            </a:pPr>
            <a:r>
              <a:rPr sz="1950" b="1">
                <a:solidFill>
                  <a:srgbClr val="C45C48"/>
                </a:solidFill>
                <a:latin typeface="Aptos"/>
                <a:ea typeface="Aptos"/>
                <a:cs typeface="Aptos"/>
              </a:rPr>
              <a:t>Hardness on average</a:t>
            </a:r>
          </a:p>
        </p:txBody>
      </p:sp>
      <p:sp>
        <p:nvSpPr>
          <p:cNvPr id="9" name="">
            <a:extLst xmlns:a="http://schemas.openxmlformats.org/drawingml/2006/main">
              <a:ext uri="{FF2B5EF4-FFF2-40B4-BE49-F238E27FC236}">
                <a16:creationId xmlns:a16="http://schemas.microsoft.com/office/drawing/2014/main" id="{ABCE2CAF-D3A7-49E6-B4A0-39927DCA6A14}"/>
              </a:ext>
            </a:extLst>
          </p:cNvPr>
          <p:cNvSpPr>
            <a:spLocks xmlns:a="http://schemas.openxmlformats.org/drawingml/2006/main" noGrp="1"/>
          </p:cNvSpPr>
          <p:nvPr/>
        </p:nvSpPr>
        <p:spPr>
          <a:xfrm xmlns:a="http://schemas.openxmlformats.org/drawingml/2006/main">
            <a:off x="7867650" y="4143375"/>
            <a:ext cx="36480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How often can an attacker</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recover the hidden assignment?</a:t>
            </a:r>
          </a:p>
        </p:txBody>
      </p:sp>
      <p:sp>
        <p:nvSpPr>
          <p:cNvPr id="10" name="">
            <a:extLst xmlns:a="http://schemas.openxmlformats.org/drawingml/2006/main">
              <a:ext uri="{FF2B5EF4-FFF2-40B4-BE49-F238E27FC236}">
                <a16:creationId xmlns:a16="http://schemas.microsoft.com/office/drawing/2014/main" id="{7F3A7C39-F7E6-4608-BB2D-BFE23FFF55D8}"/>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Calculated distribution, showing 0–8 errors. E[W] = 2 does not mean every sample has two errors.</a:t>
            </a:r>
          </a:p>
        </p:txBody>
      </p:sp>
    </p:spTree>
    <p:extLst>
      <p:ext uri="{BB962C8B-B14F-4D97-AF65-F5344CB8AC3E}">
        <p14:creationId xmlns:p14="http://schemas.microsoft.com/office/powerpoint/2010/main" val="1261443799"/>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1F12EF-B66E-4D6A-AA36-BC9DC5154610}"/>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The precise ABW recovery assumption</a:t>
            </a:r>
          </a:p>
        </p:txBody>
      </p:sp>
      <p:sp>
        <p:nvSpPr>
          <p:cNvPr id="2" name="">
            <a:extLst xmlns:a="http://schemas.openxmlformats.org/drawingml/2006/main">
              <a:ext uri="{FF2B5EF4-FFF2-40B4-BE49-F238E27FC236}">
                <a16:creationId xmlns:a16="http://schemas.microsoft.com/office/drawing/2014/main" id="{014D8604-7EE6-422B-9AB0-A04AD926287E}"/>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3FC444A6-ED20-403A-806C-DD07B081F210}"/>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13</a:t>
            </a:r>
          </a:p>
        </p:txBody>
      </p:sp>
      <p:sp>
        <p:nvSpPr>
          <p:cNvPr id="4" name="">
            <a:extLst xmlns:a="http://schemas.openxmlformats.org/drawingml/2006/main">
              <a:ext uri="{FF2B5EF4-FFF2-40B4-BE49-F238E27FC236}">
                <a16:creationId xmlns:a16="http://schemas.microsoft.com/office/drawing/2014/main" id="{450BAA73-03B0-48D2-A77F-3F58E2962FFD}"/>
              </a:ext>
            </a:extLst>
          </p:cNvPr>
          <p:cNvSpPr>
            <a:spLocks xmlns:a="http://schemas.openxmlformats.org/drawingml/2006/main" noGrp="1"/>
          </p:cNvSpPr>
          <p:nvPr/>
        </p:nvSpPr>
        <p:spPr>
          <a:xfrm xmlns:a="http://schemas.openxmlformats.org/drawingml/2006/main">
            <a:off x="609600" y="1695450"/>
            <a:ext cx="108489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087F82"/>
                </a:solidFill>
                <a:latin typeface="Aptos"/>
                <a:ea typeface="Aptos"/>
                <a:cs typeface="Aptos"/>
              </a:defRPr>
            </a:pPr>
            <a:r>
              <a:rPr sz="3150" b="1">
                <a:solidFill>
                  <a:srgbClr val="087F82"/>
                </a:solidFill>
                <a:latin typeface="Aptos"/>
                <a:ea typeface="Aptos"/>
                <a:cs typeface="Aptos"/>
              </a:rPr>
              <a:t>s_A(n) = Pr[A(M, Mx + e) = x]</a:t>
            </a:r>
          </a:p>
        </p:txBody>
      </p:sp>
      <p:sp>
        <p:nvSpPr>
          <p:cNvPr id="5" name="">
            <a:extLst xmlns:a="http://schemas.openxmlformats.org/drawingml/2006/main">
              <a:ext uri="{FF2B5EF4-FFF2-40B4-BE49-F238E27FC236}">
                <a16:creationId xmlns:a16="http://schemas.microsoft.com/office/drawing/2014/main" id="{11CD24E8-E58D-4A4F-870B-5F3F9F212765}"/>
              </a:ext>
            </a:extLst>
          </p:cNvPr>
          <p:cNvSpPr>
            <a:spLocks xmlns:a="http://schemas.openxmlformats.org/drawingml/2006/main" noGrp="1"/>
          </p:cNvSpPr>
          <p:nvPr/>
        </p:nvSpPr>
        <p:spPr>
          <a:xfrm xmlns:a="http://schemas.openxmlformats.org/drawingml/2006/main">
            <a:off x="609600" y="3105150"/>
            <a:ext cx="108489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12F43"/>
                </a:solidFill>
                <a:latin typeface="Aptos"/>
                <a:ea typeface="Aptos"/>
                <a:cs typeface="Aptos"/>
              </a:defRPr>
            </a:pPr>
            <a:r>
              <a:rPr sz="2550" b="0">
                <a:solidFill>
                  <a:srgbClr val="112F43"/>
                </a:solidFill>
                <a:latin typeface="Aptos"/>
                <a:ea typeface="Aptos"/>
                <a:cs typeface="Aptos"/>
              </a:rPr>
              <a:t>For every efficient randomized attacker A,</a:t>
            </a:r>
          </a:p>
          <a:p xmlns:a="http://schemas.openxmlformats.org/drawingml/2006/main">
            <a:pPr algn="l">
              <a:defRPr sz="2550" b="0">
                <a:solidFill>
                  <a:srgbClr val="112F43"/>
                </a:solidFill>
                <a:latin typeface="Aptos"/>
                <a:ea typeface="Aptos"/>
                <a:cs typeface="Aptos"/>
              </a:defRPr>
            </a:pPr>
            <a:r>
              <a:rPr sz="2550" b="0">
                <a:solidFill>
                  <a:srgbClr val="112F43"/>
                </a:solidFill>
                <a:latin typeface="Aptos"/>
                <a:ea typeface="Aptos"/>
                <a:cs typeface="Aptos"/>
              </a:rPr>
              <a:t>s_A(n) &lt; 2/3 for all sufficiently large n.</a:t>
            </a:r>
          </a:p>
        </p:txBody>
      </p:sp>
      <p:sp>
        <p:nvSpPr>
          <p:cNvPr id="6" name="">
            <a:extLst xmlns:a="http://schemas.openxmlformats.org/drawingml/2006/main">
              <a:ext uri="{FF2B5EF4-FFF2-40B4-BE49-F238E27FC236}">
                <a16:creationId xmlns:a16="http://schemas.microsoft.com/office/drawing/2014/main" id="{520C5881-4F38-4BF4-BE09-AA235DFE8368}"/>
              </a:ext>
            </a:extLst>
          </p:cNvPr>
          <p:cNvSpPr>
            <a:spLocks xmlns:a="http://schemas.openxmlformats.org/drawingml/2006/main" noGrp="1"/>
          </p:cNvSpPr>
          <p:nvPr/>
        </p:nvSpPr>
        <p:spPr>
          <a:xfrm xmlns:a="http://schemas.openxmlformats.org/drawingml/2006/main">
            <a:off x="609600" y="4781550"/>
            <a:ext cx="108489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087F82"/>
                </a:solidFill>
                <a:latin typeface="Aptos"/>
                <a:ea typeface="Aptos"/>
                <a:cs typeface="Aptos"/>
              </a:defRPr>
            </a:pPr>
            <a:r>
              <a:rPr sz="2775" b="1">
                <a:solidFill>
                  <a:srgbClr val="087F82"/>
                </a:solidFill>
                <a:latin typeface="Aptos"/>
                <a:ea typeface="Aptos"/>
                <a:cs typeface="Aptos"/>
              </a:rPr>
              <a:t>d = 3     m = Θ(n¹·⁴)     ε = Θ(n⁻⁰·²)</a:t>
            </a:r>
          </a:p>
        </p:txBody>
      </p:sp>
      <p:sp>
        <p:nvSpPr>
          <p:cNvPr id="7" name="">
            <a:extLst xmlns:a="http://schemas.openxmlformats.org/drawingml/2006/main">
              <a:ext uri="{FF2B5EF4-FFF2-40B4-BE49-F238E27FC236}">
                <a16:creationId xmlns:a16="http://schemas.microsoft.com/office/drawing/2014/main" id="{8876277F-EB41-4980-A576-F2109CD09092}"/>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Suitable constants are essential. This statement is an assumption about a specific ensemble.</a:t>
            </a:r>
          </a:p>
        </p:txBody>
      </p:sp>
    </p:spTree>
    <p:extLst>
      <p:ext uri="{BB962C8B-B14F-4D97-AF65-F5344CB8AC3E}">
        <p14:creationId xmlns:p14="http://schemas.microsoft.com/office/powerpoint/2010/main" val="17941924"/>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CD2C78B-395E-4EC5-8A64-12DAA1734CDE}"/>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What the construction theorem establishes</a:t>
            </a:r>
          </a:p>
        </p:txBody>
      </p:sp>
      <p:sp>
        <p:nvSpPr>
          <p:cNvPr id="2" name="">
            <a:extLst xmlns:a="http://schemas.openxmlformats.org/drawingml/2006/main">
              <a:ext uri="{FF2B5EF4-FFF2-40B4-BE49-F238E27FC236}">
                <a16:creationId xmlns:a16="http://schemas.microsoft.com/office/drawing/2014/main" id="{812627EA-146E-4701-A234-7B2EB93CDA22}"/>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E4ADC4FC-84EC-4E4A-898E-31B0AA0E0DBC}"/>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14</a:t>
            </a:r>
          </a:p>
        </p:txBody>
      </p:sp>
      <p:sp>
        <p:nvSpPr>
          <p:cNvPr id="4" name="">
            <a:extLst xmlns:a="http://schemas.openxmlformats.org/drawingml/2006/main">
              <a:ext uri="{FF2B5EF4-FFF2-40B4-BE49-F238E27FC236}">
                <a16:creationId xmlns:a16="http://schemas.microsoft.com/office/drawing/2014/main" id="{78138209-E333-4340-9977-A0670C5C8164}"/>
              </a:ext>
            </a:extLst>
          </p:cNvPr>
          <p:cNvSpPr>
            <a:spLocks xmlns:a="http://schemas.openxmlformats.org/drawingml/2006/main" noGrp="1"/>
          </p:cNvSpPr>
          <p:nvPr/>
        </p:nvSpPr>
        <p:spPr>
          <a:xfrm xmlns:a="http://schemas.openxmlformats.org/drawingml/2006/main">
            <a:off x="609600" y="16478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82"/>
                </a:solidFill>
                <a:latin typeface="Aptos"/>
                <a:ea typeface="Aptos"/>
                <a:cs typeface="Aptos"/>
              </a:defRPr>
            </a:pPr>
            <a:r>
              <a:rPr sz="3300" b="1">
                <a:solidFill>
                  <a:srgbClr val="087F82"/>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D6A22885-8B78-4C3D-A19C-BA0E2E49A97C}"/>
              </a:ext>
            </a:extLst>
          </p:cNvPr>
          <p:cNvSpPr>
            <a:spLocks xmlns:a="http://schemas.openxmlformats.org/drawingml/2006/main" noGrp="1"/>
          </p:cNvSpPr>
          <p:nvPr/>
        </p:nvSpPr>
        <p:spPr>
          <a:xfrm xmlns:a="http://schemas.openxmlformats.org/drawingml/2006/main">
            <a:off x="1714500" y="1657350"/>
            <a:ext cx="962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12F43"/>
                </a:solidFill>
                <a:latin typeface="Aptos"/>
                <a:ea typeface="Aptos"/>
                <a:cs typeface="Aptos"/>
              </a:defRPr>
            </a:pPr>
            <a:r>
              <a:rPr sz="2325" b="1">
                <a:solidFill>
                  <a:srgbClr val="112F43"/>
                </a:solidFill>
                <a:latin typeface="Aptos"/>
                <a:ea typeface="Aptos"/>
                <a:cs typeface="Aptos"/>
              </a:rPr>
              <a:t>Assume a particular average-case problem is hard</a:t>
            </a:r>
          </a:p>
        </p:txBody>
      </p:sp>
      <p:sp>
        <p:nvSpPr>
          <p:cNvPr id="6" name="">
            <a:extLst xmlns:a="http://schemas.openxmlformats.org/drawingml/2006/main">
              <a:ext uri="{FF2B5EF4-FFF2-40B4-BE49-F238E27FC236}">
                <a16:creationId xmlns:a16="http://schemas.microsoft.com/office/drawing/2014/main" id="{ABFA70EA-3E6D-4733-AB98-70C8491A1351}"/>
              </a:ext>
            </a:extLst>
          </p:cNvPr>
          <p:cNvSpPr>
            <a:spLocks xmlns:a="http://schemas.openxmlformats.org/drawingml/2006/main" noGrp="1"/>
          </p:cNvSpPr>
          <p:nvPr/>
        </p:nvSpPr>
        <p:spPr>
          <a:xfrm xmlns:a="http://schemas.openxmlformats.org/drawingml/2006/main">
            <a:off x="1714500" y="219075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The assumption fixes a distribution, task and parameter regime.</a:t>
            </a:r>
          </a:p>
        </p:txBody>
      </p:sp>
      <p:sp>
        <p:nvSpPr>
          <p:cNvPr id="7" name="">
            <a:extLst xmlns:a="http://schemas.openxmlformats.org/drawingml/2006/main">
              <a:ext uri="{FF2B5EF4-FFF2-40B4-BE49-F238E27FC236}">
                <a16:creationId xmlns:a16="http://schemas.microsoft.com/office/drawing/2014/main" id="{A56C2715-B05D-4944-BC89-BF55E3773747}"/>
              </a:ext>
            </a:extLst>
          </p:cNvPr>
          <p:cNvSpPr>
            <a:spLocks xmlns:a="http://schemas.openxmlformats.org/drawingml/2006/main" noGrp="1"/>
          </p:cNvSpPr>
          <p:nvPr/>
        </p:nvSpPr>
        <p:spPr>
          <a:xfrm xmlns:a="http://schemas.openxmlformats.org/drawingml/2006/main">
            <a:off x="609600" y="30956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82"/>
                </a:solidFill>
                <a:latin typeface="Aptos"/>
                <a:ea typeface="Aptos"/>
                <a:cs typeface="Aptos"/>
              </a:defRPr>
            </a:pPr>
            <a:r>
              <a:rPr sz="3300" b="1">
                <a:solidFill>
                  <a:srgbClr val="087F82"/>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CE716396-629D-470A-968D-2903536CA2A2}"/>
              </a:ext>
            </a:extLst>
          </p:cNvPr>
          <p:cNvSpPr>
            <a:spLocks xmlns:a="http://schemas.openxmlformats.org/drawingml/2006/main" noGrp="1"/>
          </p:cNvSpPr>
          <p:nvPr/>
        </p:nvSpPr>
        <p:spPr>
          <a:xfrm xmlns:a="http://schemas.openxmlformats.org/drawingml/2006/main">
            <a:off x="1714500" y="3105150"/>
            <a:ext cx="962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12F43"/>
                </a:solidFill>
                <a:latin typeface="Aptos"/>
                <a:ea typeface="Aptos"/>
                <a:cs typeface="Aptos"/>
              </a:defRPr>
            </a:pPr>
            <a:r>
              <a:rPr sz="2325" b="1">
                <a:solidFill>
                  <a:srgbClr val="112F43"/>
                </a:solidFill>
                <a:latin typeface="Aptos"/>
                <a:ea typeface="Aptos"/>
                <a:cs typeface="Aptos"/>
              </a:rPr>
              <a:t>Construct encryption and analyse attacks</a:t>
            </a:r>
          </a:p>
        </p:txBody>
      </p:sp>
      <p:sp>
        <p:nvSpPr>
          <p:cNvPr id="9" name="">
            <a:extLst xmlns:a="http://schemas.openxmlformats.org/drawingml/2006/main">
              <a:ext uri="{FF2B5EF4-FFF2-40B4-BE49-F238E27FC236}">
                <a16:creationId xmlns:a16="http://schemas.microsoft.com/office/drawing/2014/main" id="{378B19D7-B088-4253-A772-00CE6C0EEC87}"/>
              </a:ext>
            </a:extLst>
          </p:cNvPr>
          <p:cNvSpPr>
            <a:spLocks xmlns:a="http://schemas.openxmlformats.org/drawingml/2006/main" noGrp="1"/>
          </p:cNvSpPr>
          <p:nvPr/>
        </p:nvSpPr>
        <p:spPr>
          <a:xfrm xmlns:a="http://schemas.openxmlformats.org/drawingml/2006/main">
            <a:off x="1714500" y="363855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The reduction connects a scheme attack to the underlying problem.</a:t>
            </a:r>
          </a:p>
        </p:txBody>
      </p:sp>
      <p:sp>
        <p:nvSpPr>
          <p:cNvPr id="10" name="">
            <a:extLst xmlns:a="http://schemas.openxmlformats.org/drawingml/2006/main">
              <a:ext uri="{FF2B5EF4-FFF2-40B4-BE49-F238E27FC236}">
                <a16:creationId xmlns:a16="http://schemas.microsoft.com/office/drawing/2014/main" id="{9E435E68-9CC1-452A-969B-BF06AC297CC1}"/>
              </a:ext>
            </a:extLst>
          </p:cNvPr>
          <p:cNvSpPr>
            <a:spLocks xmlns:a="http://schemas.openxmlformats.org/drawingml/2006/main" noGrp="1"/>
          </p:cNvSpPr>
          <p:nvPr/>
        </p:nvSpPr>
        <p:spPr>
          <a:xfrm xmlns:a="http://schemas.openxmlformats.org/drawingml/2006/main">
            <a:off x="609600" y="4543425"/>
            <a:ext cx="85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82"/>
                </a:solidFill>
                <a:latin typeface="Aptos"/>
                <a:ea typeface="Aptos"/>
                <a:cs typeface="Aptos"/>
              </a:defRPr>
            </a:pPr>
            <a:r>
              <a:rPr sz="3300" b="1">
                <a:solidFill>
                  <a:srgbClr val="087F82"/>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47380D2C-D28C-4BAA-B856-C4C96BF85C67}"/>
              </a:ext>
            </a:extLst>
          </p:cNvPr>
          <p:cNvSpPr>
            <a:spLocks xmlns:a="http://schemas.openxmlformats.org/drawingml/2006/main" noGrp="1"/>
          </p:cNvSpPr>
          <p:nvPr/>
        </p:nvSpPr>
        <p:spPr>
          <a:xfrm xmlns:a="http://schemas.openxmlformats.org/drawingml/2006/main">
            <a:off x="1714500" y="4552950"/>
            <a:ext cx="962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12F43"/>
                </a:solidFill>
                <a:latin typeface="Aptos"/>
                <a:ea typeface="Aptos"/>
                <a:cs typeface="Aptos"/>
              </a:defRPr>
            </a:pPr>
            <a:r>
              <a:rPr sz="2325" b="1">
                <a:solidFill>
                  <a:srgbClr val="112F43"/>
                </a:solidFill>
                <a:latin typeface="Aptos"/>
                <a:ea typeface="Aptos"/>
                <a:cs typeface="Aptos"/>
              </a:rPr>
              <a:t>Obtain conditional security</a:t>
            </a:r>
          </a:p>
        </p:txBody>
      </p:sp>
      <p:sp>
        <p:nvSpPr>
          <p:cNvPr id="12" name="">
            <a:extLst xmlns:a="http://schemas.openxmlformats.org/drawingml/2006/main">
              <a:ext uri="{FF2B5EF4-FFF2-40B4-BE49-F238E27FC236}">
                <a16:creationId xmlns:a16="http://schemas.microsoft.com/office/drawing/2014/main" id="{48D3BA5D-41D9-4DDA-A278-33F7E4DD99CD}"/>
              </a:ext>
            </a:extLst>
          </p:cNvPr>
          <p:cNvSpPr>
            <a:spLocks xmlns:a="http://schemas.openxmlformats.org/drawingml/2006/main" noGrp="1"/>
          </p:cNvSpPr>
          <p:nvPr/>
        </p:nvSpPr>
        <p:spPr>
          <a:xfrm xmlns:a="http://schemas.openxmlformats.org/drawingml/2006/main">
            <a:off x="1714500" y="508635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The guarantee holds if the assumptions and proof conditions hold.</a:t>
            </a:r>
          </a:p>
        </p:txBody>
      </p:sp>
    </p:spTree>
    <p:extLst>
      <p:ext uri="{BB962C8B-B14F-4D97-AF65-F5344CB8AC3E}">
        <p14:creationId xmlns:p14="http://schemas.microsoft.com/office/powerpoint/2010/main" val="1076504339"/>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5F99D7-B469-4609-8E37-BFAE93BD14A9}"/>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Assumption, proof and evidence</a:t>
            </a:r>
          </a:p>
        </p:txBody>
      </p:sp>
      <p:sp>
        <p:nvSpPr>
          <p:cNvPr id="2" name="">
            <a:extLst xmlns:a="http://schemas.openxmlformats.org/drawingml/2006/main">
              <a:ext uri="{FF2B5EF4-FFF2-40B4-BE49-F238E27FC236}">
                <a16:creationId xmlns:a16="http://schemas.microsoft.com/office/drawing/2014/main" id="{78533957-F15C-4090-B6D6-C759EF64301D}"/>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E40C540B-3747-46BF-AD08-4F28696B179C}"/>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15</a:t>
            </a:r>
          </a:p>
        </p:txBody>
      </p:sp>
      <p:graphicFrame>
        <p:nvGraphicFramePr>
          <p:cNvPr id="9" name=""/>
          <p:cNvGraphicFramePr/>
          <p:nvPr/>
        </p:nvGraphicFramePr>
        <p:xfrm>
          <a:off xmlns:a="http://schemas.openxmlformats.org/drawingml/2006/main" x="609600" y="1657350"/>
          <a:ext xmlns:a="http://schemas.openxmlformats.org/drawingml/2006/main" cx="10972800" cy="3676650"/>
        </p:xfrm>
        <a:graphic xmlns:a="http://schemas.openxmlformats.org/drawingml/2006/main">
          <a:graphicData uri="http://schemas.openxmlformats.org/drawingml/2006/table">
            <a:tbl>
              <a:tblPr/>
              <a:tblGrid>
                <a:gridCol w="3448050"/>
                <a:gridCol w="7524750"/>
              </a:tblGrid>
              <a:tr h="735330">
                <a:tc>
                  <a:txBody>
                    <a:bodyPr/>
                    <a:lstStyle/>
                    <a:p>
                      <a:r>
                        <a:rPr sz="1950" b="1">
                          <a:solidFill>
                            <a:srgbClr val="FFFFFF"/>
                          </a:solidFill>
                          <a:latin typeface="Aptos"/>
                          <a:ea typeface="Aptos"/>
                          <a:cs typeface="Aptos"/>
                        </a:rPr>
                        <a:t>Type of statement</a:t>
                      </a:r>
                    </a:p>
                  </a:txBody>
                  <a:tcPr marL="142875" marR="114300" marT="104775" marB="85725" anchor="ctr">
                    <a:solidFill>
                      <a:srgbClr val="112F43"/>
                    </a:solidFill>
                  </a:tcPr>
                </a:tc>
                <a:tc>
                  <a:txBody>
                    <a:bodyPr/>
                    <a:lstStyle/>
                    <a:p>
                      <a:r>
                        <a:rPr sz="1950" b="1">
                          <a:solidFill>
                            <a:srgbClr val="FFFFFF"/>
                          </a:solidFill>
                          <a:latin typeface="Aptos"/>
                          <a:ea typeface="Aptos"/>
                          <a:cs typeface="Aptos"/>
                        </a:rPr>
                        <a:t>What it tells us</a:t>
                      </a:r>
                    </a:p>
                  </a:txBody>
                  <a:tcPr marL="142875" marR="114300" marT="104775" marB="85725" anchor="ctr">
                    <a:solidFill>
                      <a:srgbClr val="112F43"/>
                    </a:solidFill>
                  </a:tcPr>
                </a:tc>
              </a:tr>
              <a:tr h="735330">
                <a:tc>
                  <a:txBody>
                    <a:bodyPr/>
                    <a:lstStyle/>
                    <a:p>
                      <a:r>
                        <a:rPr sz="1950">
                          <a:solidFill>
                            <a:srgbClr val="112F43"/>
                          </a:solidFill>
                          <a:latin typeface="Aptos"/>
                          <a:ea typeface="Aptos"/>
                          <a:cs typeface="Aptos"/>
                        </a:rPr>
                        <a:t>Hardness assumption</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No attacker in the stated class meets the success criterion</a:t>
                      </a:r>
                    </a:p>
                  </a:txBody>
                  <a:tcPr marL="142875" marR="114300" marT="104775" marB="85725" anchor="ctr">
                    <a:solidFill>
                      <a:srgbClr val="F7F5F0"/>
                    </a:solidFill>
                  </a:tcPr>
                </a:tc>
              </a:tr>
              <a:tr h="735330">
                <a:tc>
                  <a:txBody>
                    <a:bodyPr/>
                    <a:lstStyle/>
                    <a:p>
                      <a:r>
                        <a:rPr sz="1950">
                          <a:solidFill>
                            <a:srgbClr val="112F43"/>
                          </a:solidFill>
                          <a:latin typeface="Aptos"/>
                          <a:ea typeface="Aptos"/>
                          <a:cs typeface="Aptos"/>
                        </a:rPr>
                        <a:t>Security reduction</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A scheme attack would give a relevant problem solver</a:t>
                      </a:r>
                    </a:p>
                  </a:txBody>
                  <a:tcPr marL="142875" marR="114300" marT="104775" marB="85725" anchor="ctr">
                    <a:solidFill>
                      <a:srgbClr val="F7F5F0"/>
                    </a:solidFill>
                  </a:tcPr>
                </a:tc>
              </a:tr>
              <a:tr h="735330">
                <a:tc>
                  <a:txBody>
                    <a:bodyPr/>
                    <a:lstStyle/>
                    <a:p>
                      <a:r>
                        <a:rPr sz="1950">
                          <a:solidFill>
                            <a:srgbClr val="112F43"/>
                          </a:solidFill>
                          <a:latin typeface="Aptos"/>
                          <a:ea typeface="Aptos"/>
                          <a:cs typeface="Aptos"/>
                        </a:rPr>
                        <a:t>Restricted lower bound</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A particular computational model cannot succeed</a:t>
                      </a:r>
                    </a:p>
                  </a:txBody>
                  <a:tcPr marL="142875" marR="114300" marT="104775" marB="85725" anchor="ctr">
                    <a:solidFill>
                      <a:srgbClr val="F7F5F0"/>
                    </a:solidFill>
                  </a:tcPr>
                </a:tc>
              </a:tr>
              <a:tr h="735330">
                <a:tc>
                  <a:txBody>
                    <a:bodyPr/>
                    <a:lstStyle/>
                    <a:p>
                      <a:r>
                        <a:rPr sz="1950">
                          <a:solidFill>
                            <a:srgbClr val="112F43"/>
                          </a:solidFill>
                          <a:latin typeface="Aptos"/>
                          <a:ea typeface="Aptos"/>
                          <a:cs typeface="Aptos"/>
                        </a:rPr>
                        <a:t>Experimental evidence</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Tested attacks behaved a certain way at tested sizes</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3C463379-19F8-4590-A12D-0DB1D38D7172}"/>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The scope of the evidence determines the scope of the conclusion.</a:t>
            </a:r>
          </a:p>
        </p:txBody>
      </p:sp>
    </p:spTree>
    <p:extLst>
      <p:ext uri="{BB962C8B-B14F-4D97-AF65-F5344CB8AC3E}">
        <p14:creationId xmlns:p14="http://schemas.microsoft.com/office/powerpoint/2010/main" val="1824124762"/>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BCE88A-A324-470C-99EA-EBD21F3E4567}"/>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 complete hardness claim for our research</a:t>
            </a:r>
          </a:p>
        </p:txBody>
      </p:sp>
      <p:sp>
        <p:nvSpPr>
          <p:cNvPr id="2" name="">
            <a:extLst xmlns:a="http://schemas.openxmlformats.org/drawingml/2006/main">
              <a:ext uri="{FF2B5EF4-FFF2-40B4-BE49-F238E27FC236}">
                <a16:creationId xmlns:a16="http://schemas.microsoft.com/office/drawing/2014/main" id="{D63C11DD-C37A-4DB5-991D-BEB78927E778}"/>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Average-case hardness and ABW</a:t>
            </a:r>
          </a:p>
        </p:txBody>
      </p:sp>
      <p:sp>
        <p:nvSpPr>
          <p:cNvPr id="3" name="">
            <a:extLst xmlns:a="http://schemas.openxmlformats.org/drawingml/2006/main">
              <a:ext uri="{FF2B5EF4-FFF2-40B4-BE49-F238E27FC236}">
                <a16:creationId xmlns:a16="http://schemas.microsoft.com/office/drawing/2014/main" id="{9EBFE0A8-8720-49F3-A6DD-A2E5FBE111AC}"/>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16</a:t>
            </a:r>
          </a:p>
        </p:txBody>
      </p:sp>
      <p:graphicFrame>
        <p:nvGraphicFramePr>
          <p:cNvPr id="9" name=""/>
          <p:cNvGraphicFramePr/>
          <p:nvPr/>
        </p:nvGraphicFramePr>
        <p:xfrm>
          <a:off xmlns:a="http://schemas.openxmlformats.org/drawingml/2006/main" x="609600" y="1657350"/>
          <a:ext xmlns:a="http://schemas.openxmlformats.org/drawingml/2006/main" cx="10972800" cy="4038600"/>
        </p:xfrm>
        <a:graphic xmlns:a="http://schemas.openxmlformats.org/drawingml/2006/main">
          <a:graphicData uri="http://schemas.openxmlformats.org/drawingml/2006/table">
            <a:tbl>
              <a:tblPr/>
              <a:tblGrid>
                <a:gridCol w="2733675"/>
                <a:gridCol w="8239125"/>
              </a:tblGrid>
              <a:tr h="673100">
                <a:tc>
                  <a:txBody>
                    <a:bodyPr/>
                    <a:lstStyle/>
                    <a:p>
                      <a:r>
                        <a:rPr sz="1950" b="1">
                          <a:solidFill>
                            <a:srgbClr val="FFFFFF"/>
                          </a:solidFill>
                          <a:latin typeface="Aptos"/>
                          <a:ea typeface="Aptos"/>
                          <a:cs typeface="Aptos"/>
                        </a:rPr>
                        <a:t>Required field</a:t>
                      </a:r>
                    </a:p>
                  </a:txBody>
                  <a:tcPr marL="142875" marR="114300" marT="104775" marB="85725" anchor="ctr">
                    <a:solidFill>
                      <a:srgbClr val="112F43"/>
                    </a:solidFill>
                  </a:tcPr>
                </a:tc>
                <a:tc>
                  <a:txBody>
                    <a:bodyPr/>
                    <a:lstStyle/>
                    <a:p>
                      <a:r>
                        <a:rPr sz="1950" b="1">
                          <a:solidFill>
                            <a:srgbClr val="FFFFFF"/>
                          </a:solidFill>
                          <a:latin typeface="Aptos"/>
                          <a:ea typeface="Aptos"/>
                          <a:cs typeface="Aptos"/>
                        </a:rPr>
                        <a:t>Question to answer</a:t>
                      </a:r>
                    </a:p>
                  </a:txBody>
                  <a:tcPr marL="142875" marR="114300" marT="104775" marB="85725" anchor="ctr">
                    <a:solidFill>
                      <a:srgbClr val="112F43"/>
                    </a:solidFill>
                  </a:tcPr>
                </a:tc>
              </a:tr>
              <a:tr h="673100">
                <a:tc>
                  <a:txBody>
                    <a:bodyPr/>
                    <a:lstStyle/>
                    <a:p>
                      <a:r>
                        <a:rPr sz="1950">
                          <a:solidFill>
                            <a:srgbClr val="112F43"/>
                          </a:solidFill>
                          <a:latin typeface="Aptos"/>
                          <a:ea typeface="Aptos"/>
                          <a:cs typeface="Aptos"/>
                        </a:rPr>
                        <a:t>Distribution</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Exactly how do we generate the public observations?</a:t>
                      </a:r>
                    </a:p>
                  </a:txBody>
                  <a:tcPr marL="142875" marR="114300" marT="104775" marB="85725" anchor="ctr">
                    <a:solidFill>
                      <a:srgbClr val="F7F5F0"/>
                    </a:solidFill>
                  </a:tcPr>
                </a:tc>
              </a:tr>
              <a:tr h="673100">
                <a:tc>
                  <a:txBody>
                    <a:bodyPr/>
                    <a:lstStyle/>
                    <a:p>
                      <a:r>
                        <a:rPr sz="1950">
                          <a:solidFill>
                            <a:srgbClr val="112F43"/>
                          </a:solidFill>
                          <a:latin typeface="Aptos"/>
                          <a:ea typeface="Aptos"/>
                          <a:cs typeface="Aptos"/>
                        </a:rPr>
                        <a:t>Task</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Recover a planted secret, find a witness or distinguish?</a:t>
                      </a:r>
                    </a:p>
                  </a:txBody>
                  <a:tcPr marL="142875" marR="114300" marT="104775" marB="85725" anchor="ctr">
                    <a:solidFill>
                      <a:srgbClr val="F7F5F0"/>
                    </a:solidFill>
                  </a:tcPr>
                </a:tc>
              </a:tr>
              <a:tr h="673100">
                <a:tc>
                  <a:txBody>
                    <a:bodyPr/>
                    <a:lstStyle/>
                    <a:p>
                      <a:r>
                        <a:rPr sz="1950">
                          <a:solidFill>
                            <a:srgbClr val="112F43"/>
                          </a:solidFill>
                          <a:latin typeface="Aptos"/>
                          <a:ea typeface="Aptos"/>
                          <a:cs typeface="Aptos"/>
                        </a:rPr>
                        <a:t>Parameters</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Which sizes, locality, sample count and noise rate?</a:t>
                      </a:r>
                    </a:p>
                  </a:txBody>
                  <a:tcPr marL="142875" marR="114300" marT="104775" marB="85725" anchor="ctr">
                    <a:solidFill>
                      <a:srgbClr val="F7F5F0"/>
                    </a:solidFill>
                  </a:tcPr>
                </a:tc>
              </a:tr>
              <a:tr h="673100">
                <a:tc>
                  <a:txBody>
                    <a:bodyPr/>
                    <a:lstStyle/>
                    <a:p>
                      <a:r>
                        <a:rPr sz="1950">
                          <a:solidFill>
                            <a:srgbClr val="112F43"/>
                          </a:solidFill>
                          <a:latin typeface="Aptos"/>
                          <a:ea typeface="Aptos"/>
                          <a:cs typeface="Aptos"/>
                        </a:rPr>
                        <a:t>Adversary</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Which time, memory, sample access and quantum model?</a:t>
                      </a:r>
                    </a:p>
                  </a:txBody>
                  <a:tcPr marL="142875" marR="114300" marT="104775" marB="85725" anchor="ctr">
                    <a:solidFill>
                      <a:srgbClr val="F7F5F0"/>
                    </a:solidFill>
                  </a:tcPr>
                </a:tc>
              </a:tr>
              <a:tr h="673100">
                <a:tc>
                  <a:txBody>
                    <a:bodyPr/>
                    <a:lstStyle/>
                    <a:p>
                      <a:r>
                        <a:rPr sz="1950">
                          <a:solidFill>
                            <a:srgbClr val="112F43"/>
                          </a:solidFill>
                          <a:latin typeface="Aptos"/>
                          <a:ea typeface="Aptos"/>
                          <a:cs typeface="Aptos"/>
                        </a:rPr>
                        <a:t>Success bound</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What probability or advantage do we rule out?</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5B598244-D9AB-4F55-BDE7-CB39229B755B}"/>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The problem together with its distribution and success criterion forms the foundation.</a:t>
            </a:r>
          </a:p>
        </p:txBody>
      </p:sp>
    </p:spTree>
    <p:extLst>
      <p:ext uri="{BB962C8B-B14F-4D97-AF65-F5344CB8AC3E}">
        <p14:creationId xmlns:p14="http://schemas.microsoft.com/office/powerpoint/2010/main" val="1364819964"/>
      </p:ext>
    </p:extLst>
  </p:cSld>
</p:sld>
</file>

<file path=ppt/slides/slide1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0DF556-0854-472F-9948-FDB07F134CA4}"/>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Appendix: weak and strong hardness</a:t>
            </a:r>
          </a:p>
        </p:txBody>
      </p:sp>
      <p:sp>
        <p:nvSpPr>
          <p:cNvPr id="2" name="">
            <a:extLst xmlns:a="http://schemas.openxmlformats.org/drawingml/2006/main">
              <a:ext uri="{FF2B5EF4-FFF2-40B4-BE49-F238E27FC236}">
                <a16:creationId xmlns:a16="http://schemas.microsoft.com/office/drawing/2014/main" id="{DAEFC898-EBE7-4B15-81A6-5EAF76664CE7}"/>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F5B2CCCA-CFB1-4FD2-8351-A092D91E0F8C}"/>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17</a:t>
            </a:r>
          </a:p>
        </p:txBody>
      </p:sp>
      <p:graphicFrame>
        <p:nvGraphicFramePr>
          <p:cNvPr id="9" name=""/>
          <p:cNvGraphicFramePr/>
          <p:nvPr/>
        </p:nvGraphicFramePr>
        <p:xfrm>
          <a:off xmlns:a="http://schemas.openxmlformats.org/drawingml/2006/main" x="609600" y="1657350"/>
          <a:ext xmlns:a="http://schemas.openxmlformats.org/drawingml/2006/main" cx="10972800" cy="3276600"/>
        </p:xfrm>
        <a:graphic xmlns:a="http://schemas.openxmlformats.org/drawingml/2006/main">
          <a:graphicData uri="http://schemas.openxmlformats.org/drawingml/2006/table">
            <a:tbl>
              <a:tblPr/>
              <a:tblGrid>
                <a:gridCol w="2781300"/>
                <a:gridCol w="3981450"/>
                <a:gridCol w="4210050"/>
              </a:tblGrid>
              <a:tr h="819150">
                <a:tc>
                  <a:txBody>
                    <a:bodyPr/>
                    <a:lstStyle/>
                    <a:p>
                      <a:r>
                        <a:rPr sz="1875" b="1">
                          <a:solidFill>
                            <a:srgbClr val="FFFFFF"/>
                          </a:solidFill>
                          <a:latin typeface="Aptos"/>
                          <a:ea typeface="Aptos"/>
                          <a:cs typeface="Aptos"/>
                        </a:rPr>
                        <a:t>Strength</a:t>
                      </a:r>
                    </a:p>
                  </a:txBody>
                  <a:tcPr marL="142875" marR="114300" marT="104775" marB="85725" anchor="ctr">
                    <a:solidFill>
                      <a:srgbClr val="112F43"/>
                    </a:solidFill>
                  </a:tcPr>
                </a:tc>
                <a:tc>
                  <a:txBody>
                    <a:bodyPr/>
                    <a:lstStyle/>
                    <a:p>
                      <a:r>
                        <a:rPr sz="1875" b="1">
                          <a:solidFill>
                            <a:srgbClr val="FFFFFF"/>
                          </a:solidFill>
                          <a:latin typeface="Aptos"/>
                          <a:ea typeface="Aptos"/>
                          <a:cs typeface="Aptos"/>
                        </a:rPr>
                        <a:t>Example of a success condition</a:t>
                      </a:r>
                    </a:p>
                  </a:txBody>
                  <a:tcPr marL="142875" marR="114300" marT="104775" marB="85725" anchor="ctr">
                    <a:solidFill>
                      <a:srgbClr val="112F43"/>
                    </a:solidFill>
                  </a:tcPr>
                </a:tc>
                <a:tc>
                  <a:txBody>
                    <a:bodyPr/>
                    <a:lstStyle/>
                    <a:p>
                      <a:r>
                        <a:rPr sz="1875" b="1">
                          <a:solidFill>
                            <a:srgbClr val="FFFFFF"/>
                          </a:solidFill>
                          <a:latin typeface="Aptos"/>
                          <a:ea typeface="Aptos"/>
                          <a:cs typeface="Aptos"/>
                        </a:rPr>
                        <a:t>Interpretation</a:t>
                      </a:r>
                    </a:p>
                  </a:txBody>
                  <a:tcPr marL="142875" marR="114300" marT="104775" marB="85725" anchor="ctr">
                    <a:solidFill>
                      <a:srgbClr val="112F43"/>
                    </a:solidFill>
                  </a:tcPr>
                </a:tc>
              </a:tr>
              <a:tr h="819150">
                <a:tc>
                  <a:txBody>
                    <a:bodyPr/>
                    <a:lstStyle/>
                    <a:p>
                      <a:r>
                        <a:rPr sz="1875">
                          <a:solidFill>
                            <a:srgbClr val="112F43"/>
                          </a:solidFill>
                          <a:latin typeface="Aptos"/>
                          <a:ea typeface="Aptos"/>
                          <a:cs typeface="Aptos"/>
                        </a:rPr>
                        <a:t>Weak search hardness</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s_A(n) ≤ 1 − δ(n)</a:t>
                      </a:r>
                    </a:p>
                    <a:p>
                      <a:r>
                        <a:rPr sz="1875">
                          <a:solidFill>
                            <a:srgbClr val="112F43"/>
                          </a:solidFill>
                          <a:latin typeface="Aptos"/>
                          <a:ea typeface="Aptos"/>
                          <a:cs typeface="Aptos"/>
                        </a:rPr>
                        <a:t>δ(n) is noticeable</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Every efficient A fails with a noticeable probability</a:t>
                      </a:r>
                    </a:p>
                  </a:txBody>
                  <a:tcPr marL="142875" marR="114300" marT="104775" marB="85725" anchor="ctr">
                    <a:solidFill>
                      <a:srgbClr val="F7F5F0"/>
                    </a:solidFill>
                  </a:tcPr>
                </a:tc>
              </a:tr>
              <a:tr h="819150">
                <a:tc>
                  <a:txBody>
                    <a:bodyPr/>
                    <a:lstStyle/>
                    <a:p>
                      <a:r>
                        <a:rPr sz="1875">
                          <a:solidFill>
                            <a:srgbClr val="112F43"/>
                          </a:solidFill>
                          <a:latin typeface="Aptos"/>
                          <a:ea typeface="Aptos"/>
                          <a:cs typeface="Aptos"/>
                        </a:rPr>
                        <a:t>Strong inversion hardness</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s_A(n) is negligible</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Every efficient A succeeds only rarely</a:t>
                      </a:r>
                    </a:p>
                  </a:txBody>
                  <a:tcPr marL="142875" marR="114300" marT="104775" marB="85725" anchor="ctr">
                    <a:solidFill>
                      <a:srgbClr val="F7F5F0"/>
                    </a:solidFill>
                  </a:tcPr>
                </a:tc>
              </a:tr>
              <a:tr h="819150">
                <a:tc>
                  <a:txBody>
                    <a:bodyPr/>
                    <a:lstStyle/>
                    <a:p>
                      <a:r>
                        <a:rPr sz="1875">
                          <a:solidFill>
                            <a:srgbClr val="112F43"/>
                          </a:solidFill>
                          <a:latin typeface="Aptos"/>
                          <a:ea typeface="Aptos"/>
                          <a:cs typeface="Aptos"/>
                        </a:rPr>
                        <a:t>ABW Search3LIN</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s_A(n) &lt; 2/3 eventually</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A constant-threshold premise for its construction</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FC981E18-2CC5-4100-B567-FFDFE5AB7214}"/>
              </a:ext>
            </a:extLst>
          </p:cNvPr>
          <p:cNvSpPr>
            <a:spLocks xmlns:a="http://schemas.openxmlformats.org/drawingml/2006/main" noGrp="1"/>
          </p:cNvSpPr>
          <p:nvPr/>
        </p:nvSpPr>
        <p:spPr>
          <a:xfrm xmlns:a="http://schemas.openxmlformats.org/drawingml/2006/main">
            <a:off x="609600" y="5391150"/>
            <a:ext cx="108489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Negligible ν(n): eventually ν(n) &lt; 1/p(n)</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for every positive polynomial p.</a:t>
            </a:r>
          </a:p>
        </p:txBody>
      </p:sp>
    </p:spTree>
    <p:extLst>
      <p:ext uri="{BB962C8B-B14F-4D97-AF65-F5344CB8AC3E}">
        <p14:creationId xmlns:p14="http://schemas.microsoft.com/office/powerpoint/2010/main" val="1352895524"/>
      </p:ext>
    </p:extLst>
  </p:cSld>
</p:sld>
</file>

<file path=ppt/slides/slide1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4F0380-83C1-4966-98FA-20F6E4EAB1F8}"/>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Appendix: a balanced distinguishing game</a:t>
            </a:r>
          </a:p>
        </p:txBody>
      </p:sp>
      <p:sp>
        <p:nvSpPr>
          <p:cNvPr id="2" name="">
            <a:extLst xmlns:a="http://schemas.openxmlformats.org/drawingml/2006/main">
              <a:ext uri="{FF2B5EF4-FFF2-40B4-BE49-F238E27FC236}">
                <a16:creationId xmlns:a16="http://schemas.microsoft.com/office/drawing/2014/main" id="{BC0B8733-F3A3-4DDD-AD88-1AAFBF90C337}"/>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48D58375-0E1A-4EE0-A394-334076E952BE}"/>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18</a:t>
            </a:r>
          </a:p>
        </p:txBody>
      </p:sp>
      <p:sp>
        <p:nvSpPr>
          <p:cNvPr id="4" name="">
            <a:extLst xmlns:a="http://schemas.openxmlformats.org/drawingml/2006/main">
              <a:ext uri="{FF2B5EF4-FFF2-40B4-BE49-F238E27FC236}">
                <a16:creationId xmlns:a16="http://schemas.microsoft.com/office/drawing/2014/main" id="{89EB596F-39E4-433C-83EF-D1A392BA3EA5}"/>
              </a:ext>
            </a:extLst>
          </p:cNvPr>
          <p:cNvSpPr>
            <a:spLocks xmlns:a="http://schemas.openxmlformats.org/drawingml/2006/main" noGrp="1"/>
          </p:cNvSpPr>
          <p:nvPr/>
        </p:nvSpPr>
        <p:spPr>
          <a:xfrm xmlns:a="http://schemas.openxmlformats.org/drawingml/2006/main">
            <a:off x="609600" y="1638300"/>
            <a:ext cx="108489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87F82"/>
                </a:solidFill>
                <a:latin typeface="Aptos"/>
                <a:ea typeface="Aptos"/>
                <a:cs typeface="Aptos"/>
              </a:defRPr>
            </a:pPr>
            <a:r>
              <a:rPr sz="3000" b="1">
                <a:solidFill>
                  <a:srgbClr val="087F82"/>
                </a:solidFill>
                <a:latin typeface="Aptos"/>
                <a:ea typeface="Aptos"/>
                <a:cs typeface="Aptos"/>
              </a:rPr>
              <a:t>P: (M, Mx + e)     Q: (M, u)</a:t>
            </a:r>
          </a:p>
        </p:txBody>
      </p:sp>
      <p:sp>
        <p:nvSpPr>
          <p:cNvPr id="5" name="">
            <a:extLst xmlns:a="http://schemas.openxmlformats.org/drawingml/2006/main">
              <a:ext uri="{FF2B5EF4-FFF2-40B4-BE49-F238E27FC236}">
                <a16:creationId xmlns:a16="http://schemas.microsoft.com/office/drawing/2014/main" id="{99A8100F-ECBF-4464-BBA6-0F84ED247F80}"/>
              </a:ext>
            </a:extLst>
          </p:cNvPr>
          <p:cNvSpPr>
            <a:spLocks xmlns:a="http://schemas.openxmlformats.org/drawingml/2006/main" noGrp="1"/>
          </p:cNvSpPr>
          <p:nvPr/>
        </p:nvSpPr>
        <p:spPr>
          <a:xfrm xmlns:a="http://schemas.openxmlformats.org/drawingml/2006/main">
            <a:off x="609600" y="2781300"/>
            <a:ext cx="10848975"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12F43"/>
                </a:solidFill>
                <a:latin typeface="Aptos"/>
                <a:ea typeface="Aptos"/>
                <a:cs typeface="Aptos"/>
              </a:defRPr>
            </a:pPr>
            <a:r>
              <a:rPr sz="2325" b="0">
                <a:solidFill>
                  <a:srgbClr val="112F43"/>
                </a:solidFill>
                <a:latin typeface="Aptos"/>
                <a:ea typeface="Aptos"/>
                <a:cs typeface="Aptos"/>
              </a:rPr>
              <a:t>Choose a hidden fair bit B.</a:t>
            </a:r>
          </a:p>
          <a:p xmlns:a="http://schemas.openxmlformats.org/drawingml/2006/main">
            <a:pPr algn="l">
              <a:defRPr sz="2325" b="0">
                <a:solidFill>
                  <a:srgbClr val="112F43"/>
                </a:solidFill>
                <a:latin typeface="Aptos"/>
                <a:ea typeface="Aptos"/>
                <a:cs typeface="Aptos"/>
              </a:defRPr>
            </a:pPr>
            <a:r>
              <a:rPr sz="2325" b="0">
                <a:solidFill>
                  <a:srgbClr val="112F43"/>
                </a:solidFill>
                <a:latin typeface="Aptos"/>
                <a:ea typeface="Aptos"/>
                <a:cs typeface="Aptos"/>
              </a:rPr>
              <a:t>Sample from P or Q according to B.</a:t>
            </a:r>
          </a:p>
          <a:p xmlns:a="http://schemas.openxmlformats.org/drawingml/2006/main">
            <a:pPr algn="l">
              <a:defRPr sz="2325" b="0">
                <a:solidFill>
                  <a:srgbClr val="112F43"/>
                </a:solidFill>
                <a:latin typeface="Aptos"/>
                <a:ea typeface="Aptos"/>
                <a:cs typeface="Aptos"/>
              </a:defRPr>
            </a:pPr>
            <a:r>
              <a:rPr sz="2325" b="0">
                <a:solidFill>
                  <a:srgbClr val="112F43"/>
                </a:solidFill>
                <a:latin typeface="Aptos"/>
                <a:ea typeface="Aptos"/>
                <a:cs typeface="Aptos"/>
              </a:rPr>
              <a:t>Ask the attacker to guess B.</a:t>
            </a:r>
          </a:p>
        </p:txBody>
      </p:sp>
      <p:sp>
        <p:nvSpPr>
          <p:cNvPr id="6" name="">
            <a:extLst xmlns:a="http://schemas.openxmlformats.org/drawingml/2006/main">
              <a:ext uri="{FF2B5EF4-FFF2-40B4-BE49-F238E27FC236}">
                <a16:creationId xmlns:a16="http://schemas.microsoft.com/office/drawing/2014/main" id="{31929AD3-A3F5-423F-9B99-3F60C2885F84}"/>
              </a:ext>
            </a:extLst>
          </p:cNvPr>
          <p:cNvSpPr>
            <a:spLocks xmlns:a="http://schemas.openxmlformats.org/drawingml/2006/main" noGrp="1"/>
          </p:cNvSpPr>
          <p:nvPr/>
        </p:nvSpPr>
        <p:spPr>
          <a:xfrm xmlns:a="http://schemas.openxmlformats.org/drawingml/2006/main">
            <a:off x="609600" y="5029200"/>
            <a:ext cx="108489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87F82"/>
                </a:solidFill>
                <a:latin typeface="Aptos"/>
                <a:ea typeface="Aptos"/>
                <a:cs typeface="Aptos"/>
              </a:defRPr>
            </a:pPr>
            <a:r>
              <a:rPr sz="2700" b="1">
                <a:solidFill>
                  <a:srgbClr val="087F82"/>
                </a:solidFill>
                <a:latin typeface="Aptos"/>
                <a:ea typeface="Aptos"/>
                <a:cs typeface="Aptos"/>
              </a:rPr>
              <a:t>Guessing advantage = |Pr[correct] − 1/2|</a:t>
            </a:r>
          </a:p>
        </p:txBody>
      </p:sp>
      <p:sp>
        <p:nvSpPr>
          <p:cNvPr id="7" name="">
            <a:extLst xmlns:a="http://schemas.openxmlformats.org/drawingml/2006/main">
              <a:ext uri="{FF2B5EF4-FFF2-40B4-BE49-F238E27FC236}">
                <a16:creationId xmlns:a16="http://schemas.microsoft.com/office/drawing/2014/main" id="{5194A059-CDCD-46F7-8558-15A5E5C04BC4}"/>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Here u is a uniform m-bit vector. Advantage conventions can differ by a factor of two.</a:t>
            </a:r>
          </a:p>
        </p:txBody>
      </p:sp>
    </p:spTree>
    <p:extLst>
      <p:ext uri="{BB962C8B-B14F-4D97-AF65-F5344CB8AC3E}">
        <p14:creationId xmlns:p14="http://schemas.microsoft.com/office/powerpoint/2010/main" val="1776306639"/>
      </p:ext>
    </p:extLst>
  </p:cSld>
</p:sld>
</file>

<file path=ppt/slides/slide1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13BB08-56BF-4712-B9F7-F494FED8D016}"/>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Appendix: the worked example in matrix form</a:t>
            </a:r>
          </a:p>
        </p:txBody>
      </p:sp>
      <p:sp>
        <p:nvSpPr>
          <p:cNvPr id="2" name="">
            <a:extLst xmlns:a="http://schemas.openxmlformats.org/drawingml/2006/main">
              <a:ext uri="{FF2B5EF4-FFF2-40B4-BE49-F238E27FC236}">
                <a16:creationId xmlns:a16="http://schemas.microsoft.com/office/drawing/2014/main" id="{72D3D535-34E9-416E-AC6F-E7A0C68D2B9B}"/>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23963A1B-6BB1-49EF-86DC-5366166B278F}"/>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19</a:t>
            </a:r>
          </a:p>
        </p:txBody>
      </p:sp>
      <p:sp>
        <p:nvSpPr>
          <p:cNvPr id="4" name="">
            <a:extLst xmlns:a="http://schemas.openxmlformats.org/drawingml/2006/main">
              <a:ext uri="{FF2B5EF4-FFF2-40B4-BE49-F238E27FC236}">
                <a16:creationId xmlns:a16="http://schemas.microsoft.com/office/drawing/2014/main" id="{05ECC018-BA22-4413-BD52-654A0EB64250}"/>
              </a:ext>
            </a:extLst>
          </p:cNvPr>
          <p:cNvSpPr>
            <a:spLocks xmlns:a="http://schemas.openxmlformats.org/drawingml/2006/main" noGrp="1"/>
          </p:cNvSpPr>
          <p:nvPr/>
        </p:nvSpPr>
        <p:spPr>
          <a:xfrm xmlns:a="http://schemas.openxmlformats.org/drawingml/2006/main">
            <a:off x="609600" y="1628775"/>
            <a:ext cx="4914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M</a:t>
            </a:r>
          </a:p>
        </p:txBody>
      </p:sp>
      <p:graphicFrame>
        <p:nvGraphicFramePr>
          <p:cNvPr id="13" name=""/>
          <p:cNvGraphicFramePr/>
          <p:nvPr/>
        </p:nvGraphicFramePr>
        <p:xfrm>
          <a:off xmlns:a="http://schemas.openxmlformats.org/drawingml/2006/main" x="609600" y="2333625"/>
          <a:ext xmlns:a="http://schemas.openxmlformats.org/drawingml/2006/main" cx="4924425" cy="2571750"/>
        </p:xfrm>
        <a:graphic xmlns:a="http://schemas.openxmlformats.org/drawingml/2006/main">
          <a:graphicData uri="http://schemas.openxmlformats.org/drawingml/2006/table">
            <a:tbl>
              <a:tblPr/>
              <a:tblGrid>
                <a:gridCol w="1228725"/>
                <a:gridCol w="1228725"/>
                <a:gridCol w="1228725"/>
                <a:gridCol w="1238250"/>
              </a:tblGrid>
              <a:tr h="642938">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r>
              <a:tr h="642938">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r>
              <a:tr h="642938">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r>
              <a:tr h="642938">
                <a:tc>
                  <a:txBody>
                    <a:bodyPr/>
                    <a:lstStyle/>
                    <a:p>
                      <a:pPr algn="ctr"/>
                      <a:r>
                        <a:rPr sz="2625" b="0">
                          <a:solidFill>
                            <a:srgbClr val="556A74"/>
                          </a:solidFill>
                          <a:latin typeface="Aptos"/>
                          <a:ea typeface="Aptos"/>
                          <a:cs typeface="Aptos"/>
                        </a:rPr>
                        <a:t>0</a:t>
                      </a:r>
                    </a:p>
                  </a:txBody>
                  <a:tcPr marL="142875" marR="114300" marT="104775" marB="85725" anchor="ctr">
                    <a:solidFill>
                      <a:srgbClr val="F7F5F0"/>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c>
                  <a:txBody>
                    <a:bodyPr/>
                    <a:lstStyle/>
                    <a:p>
                      <a:pPr algn="ctr"/>
                      <a:r>
                        <a:rPr sz="2625" b="1">
                          <a:solidFill>
                            <a:srgbClr val="087F82"/>
                          </a:solidFill>
                          <a:latin typeface="Aptos"/>
                          <a:ea typeface="Aptos"/>
                          <a:cs typeface="Aptos"/>
                        </a:rPr>
                        <a:t>1</a:t>
                      </a:r>
                    </a:p>
                  </a:txBody>
                  <a:tcPr marL="142875" marR="114300" marT="104775" marB="85725" anchor="ctr">
                    <a:solidFill>
                      <a:srgbClr val="E2EFEC"/>
                    </a:solidFill>
                  </a:tcPr>
                </a:tc>
              </a:tr>
            </a:tbl>
          </a:graphicData>
        </a:graphic>
      </p:graphicFrame>
      <p:sp>
        <p:nvSpPr>
          <p:cNvPr id="6" name="">
            <a:extLst xmlns:a="http://schemas.openxmlformats.org/drawingml/2006/main">
              <a:ext uri="{FF2B5EF4-FFF2-40B4-BE49-F238E27FC236}">
                <a16:creationId xmlns:a16="http://schemas.microsoft.com/office/drawing/2014/main" id="{A470C7B7-4BAF-4091-BB14-0BA8AD8AEEC1}"/>
              </a:ext>
            </a:extLst>
          </p:cNvPr>
          <p:cNvSpPr>
            <a:spLocks xmlns:a="http://schemas.openxmlformats.org/drawingml/2006/main" noGrp="1"/>
          </p:cNvSpPr>
          <p:nvPr/>
        </p:nvSpPr>
        <p:spPr>
          <a:xfrm xmlns:a="http://schemas.openxmlformats.org/drawingml/2006/main">
            <a:off x="6562725" y="1857375"/>
            <a:ext cx="496252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12F43"/>
                </a:solidFill>
                <a:latin typeface="Aptos"/>
                <a:ea typeface="Aptos"/>
                <a:cs typeface="Aptos"/>
              </a:defRPr>
            </a:pPr>
            <a:r>
              <a:rPr sz="2325" b="0">
                <a:solidFill>
                  <a:srgbClr val="112F43"/>
                </a:solidFill>
                <a:latin typeface="Aptos"/>
                <a:ea typeface="Aptos"/>
                <a:cs typeface="Aptos"/>
              </a:rPr>
              <a:t>Mx = (0, 0, 1, 0)ᵀ</a:t>
            </a:r>
          </a:p>
          <a:p xmlns:a="http://schemas.openxmlformats.org/drawingml/2006/main">
            <a:pPr algn="l">
              <a:defRPr sz="2325" b="0">
                <a:solidFill>
                  <a:srgbClr val="112F43"/>
                </a:solidFill>
                <a:latin typeface="Aptos"/>
                <a:ea typeface="Aptos"/>
                <a:cs typeface="Aptos"/>
              </a:defRPr>
            </a:pPr>
            <a:r>
              <a:rPr sz="2325" b="0">
                <a:solidFill>
                  <a:srgbClr val="112F43"/>
                </a:solidFill>
                <a:latin typeface="Aptos"/>
                <a:ea typeface="Aptos"/>
                <a:cs typeface="Aptos"/>
              </a:rPr>
              <a:t>e = (0, 1, 0, 0)ᵀ</a:t>
            </a:r>
          </a:p>
          <a:p xmlns:a="http://schemas.openxmlformats.org/drawingml/2006/main">
            <a:pPr algn="l">
              <a:defRPr sz="2325" b="0">
                <a:solidFill>
                  <a:srgbClr val="112F43"/>
                </a:solidFill>
                <a:latin typeface="Aptos"/>
                <a:ea typeface="Aptos"/>
                <a:cs typeface="Aptos"/>
              </a:defRPr>
            </a:pPr>
            <a:r>
              <a:rPr sz="2325" b="0">
                <a:solidFill>
                  <a:srgbClr val="112F43"/>
                </a:solidFill>
                <a:latin typeface="Aptos"/>
                <a:ea typeface="Aptos"/>
                <a:cs typeface="Aptos"/>
              </a:rPr>
              <a:t>b = (0, 1, 1, 0)ᵀ</a:t>
            </a:r>
          </a:p>
        </p:txBody>
      </p:sp>
      <p:sp>
        <p:nvSpPr>
          <p:cNvPr id="7" name="">
            <a:extLst xmlns:a="http://schemas.openxmlformats.org/drawingml/2006/main">
              <a:ext uri="{FF2B5EF4-FFF2-40B4-BE49-F238E27FC236}">
                <a16:creationId xmlns:a16="http://schemas.microsoft.com/office/drawing/2014/main" id="{46530760-B998-4B93-8AB7-42260D99175C}"/>
              </a:ext>
            </a:extLst>
          </p:cNvPr>
          <p:cNvSpPr>
            <a:spLocks xmlns:a="http://schemas.openxmlformats.org/drawingml/2006/main" noGrp="1"/>
          </p:cNvSpPr>
          <p:nvPr/>
        </p:nvSpPr>
        <p:spPr>
          <a:xfrm xmlns:a="http://schemas.openxmlformats.org/drawingml/2006/main">
            <a:off x="6562725" y="4429125"/>
            <a:ext cx="49625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087F82"/>
                </a:solidFill>
                <a:latin typeface="Aptos"/>
                <a:ea typeface="Aptos"/>
                <a:cs typeface="Aptos"/>
              </a:defRPr>
            </a:pPr>
            <a:r>
              <a:rPr sz="2700" b="1">
                <a:solidFill>
                  <a:srgbClr val="087F82"/>
                </a:solidFill>
                <a:latin typeface="Aptos"/>
                <a:ea typeface="Aptos"/>
                <a:cs typeface="Aptos"/>
              </a:rPr>
              <a:t>Mz = b</a:t>
            </a:r>
          </a:p>
          <a:p xmlns:a="http://schemas.openxmlformats.org/drawingml/2006/main">
            <a:pPr algn="l">
              <a:defRPr sz="2700" b="1">
                <a:solidFill>
                  <a:srgbClr val="087F82"/>
                </a:solidFill>
                <a:latin typeface="Aptos"/>
                <a:ea typeface="Aptos"/>
                <a:cs typeface="Aptos"/>
              </a:defRPr>
            </a:pPr>
            <a:r>
              <a:rPr sz="2700" b="1">
                <a:solidFill>
                  <a:srgbClr val="087F82"/>
                </a:solidFill>
                <a:latin typeface="Aptos"/>
                <a:ea typeface="Aptos"/>
                <a:cs typeface="Aptos"/>
              </a:rPr>
              <a:t>z = (0, 1, 1, 0)ᵀ</a:t>
            </a:r>
          </a:p>
        </p:txBody>
      </p:sp>
      <p:sp>
        <p:nvSpPr>
          <p:cNvPr id="8" name="">
            <a:extLst xmlns:a="http://schemas.openxmlformats.org/drawingml/2006/main">
              <a:ext uri="{FF2B5EF4-FFF2-40B4-BE49-F238E27FC236}">
                <a16:creationId xmlns:a16="http://schemas.microsoft.com/office/drawing/2014/main" id="{2D9C0EE1-F60C-4892-93C8-286A49F156F4}"/>
              </a:ext>
            </a:extLst>
          </p:cNvPr>
          <p:cNvSpPr>
            <a:spLocks xmlns:a="http://schemas.openxmlformats.org/drawingml/2006/main" noGrp="1"/>
          </p:cNvSpPr>
          <p:nvPr/>
        </p:nvSpPr>
        <p:spPr>
          <a:xfrm xmlns:a="http://schemas.openxmlformats.org/drawingml/2006/main">
            <a:off x="609600" y="59626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Every row has weight 3. These four equations do not constitute a secure parameter regime.</a:t>
            </a:r>
          </a:p>
        </p:txBody>
      </p:sp>
    </p:spTree>
    <p:extLst>
      <p:ext uri="{BB962C8B-B14F-4D97-AF65-F5344CB8AC3E}">
        <p14:creationId xmlns:p14="http://schemas.microsoft.com/office/powerpoint/2010/main" val="511865167"/>
      </p:ext>
    </p:extLst>
  </p:cSld>
</p:sld>
</file>

<file path=ppt/slides/slide2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F0EA6A2-6565-4F34-8781-6B540A835139}"/>
              </a:ext>
            </a:extLst>
          </p:cNvPr>
          <p:cNvSpPr>
            <a:spLocks xmlns:a="http://schemas.openxmlformats.org/drawingml/2006/main" noGrp="1"/>
          </p:cNvSpPr>
          <p:nvPr/>
        </p:nvSpPr>
        <p:spPr>
          <a:xfrm xmlns:a="http://schemas.openxmlformats.org/drawingml/2006/main">
            <a:off x="609600" y="428625"/>
            <a:ext cx="10934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12F43"/>
                </a:solidFill>
                <a:latin typeface="Aptos"/>
                <a:ea typeface="Aptos"/>
                <a:cs typeface="Aptos"/>
              </a:defRPr>
            </a:pPr>
            <a:r>
              <a:rPr sz="3450" b="1">
                <a:solidFill>
                  <a:srgbClr val="112F43"/>
                </a:solidFill>
                <a:latin typeface="Aptos"/>
                <a:ea typeface="Aptos"/>
                <a:cs typeface="Aptos"/>
              </a:rPr>
              <a:t>References and further reading</a:t>
            </a:r>
          </a:p>
        </p:txBody>
      </p:sp>
      <p:sp>
        <p:nvSpPr>
          <p:cNvPr id="2" name="">
            <a:extLst xmlns:a="http://schemas.openxmlformats.org/drawingml/2006/main">
              <a:ext uri="{FF2B5EF4-FFF2-40B4-BE49-F238E27FC236}">
                <a16:creationId xmlns:a16="http://schemas.microsoft.com/office/drawing/2014/main" id="{5D502217-6102-4190-9558-C1AF4BDE5994}"/>
              </a:ext>
            </a:extLst>
          </p:cNvPr>
          <p:cNvSpPr>
            <a:spLocks xmlns:a="http://schemas.openxmlformats.org/drawingml/2006/main" noGrp="1"/>
          </p:cNvSpPr>
          <p:nvPr/>
        </p:nvSpPr>
        <p:spPr>
          <a:xfrm xmlns:a="http://schemas.openxmlformats.org/drawingml/2006/main">
            <a:off x="609600" y="641985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61E2A3DA-6285-412D-A3AB-457D3094A51E}"/>
              </a:ext>
            </a:extLst>
          </p:cNvPr>
          <p:cNvSpPr>
            <a:spLocks xmlns:a="http://schemas.openxmlformats.org/drawingml/2006/main" noGrp="1"/>
          </p:cNvSpPr>
          <p:nvPr/>
        </p:nvSpPr>
        <p:spPr>
          <a:xfrm xmlns:a="http://schemas.openxmlformats.org/drawingml/2006/main">
            <a:off x="10915650" y="6353175"/>
            <a:ext cx="628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20</a:t>
            </a:r>
          </a:p>
        </p:txBody>
      </p:sp>
      <p:sp>
        <p:nvSpPr>
          <p:cNvPr id="4" name="">
            <a:extLst xmlns:a="http://schemas.openxmlformats.org/drawingml/2006/main">
              <a:ext uri="{FF2B5EF4-FFF2-40B4-BE49-F238E27FC236}">
                <a16:creationId xmlns:a16="http://schemas.microsoft.com/office/drawing/2014/main" id="{64AF0CDB-0EA0-4483-80AD-454392DC242E}"/>
              </a:ext>
            </a:extLst>
          </p:cNvPr>
          <p:cNvSpPr>
            <a:spLocks xmlns:a="http://schemas.openxmlformats.org/drawingml/2006/main" noGrp="1"/>
          </p:cNvSpPr>
          <p:nvPr/>
        </p:nvSpPr>
        <p:spPr>
          <a:xfrm xmlns:a="http://schemas.openxmlformats.org/drawingml/2006/main">
            <a:off x="609600" y="1609725"/>
            <a:ext cx="10963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Applebaum, Barak &amp; Wigderson (2009 / 2010)</a:t>
            </a:r>
          </a:p>
        </p:txBody>
      </p:sp>
      <p:sp>
        <p:nvSpPr>
          <p:cNvPr id="5" name="">
            <a:extLst xmlns:a="http://schemas.openxmlformats.org/drawingml/2006/main">
              <a:ext uri="{FF2B5EF4-FFF2-40B4-BE49-F238E27FC236}">
                <a16:creationId xmlns:a16="http://schemas.microsoft.com/office/drawing/2014/main" id="{913D68F1-87BD-417B-B166-B99937B4AC34}"/>
              </a:ext>
            </a:extLst>
          </p:cNvPr>
          <p:cNvSpPr>
            <a:spLocks xmlns:a="http://schemas.openxmlformats.org/drawingml/2006/main" noGrp="1"/>
          </p:cNvSpPr>
          <p:nvPr/>
        </p:nvSpPr>
        <p:spPr>
          <a:xfrm xmlns:a="http://schemas.openxmlformats.org/drawingml/2006/main">
            <a:off x="609600" y="2066925"/>
            <a:ext cx="109632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12F43"/>
                </a:solidFill>
                <a:latin typeface="Aptos"/>
                <a:ea typeface="Aptos"/>
                <a:cs typeface="Aptos"/>
              </a:defRPr>
            </a:pPr>
            <a:r>
              <a:rPr sz="1800" b="0">
                <a:solidFill>
                  <a:srgbClr val="112F43"/>
                </a:solidFill>
                <a:latin typeface="Aptos"/>
                <a:ea typeface="Aptos"/>
                <a:cs typeface="Aptos"/>
              </a:rPr>
              <a:t>Public-Key Cryptography from Different Assumptions</a:t>
            </a:r>
          </a:p>
          <a:p xmlns:a="http://schemas.openxmlformats.org/drawingml/2006/main">
            <a:pPr algn="l">
              <a:defRPr sz="1800" b="0">
                <a:solidFill>
                  <a:srgbClr val="112F43"/>
                </a:solidFill>
                <a:latin typeface="Aptos"/>
                <a:ea typeface="Aptos"/>
                <a:cs typeface="Aptos"/>
              </a:defRPr>
            </a:pPr>
            <a:r>
              <a:rPr sz="1800" b="0">
                <a:solidFill>
                  <a:srgbClr val="112F43"/>
                </a:solidFill>
                <a:latin typeface="Aptos"/>
                <a:ea typeface="Aptos"/>
                <a:cs typeface="Aptos"/>
              </a:rPr>
              <a:t>Introduction, Definition 5.1, Assumption 5.2 and Theorems 1–3</a:t>
            </a:r>
          </a:p>
        </p:txBody>
      </p:sp>
      <p:sp>
        <p:nvSpPr>
          <p:cNvPr id="6" name="">
            <a:extLst xmlns:a="http://schemas.openxmlformats.org/drawingml/2006/main">
              <a:ext uri="{FF2B5EF4-FFF2-40B4-BE49-F238E27FC236}">
                <a16:creationId xmlns:a16="http://schemas.microsoft.com/office/drawing/2014/main" id="{C60D314A-9E73-4C1E-88E3-F7E8AAFF37E8}"/>
              </a:ext>
            </a:extLst>
          </p:cNvPr>
          <p:cNvSpPr>
            <a:spLocks xmlns:a="http://schemas.openxmlformats.org/drawingml/2006/main" noGrp="1"/>
          </p:cNvSpPr>
          <p:nvPr/>
        </p:nvSpPr>
        <p:spPr>
          <a:xfrm xmlns:a="http://schemas.openxmlformats.org/drawingml/2006/main">
            <a:off x="609600" y="2714625"/>
            <a:ext cx="10963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Pass &amp; Shelat, A Course in Cryptography</a:t>
            </a:r>
          </a:p>
        </p:txBody>
      </p:sp>
      <p:sp>
        <p:nvSpPr>
          <p:cNvPr id="7" name="">
            <a:extLst xmlns:a="http://schemas.openxmlformats.org/drawingml/2006/main">
              <a:ext uri="{FF2B5EF4-FFF2-40B4-BE49-F238E27FC236}">
                <a16:creationId xmlns:a16="http://schemas.microsoft.com/office/drawing/2014/main" id="{402DC71E-6882-417D-AE8F-88ED510D8E1F}"/>
              </a:ext>
            </a:extLst>
          </p:cNvPr>
          <p:cNvSpPr>
            <a:spLocks xmlns:a="http://schemas.openxmlformats.org/drawingml/2006/main" noGrp="1"/>
          </p:cNvSpPr>
          <p:nvPr/>
        </p:nvSpPr>
        <p:spPr>
          <a:xfrm xmlns:a="http://schemas.openxmlformats.org/drawingml/2006/main">
            <a:off x="609600" y="3171825"/>
            <a:ext cx="109632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12F43"/>
                </a:solidFill>
                <a:latin typeface="Aptos"/>
                <a:ea typeface="Aptos"/>
                <a:cs typeface="Aptos"/>
              </a:defRPr>
            </a:pPr>
            <a:r>
              <a:rPr sz="1800" b="0">
                <a:solidFill>
                  <a:srgbClr val="112F43"/>
                </a:solidFill>
                <a:latin typeface="Aptos"/>
                <a:ea typeface="Aptos"/>
                <a:cs typeface="Aptos"/>
              </a:rPr>
              <a:t>Chapter 2: one-way functions, factoring and hardness amplification</a:t>
            </a:r>
          </a:p>
          <a:p xmlns:a="http://schemas.openxmlformats.org/drawingml/2006/main">
            <a:pPr algn="l">
              <a:defRPr sz="1800" b="0">
                <a:solidFill>
                  <a:srgbClr val="112F43"/>
                </a:solidFill>
                <a:latin typeface="Aptos"/>
                <a:ea typeface="Aptos"/>
                <a:cs typeface="Aptos"/>
              </a:defRPr>
            </a:pPr>
            <a:r>
              <a:rPr sz="1800" b="0">
                <a:solidFill>
                  <a:srgbClr val="112F43"/>
                </a:solidFill>
                <a:latin typeface="Aptos"/>
                <a:ea typeface="Aptos"/>
                <a:cs typeface="Aptos"/>
              </a:rPr>
              <a:t>Chapter 3: computational indistinguishability</a:t>
            </a:r>
          </a:p>
        </p:txBody>
      </p:sp>
      <p:sp>
        <p:nvSpPr>
          <p:cNvPr id="8" name="">
            <a:extLst xmlns:a="http://schemas.openxmlformats.org/drawingml/2006/main">
              <a:ext uri="{FF2B5EF4-FFF2-40B4-BE49-F238E27FC236}">
                <a16:creationId xmlns:a16="http://schemas.microsoft.com/office/drawing/2014/main" id="{9BE9FE09-69CD-4BE6-945A-8037C7235A31}"/>
              </a:ext>
            </a:extLst>
          </p:cNvPr>
          <p:cNvSpPr>
            <a:spLocks xmlns:a="http://schemas.openxmlformats.org/drawingml/2006/main" noGrp="1"/>
          </p:cNvSpPr>
          <p:nvPr/>
        </p:nvSpPr>
        <p:spPr>
          <a:xfrm xmlns:a="http://schemas.openxmlformats.org/drawingml/2006/main">
            <a:off x="609600" y="3819525"/>
            <a:ext cx="10963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Arora &amp; Barak, Computational Complexity</a:t>
            </a:r>
          </a:p>
        </p:txBody>
      </p:sp>
      <p:sp>
        <p:nvSpPr>
          <p:cNvPr id="9" name="">
            <a:extLst xmlns:a="http://schemas.openxmlformats.org/drawingml/2006/main">
              <a:ext uri="{FF2B5EF4-FFF2-40B4-BE49-F238E27FC236}">
                <a16:creationId xmlns:a16="http://schemas.microsoft.com/office/drawing/2014/main" id="{51D91CC6-B530-42D3-9C84-2A2326F5748A}"/>
              </a:ext>
            </a:extLst>
          </p:cNvPr>
          <p:cNvSpPr>
            <a:spLocks xmlns:a="http://schemas.openxmlformats.org/drawingml/2006/main" noGrp="1"/>
          </p:cNvSpPr>
          <p:nvPr/>
        </p:nvSpPr>
        <p:spPr>
          <a:xfrm xmlns:a="http://schemas.openxmlformats.org/drawingml/2006/main">
            <a:off x="609600" y="4276725"/>
            <a:ext cx="109632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12F43"/>
                </a:solidFill>
                <a:latin typeface="Aptos"/>
                <a:ea typeface="Aptos"/>
                <a:cs typeface="Aptos"/>
              </a:defRPr>
            </a:pPr>
            <a:r>
              <a:rPr sz="1800" b="0">
                <a:solidFill>
                  <a:srgbClr val="112F43"/>
                </a:solidFill>
                <a:latin typeface="Aptos"/>
                <a:ea typeface="Aptos"/>
                <a:cs typeface="Aptos"/>
              </a:rPr>
              <a:t>Chapter 10: hard-on-average problems and one-way functions</a:t>
            </a:r>
          </a:p>
        </p:txBody>
      </p:sp>
      <p:sp>
        <p:nvSpPr>
          <p:cNvPr id="10" name="">
            <a:extLst xmlns:a="http://schemas.openxmlformats.org/drawingml/2006/main">
              <a:ext uri="{FF2B5EF4-FFF2-40B4-BE49-F238E27FC236}">
                <a16:creationId xmlns:a16="http://schemas.microsoft.com/office/drawing/2014/main" id="{642C6358-6578-41FD-B1B9-48B3B4CE1EE0}"/>
              </a:ext>
            </a:extLst>
          </p:cNvPr>
          <p:cNvSpPr>
            <a:spLocks xmlns:a="http://schemas.openxmlformats.org/drawingml/2006/main" noGrp="1"/>
          </p:cNvSpPr>
          <p:nvPr/>
        </p:nvSpPr>
        <p:spPr>
          <a:xfrm xmlns:a="http://schemas.openxmlformats.org/drawingml/2006/main">
            <a:off x="609600" y="4924425"/>
            <a:ext cx="10963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F82"/>
                </a:solidFill>
                <a:latin typeface="Aptos"/>
                <a:ea typeface="Aptos"/>
                <a:cs typeface="Aptos"/>
              </a:defRPr>
            </a:pPr>
            <a:r>
              <a:rPr sz="2100" b="1">
                <a:solidFill>
                  <a:srgbClr val="087F82"/>
                </a:solidFill>
                <a:latin typeface="Aptos"/>
                <a:ea typeface="Aptos"/>
                <a:cs typeface="Aptos"/>
              </a:rPr>
              <a:t>Holenstein &amp; Renner (2005)</a:t>
            </a:r>
          </a:p>
        </p:txBody>
      </p:sp>
      <p:sp>
        <p:nvSpPr>
          <p:cNvPr id="11" name="">
            <a:extLst xmlns:a="http://schemas.openxmlformats.org/drawingml/2006/main">
              <a:ext uri="{FF2B5EF4-FFF2-40B4-BE49-F238E27FC236}">
                <a16:creationId xmlns:a16="http://schemas.microsoft.com/office/drawing/2014/main" id="{B1C9740F-C5EA-44E5-AA59-4AA823E2F814}"/>
              </a:ext>
            </a:extLst>
          </p:cNvPr>
          <p:cNvSpPr>
            <a:spLocks xmlns:a="http://schemas.openxmlformats.org/drawingml/2006/main" noGrp="1"/>
          </p:cNvSpPr>
          <p:nvPr/>
        </p:nvSpPr>
        <p:spPr>
          <a:xfrm xmlns:a="http://schemas.openxmlformats.org/drawingml/2006/main">
            <a:off x="609600" y="5381625"/>
            <a:ext cx="109632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12F43"/>
                </a:solidFill>
                <a:latin typeface="Aptos"/>
                <a:ea typeface="Aptos"/>
                <a:cs typeface="Aptos"/>
              </a:defRPr>
            </a:pPr>
            <a:r>
              <a:rPr sz="1800" b="0">
                <a:solidFill>
                  <a:srgbClr val="112F43"/>
                </a:solidFill>
                <a:latin typeface="Aptos"/>
                <a:ea typeface="Aptos"/>
                <a:cs typeface="Aptos"/>
              </a:rPr>
              <a:t>Weak public-key encryption and security amplification</a:t>
            </a:r>
          </a:p>
        </p:txBody>
      </p:sp>
    </p:spTree>
    <p:extLst>
      <p:ext uri="{BB962C8B-B14F-4D97-AF65-F5344CB8AC3E}">
        <p14:creationId xmlns:p14="http://schemas.microsoft.com/office/powerpoint/2010/main" val="6309943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2026-10-06T02:30:10.3860000Z</dcterms:created>
  <dcterms:modified xsi:type="dcterms:W3CDTF">2026-10-06T02:30:10.3860000Z</dcterms:modified>
</coreProperties>
</file>