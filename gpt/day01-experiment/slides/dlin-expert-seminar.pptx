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5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778c75324541f7" /><Relationship Type="http://schemas.openxmlformats.org/officeDocument/2006/relationships/extended-properties" Target="/docProps/app.xml" Id="R2533eda8cf5a4384" /><Relationship Type="http://schemas.openxmlformats.org/officeDocument/2006/relationships/officeDocument" Target="/ppt/presentation.xml" Id="R48654ebe438240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d8a940e655495f"/>
  </p:sldMasterIdLst>
  <p:notesMasterIdLst>
    <p:notesMasterId xmlns:r="http://schemas.openxmlformats.org/officeDocument/2006/relationships" r:id="R3153bea7cc674d7b"/>
  </p:notesMasterIdLst>
  <p:sldIdLst>
    <p:sldId xmlns:r="http://schemas.openxmlformats.org/officeDocument/2006/relationships" id="256" r:id="R9fa7811c429e4083"/>
    <p:sldId xmlns:r="http://schemas.openxmlformats.org/officeDocument/2006/relationships" id="257" r:id="R0cf059fbc1444f1e"/>
    <p:sldId xmlns:r="http://schemas.openxmlformats.org/officeDocument/2006/relationships" id="258" r:id="Rcf23e052269045c6"/>
    <p:sldId xmlns:r="http://schemas.openxmlformats.org/officeDocument/2006/relationships" id="259" r:id="R811e254cf83d4972"/>
    <p:sldId xmlns:r="http://schemas.openxmlformats.org/officeDocument/2006/relationships" id="260" r:id="R360948f7839444f1"/>
    <p:sldId xmlns:r="http://schemas.openxmlformats.org/officeDocument/2006/relationships" id="261" r:id="R45c532a1a6e94099"/>
    <p:sldId xmlns:r="http://schemas.openxmlformats.org/officeDocument/2006/relationships" id="262" r:id="Re803ea81059b4e3f"/>
    <p:sldId xmlns:r="http://schemas.openxmlformats.org/officeDocument/2006/relationships" id="263" r:id="R747b2645c7514103"/>
    <p:sldId xmlns:r="http://schemas.openxmlformats.org/officeDocument/2006/relationships" id="264" r:id="R83750d0c5f85494f"/>
    <p:sldId xmlns:r="http://schemas.openxmlformats.org/officeDocument/2006/relationships" id="265" r:id="R513a8418eae346c5"/>
    <p:sldId xmlns:r="http://schemas.openxmlformats.org/officeDocument/2006/relationships" id="266" r:id="R2d2941b027ad4d6b"/>
    <p:sldId xmlns:r="http://schemas.openxmlformats.org/officeDocument/2006/relationships" id="267" r:id="R4e083df2db5e4356"/>
    <p:sldId xmlns:r="http://schemas.openxmlformats.org/officeDocument/2006/relationships" id="268" r:id="Rad050b01f479424c"/>
    <p:sldId xmlns:r="http://schemas.openxmlformats.org/officeDocument/2006/relationships" id="269" r:id="Rf0294a68de634cc0"/>
    <p:sldId xmlns:r="http://schemas.openxmlformats.org/officeDocument/2006/relationships" id="270" r:id="R69a73a6016b84162"/>
    <p:sldId xmlns:r="http://schemas.openxmlformats.org/officeDocument/2006/relationships" id="271" r:id="R011310844d804bbf"/>
    <p:sldId xmlns:r="http://schemas.openxmlformats.org/officeDocument/2006/relationships" id="272" r:id="R45004cebed5d4576"/>
    <p:sldId xmlns:r="http://schemas.openxmlformats.org/officeDocument/2006/relationships" id="273" r:id="R9189b66436a447a1"/>
    <p:sldId xmlns:r="http://schemas.openxmlformats.org/officeDocument/2006/relationships" id="274" r:id="R6259c5695b6e4a42"/>
    <p:sldId xmlns:r="http://schemas.openxmlformats.org/officeDocument/2006/relationships" id="275" r:id="Rd56fcc39c7904126"/>
    <p:sldId xmlns:r="http://schemas.openxmlformats.org/officeDocument/2006/relationships" id="276" r:id="R55417cfff7844d03"/>
    <p:sldId xmlns:r="http://schemas.openxmlformats.org/officeDocument/2006/relationships" id="277" r:id="R52af7bbd5a4141b9"/>
    <p:sldId xmlns:r="http://schemas.openxmlformats.org/officeDocument/2006/relationships" id="278" r:id="Rf3afd64e7d81489d"/>
    <p:sldId xmlns:r="http://schemas.openxmlformats.org/officeDocument/2006/relationships" id="279" r:id="Recdf37f12cae47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adf614838e48c4" /><Relationship Type="http://schemas.openxmlformats.org/officeDocument/2006/relationships/slideMaster" Target="/ppt/slideMasters/slideMaster1.xml" Id="Radd8a940e655495f" /><Relationship Type="http://schemas.openxmlformats.org/officeDocument/2006/relationships/notesMaster" Target="/ppt/notesMasters/notesMaster1.xml" Id="R3153bea7cc674d7b" /><Relationship Type="http://schemas.openxmlformats.org/officeDocument/2006/relationships/presProps" Target="/ppt/presProps.xml" Id="R0e24c3bb59c0487b" /><Relationship Type="http://schemas.openxmlformats.org/officeDocument/2006/relationships/tableStyles" Target="/ppt/tableStyles.xml" Id="R2e272aee1fb3499f" /><Relationship Type="http://schemas.openxmlformats.org/officeDocument/2006/relationships/slide" Target="/ppt/slides/slide1.xml" Id="R9fa7811c429e4083" /><Relationship Type="http://schemas.openxmlformats.org/officeDocument/2006/relationships/slide" Target="/ppt/slides/slide2.xml" Id="R0cf059fbc1444f1e" /><Relationship Type="http://schemas.openxmlformats.org/officeDocument/2006/relationships/slide" Target="/ppt/slides/slide3.xml" Id="Rcf23e052269045c6" /><Relationship Type="http://schemas.openxmlformats.org/officeDocument/2006/relationships/slide" Target="/ppt/slides/slide4.xml" Id="R811e254cf83d4972" /><Relationship Type="http://schemas.openxmlformats.org/officeDocument/2006/relationships/slide" Target="/ppt/slides/slide5.xml" Id="R360948f7839444f1" /><Relationship Type="http://schemas.openxmlformats.org/officeDocument/2006/relationships/slide" Target="/ppt/slides/slide6.xml" Id="R45c532a1a6e94099" /><Relationship Type="http://schemas.openxmlformats.org/officeDocument/2006/relationships/slide" Target="/ppt/slides/slide7.xml" Id="Re803ea81059b4e3f" /><Relationship Type="http://schemas.openxmlformats.org/officeDocument/2006/relationships/slide" Target="/ppt/slides/slide8.xml" Id="R747b2645c7514103" /><Relationship Type="http://schemas.openxmlformats.org/officeDocument/2006/relationships/slide" Target="/ppt/slides/slide9.xml" Id="R83750d0c5f85494f" /><Relationship Type="http://schemas.openxmlformats.org/officeDocument/2006/relationships/slide" Target="/ppt/slides/slide10.xml" Id="R513a8418eae346c5" /><Relationship Type="http://schemas.openxmlformats.org/officeDocument/2006/relationships/slide" Target="/ppt/slides/slide11.xml" Id="R2d2941b027ad4d6b" /><Relationship Type="http://schemas.openxmlformats.org/officeDocument/2006/relationships/slide" Target="/ppt/slides/slide12.xml" Id="R4e083df2db5e4356" /><Relationship Type="http://schemas.openxmlformats.org/officeDocument/2006/relationships/slide" Target="/ppt/slides/slide13.xml" Id="Rad050b01f479424c" /><Relationship Type="http://schemas.openxmlformats.org/officeDocument/2006/relationships/slide" Target="/ppt/slides/slide14.xml" Id="Rf0294a68de634cc0" /><Relationship Type="http://schemas.openxmlformats.org/officeDocument/2006/relationships/slide" Target="/ppt/slides/slide15.xml" Id="R69a73a6016b84162" /><Relationship Type="http://schemas.openxmlformats.org/officeDocument/2006/relationships/slide" Target="/ppt/slides/slide16.xml" Id="R011310844d804bbf" /><Relationship Type="http://schemas.openxmlformats.org/officeDocument/2006/relationships/slide" Target="/ppt/slides/slide17.xml" Id="R45004cebed5d4576" /><Relationship Type="http://schemas.openxmlformats.org/officeDocument/2006/relationships/slide" Target="/ppt/slides/slide18.xml" Id="R9189b66436a447a1" /><Relationship Type="http://schemas.openxmlformats.org/officeDocument/2006/relationships/slide" Target="/ppt/slides/slide19.xml" Id="R6259c5695b6e4a42" /><Relationship Type="http://schemas.openxmlformats.org/officeDocument/2006/relationships/slide" Target="/ppt/slides/slide20.xml" Id="Rd56fcc39c7904126" /><Relationship Type="http://schemas.openxmlformats.org/officeDocument/2006/relationships/slide" Target="/ppt/slides/slide21.xml" Id="R55417cfff7844d03" /><Relationship Type="http://schemas.openxmlformats.org/officeDocument/2006/relationships/slide" Target="/ppt/slides/slide22.xml" Id="R52af7bbd5a4141b9" /><Relationship Type="http://schemas.openxmlformats.org/officeDocument/2006/relationships/slide" Target="/ppt/slides/slide23.xml" Id="Rf3afd64e7d81489d" /><Relationship Type="http://schemas.openxmlformats.org/officeDocument/2006/relationships/slide" Target="/ppt/slides/slide24.xml" Id="Recdf37f12cae47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d8240e117146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dfb723813d45e2" /><Relationship Type="http://schemas.openxmlformats.org/officeDocument/2006/relationships/notesMaster" Target="/ppt/notesMasters/notesMaster1.xml" Id="Rff712888ba2340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dbc821bdba47b9" /><Relationship Type="http://schemas.openxmlformats.org/officeDocument/2006/relationships/notesMaster" Target="/ppt/notesMasters/notesMaster1.xml" Id="Rfe6021acd72144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4d95c69a05462d" /><Relationship Type="http://schemas.openxmlformats.org/officeDocument/2006/relationships/notesMaster" Target="/ppt/notesMasters/notesMaster1.xml" Id="Rf4d43ac3eaad48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945a0458b6456d" /><Relationship Type="http://schemas.openxmlformats.org/officeDocument/2006/relationships/notesMaster" Target="/ppt/notesMasters/notesMaster1.xml" Id="R4118b9593bb04a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ade8ae99dd40e8" /><Relationship Type="http://schemas.openxmlformats.org/officeDocument/2006/relationships/notesMaster" Target="/ppt/notesMasters/notesMaster1.xml" Id="R45d46d65fedb4c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6928420b36432c" /><Relationship Type="http://schemas.openxmlformats.org/officeDocument/2006/relationships/notesMaster" Target="/ppt/notesMasters/notesMaster1.xml" Id="R399a7d69373d42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e9d8a1c9ad47f4" /><Relationship Type="http://schemas.openxmlformats.org/officeDocument/2006/relationships/notesMaster" Target="/ppt/notesMasters/notesMaster1.xml" Id="R965120564a974b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f1432118fc4a17" /><Relationship Type="http://schemas.openxmlformats.org/officeDocument/2006/relationships/notesMaster" Target="/ppt/notesMasters/notesMaster1.xml" Id="R15446484831343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ae3dc04bfa4bab" /><Relationship Type="http://schemas.openxmlformats.org/officeDocument/2006/relationships/notesMaster" Target="/ppt/notesMasters/notesMaster1.xml" Id="Rbb17eebacb1446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cf3d6900454eb0" /><Relationship Type="http://schemas.openxmlformats.org/officeDocument/2006/relationships/notesMaster" Target="/ppt/notesMasters/notesMaster1.xml" Id="Rb2f913371b054e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db2617c42b400b" /><Relationship Type="http://schemas.openxmlformats.org/officeDocument/2006/relationships/notesMaster" Target="/ppt/notesMasters/notesMaster1.xml" Id="Refa36a491ba64b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05abc2fb0a498a" /><Relationship Type="http://schemas.openxmlformats.org/officeDocument/2006/relationships/notesMaster" Target="/ppt/notesMasters/notesMaster1.xml" Id="R4b31df5e8e1940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4d25b630d14061" /><Relationship Type="http://schemas.openxmlformats.org/officeDocument/2006/relationships/notesMaster" Target="/ppt/notesMasters/notesMaster1.xml" Id="R9100e4f92e4e431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351742ecd440b7" /><Relationship Type="http://schemas.openxmlformats.org/officeDocument/2006/relationships/notesMaster" Target="/ppt/notesMasters/notesMaster1.xml" Id="Read1ef693e884a1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e0dca3eeafc4b55" /><Relationship Type="http://schemas.openxmlformats.org/officeDocument/2006/relationships/notesMaster" Target="/ppt/notesMasters/notesMaster1.xml" Id="R5cd4c582b0db43f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073f126f5494fbc" /><Relationship Type="http://schemas.openxmlformats.org/officeDocument/2006/relationships/notesMaster" Target="/ppt/notesMasters/notesMaster1.xml" Id="Rb4073ff156da4ef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79f6ae3fb494d5f" /><Relationship Type="http://schemas.openxmlformats.org/officeDocument/2006/relationships/notesMaster" Target="/ppt/notesMasters/notesMaster1.xml" Id="R0500828afca9446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b2e65c283134193" /><Relationship Type="http://schemas.openxmlformats.org/officeDocument/2006/relationships/notesMaster" Target="/ppt/notesMasters/notesMaster1.xml" Id="R1d33a2b6203f423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5ee1d58de054e1b" /><Relationship Type="http://schemas.openxmlformats.org/officeDocument/2006/relationships/notesMaster" Target="/ppt/notesMasters/notesMaster1.xml" Id="R957d5d97a62b48b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3638093538b4656" /><Relationship Type="http://schemas.openxmlformats.org/officeDocument/2006/relationships/notesMaster" Target="/ppt/notesMasters/notesMaster1.xml" Id="R9340b82d720a4c1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6afce81a8274332" /><Relationship Type="http://schemas.openxmlformats.org/officeDocument/2006/relationships/notesMaster" Target="/ppt/notesMasters/notesMaster1.xml" Id="R3f74c577d3f3473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0c1af1340ba4727" /><Relationship Type="http://schemas.openxmlformats.org/officeDocument/2006/relationships/notesMaster" Target="/ppt/notesMasters/notesMaster1.xml" Id="Ra7d59282423841a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1f601ca6a4d4f24" /><Relationship Type="http://schemas.openxmlformats.org/officeDocument/2006/relationships/notesMaster" Target="/ppt/notesMasters/notesMaster1.xml" Id="Rd1b37b611f3949d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7fcb342d2e6427d" /><Relationship Type="http://schemas.openxmlformats.org/officeDocument/2006/relationships/notesMaster" Target="/ppt/notesMasters/notesMaster1.xml" Id="R09bd0133869549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presentation summarizes the supplied notes. The audience is assumed to know linear algebra over finite fields and basic cryptographic security definitions. Added calculations are labeled or explained in notes.</a:t>
            </a:r>
          </a:p>
          <a:p xmlns:a="http://schemas.openxmlformats.org/drawingml/2006/main">
            <a:r>
              <a:t>Generated cover illustration: conceptual artwork, not a quantitative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sections 1, 3, 9 and 10. M is sampled from the ensemble with exactly d ones in each row, x is independent uniform in F₂ⁿ, e has independent Bernoulli(ε) coordinates. The notation specifies a distribution rather than a promise for every realization.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sections 4–5. Row sparsity constrains the number of variables involved in each parity equation. It does not constrain the number of appearances of a variable across different equations. Generated diagram illustrates one row with support {1,2,4}.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  <a:p xmlns:a="http://schemas.openxmlformats.org/drawingml/2006/main">
            <a:r>
              <a:t>Def5.1 p12: Search3LIN returns x, success threshold2/3. Def6.1 p16: AppSearch3LIN returns x-hat with dH(x-hat,x)≤.1n, threshold.7. Decide compares noisy labels with independent uniform labels. Low-residual optimization is separate. For even d, M1=0 makes x and x+1 indistinguishable, requiring an up-to-complement formulation (paper notes this in§7.4).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section 9. Direct derivation: W=sum_i e_i ~ Binomial(m,ε), E[W]=mε and Var(W)=mε(1−ε). Hoeffding for independent variables in [0,1] gives Pr[W/m&gt;ε+t]≤exp(−2mt²), t&gt;0. This clarifies the distinction between the expectation in section 9 and the deterministic satisfiability promise in section 8. Chart calculated for m=20, ε=.10; display k=0...8.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  <a:p xmlns:a="http://schemas.openxmlformats.org/drawingml/2006/main">
            <a:r>
              <a:t>Direct calculation of Pr[W=k]=C(20,k)ε^k(1−ε)^(20−k). User-requested ε=.5,.25,.7 are illustrative, not ABW PKE parameter choices. At ε=.5, Mx+e is exactly uniform and independent of x. For ε&gt;.5, complementing every observed label produces noise rate1−ε.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section 11, with the distinction made explicit. dH(b,Mx)=wt(e) holds exactly. Distance to Im(M) minimizes over all assignments, so it can be strictly less. Thus E[dH(b,Im(M))]≤mε rather than a general equality. Schematic shows a possible b outside the image and is not a Euclidean metric embedding.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section 12 plus direct finite-field calculation. The four rows of M are independent. All exact solutions for b=(1,1,0,1)ᵀ are (0,1+t,t,t,0)ᵀ for t in F₂. The sample x=(1,0,1,0,1)ᵀ has residual (0,1,0,0)ᵀ. This is an arithmetic example, not an instance in a hardness regime.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sections 13–14 and 22. Exact consistent systems admit polynomial-time Gaussian elimination. Exponentially many possible assignments do not establish a lower bound. State the distribution, asymptotic parameters, adversary class and success criterion whenever presenting a cryptographic assumption.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  <a:p xmlns:a="http://schemas.openxmlformats.org/drawingml/2006/main">
            <a:r>
              <a:t>Theorem2 p5. Def5.1 and Assumption5.2 p12. The theorem asserts there exists c so that intractability of Search3LIN(c n^1.4,n^−.2/c) implies semantically secure PKE. The formal sufficient assumption in§5 quantifies over every positive constant C0,C1. Do not infer concrete security from asymptotics.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  <a:p xmlns:a="http://schemas.openxmlformats.org/drawingml/2006/main">
            <a:r>
              <a:t>Theorem3 p5, §§7.1–7.2 pp22–25. For constants d,c and q=q(n), some c-prime makes the two stated assumptions sufficient. DUE compares a random bipartite graph with one containing a planted q-set of left vertices having only q/3 neighbors. In this slide q is the planted-set size, not an LWE modulus. Known attacks constrain admissible q and graph degree.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  <a:p xmlns:a="http://schemas.openxmlformats.org/drawingml/2006/main">
            <a:r>
              <a:t>Regev, On lattices, learning with errors, random linear codes, and cryptography, Theorem 1.1, https://cims.nyu.edu/~regev/papers/qcrypto.pdf. The reduction is quantum and requires its stated parameters and error distribution.</a:t>
            </a:r>
          </a:p>
          <a:p xmlns:a="http://schemas.openxmlformats.org/drawingml/2006/main">
            <a:r>
              <a:t>Langlois and Stehlé, Worst-case to average-case reductions for module lattices, Theorems 4.7–4.8, https://perso.ens-lyon.fr/damien.stehle/downloads/MSIS.pdf.</a:t>
            </a:r>
          </a:p>
          <a:p xmlns:a="http://schemas.openxmlformats.org/drawingml/2006/main">
            <a:r>
              <a:t>Kiltz, Masny and Pietrzak, Provable Security of LPN-based Public-Key Encryption, https://eprint.iacr.org/2015/401.pdf. Yu and Zhang, Cryptography with Auxiliary Input and Trapdoor from Constant-Noise LPN, CRYPTO 2016, https://www.iacr.org/archive/crypto2016/98140212/98140212.pdf. PKE from LPN depends on noise and quantitative hardness. Do not infer impossibility from its common symmetric applications.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Regev, On lattices, learning with errors, random linear codes, and cryptography, Theorem 1.1, https://cims.nyu.edu/~regev/papers/qcrypto.pdf. The reduction is quantum and requires its stated parameters and error distribution.</a:t>
            </a:r>
          </a:p>
          <a:p xmlns:a="http://schemas.openxmlformats.org/drawingml/2006/main">
            <a:r>
              <a:t>Langlois and Stehlé, Worst-case to average-case reductions for module lattices, Theorems 4.7–4.8, https://perso.ens-lyon.fr/damien.stehle/downloads/MSIS.pdf.</a:t>
            </a:r>
          </a:p>
          <a:p xmlns:a="http://schemas.openxmlformats.org/drawingml/2006/main">
            <a:r>
              <a:t>NIST FIPS 203 (2024), Module-Lattice-Based Key-Encapsulation Mechanism Standard, §§1.2,3.2,4.2.2,5.1 and Tables 2–3, https://nvlpubs.nist.gov/nistpubs/FIPS/NIST.FIPS.203.pdf. ML-KEM uses centered binomial errors and compression. Its assumed quantum resistance is not a proof against all quantum attacks.</a:t>
            </a:r>
          </a:p>
          <a:p xmlns:a="http://schemas.openxmlformats.org/drawingml/2006/main">
            <a:r>
              <a:t>Schematic equations describe their algebraic templates. In LWE, A is uniform in Zq^(m×n). In module-LWE, A is uniform over an appropriate quotient ring Rq. Expanded coefficient matrices use structured convolution blocks, not independent entries.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  <a:p xmlns:a="http://schemas.openxmlformats.org/drawingml/2006/main">
            <a:r>
              <a:t>Regev, On lattices, learning with errors, random linear codes, and cryptography, Theorem 1.1, https://cims.nyu.edu/~regev/papers/qcrypto.pdf. The reduction is quantum and requires its stated parameters and error distribution.</a:t>
            </a:r>
          </a:p>
          <a:p xmlns:a="http://schemas.openxmlformats.org/drawingml/2006/main">
            <a:r>
              <a:t>Langlois and Stehlé, Worst-case to average-case reductions for module lattices, Theorems 4.7–4.8, https://perso.ens-lyon.fr/damien.stehle/downloads/MSIS.pdf.</a:t>
            </a:r>
          </a:p>
          <a:p xmlns:a="http://schemas.openxmlformats.org/drawingml/2006/main">
            <a:r>
              <a:t>Kiltz, Masny and Pietrzak, Provable Security of LPN-based Public-Key Encryption, https://eprint.iacr.org/2015/401.pdf. Yu and Zhang, Cryptography with Auxiliary Input and Trapdoor from Constant-Noise LPN, CRYPTO 2016, https://www.iacr.org/archive/crypto2016/98140212/98140212.pdf. PKE from LPN depends on noise and quantitative hardness. Do not infer impossibility from its common symmetric applications.</a:t>
            </a:r>
          </a:p>
          <a:p xmlns:a="http://schemas.openxmlformats.org/drawingml/2006/main">
            <a:r>
              <a:t>ABW§6 reductions incur sample/parameter changes. The paper’s search-to-decision arguments are specific to sparse ensembles and do not transfer a dense-LPN assumption to sparse d-LIN. Standard LPN PKE results require their own noise and quantitative-hardness hypotheses.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sections 18 and 20. Let S select rows with XOR sum zero. The displayed 4×6 matrix is a new illustrative 3-sparse dependency: supports {1,2,3}, {1,4,5}, {2,4,6}, {3,5,6}. Every column has even weight, so the XOR of all four rows is zero. This example demonstrates algebra only and is not a key-generation proposal.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  <a:p xmlns:a="http://schemas.openxmlformats.org/drawingml/2006/main">
            <a:r>
              <a:t>Figure 1, printed p.8, and §5.2 pp.13–14. This is the raw weak scheme. Public key M has a secret short row dependency S containing the last row. Each encryption samples fresh uniform x and fresh Bernoulli errors. Enc(1) differs from Enc(0) by flipping the final coordinate. It is not an independently uniform ciphertext distribution.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  <a:p xmlns:a="http://schemas.openxmlformats.org/drawingml/2006/main">
            <a:r>
              <a:t>§5.2 and Lemma5.4 pp13–14: T_p,n with p=n^−1.6 conditioned on a suitable short even-incidence submatrix through the last row, q=Θ(n^.2). Statistical distance from the unconditioned ensemble is at most1−δ. §7 plants q rows on q/3 columns, chooses a dependent row and moves it to last position. DUE and Theorem7.4 control the key distribution.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sections 9 and 18 support this direct derivation. If r=|S| and errors are independent Bernoulli(ε), E[(-1)^(sum e_i)]=(1−2ε)^r. Consequently Pr[odd parity]=(1−(1−2ε)^r)/2≤rε by a union bound. Curves are calculated values, not experimental measurements. This is the noise contribution to failure in the basic parity decoder.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  <a:p xmlns:a="http://schemas.openxmlformats.org/drawingml/2006/main">
            <a:r>
              <a:t>§4 pp11–12 defines (1−α)-correctness and β-privacy. Constant α,β with α&lt;(1−sqrt(β))/2 permit HR05 amplification to semantically secure PKE supporting polynomially long messages. β follows ABW’s distinguishing convention. Lemma5.3 bounds raw error by |S|ε. Theorem7.3 uses public locality2d and ciphertext noise2η(1−η) when SearchLIN uses localityd and noiseη.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sections 14 and 22. ABW analyzes restricted attacks in specific parameter ranges, including myopic access to noisy bits, low-degree polynomial approaches, AC⁰ circuits, and Lasserre/SDP methods. These results do not prove hardness against all polynomial-time algorithms and do not constitute a modern parameter recommendation. 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  <a:p xmlns:a="http://schemas.openxmlformats.org/drawingml/2006/main">
            <a:r>
              <a:t>Introduction and Theorems 2–3. The operation and storage costs below are direct counts for the core sparse matrix representation, not benchmark claims about a final amplified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  <a:p xmlns:a="http://schemas.openxmlformats.org/drawingml/2006/main">
            <a:r>
              <a:t>Introduction, §§4–7 and §12. These are construction/design implications. ABW does not give a concrete standardized CCA KEM or a modern security-bit estimate. Quantum security requires a quantum-adversary assumption plus a compatible proof.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  <a:p xmlns:a="http://schemas.openxmlformats.org/drawingml/2006/main">
            <a:r>
              <a:t>NIST FIPS 203 (2024), Module-Lattice-Based Key-Encapsulation Mechanism Standard, §§1.2,3.2,4.2.2,5.1 and Tables 2–3, https://nvlpubs.nist.gov/nistpubs/FIPS/NIST.FIPS.203.pdf. ML-KEM uses centered binomial errors and compression. Its assumed quantum resistance is not a proof against all quantum attacks.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paper: Applebaum, Barak and Wigderson, Public-Key Cryptography from Different Assumptions, November 7, 2009, https://www.math.ias.edu/~avi/PUBLICATIONS/MYPAPERS/ABW09/ABW09.pdf. Page numbers are printed page numbers in this version.</a:t>
            </a:r>
          </a:p>
          <a:p xmlns:a="http://schemas.openxmlformats.org/drawingml/2006/main">
            <a:r>
              <a:t>Regev, On lattices, learning with errors, random linear codes, and cryptography, Theorem 1.1, https://cims.nyu.edu/~regev/papers/qcrypto.pdf. The reduction is quantum and requires its stated parameters and error distribution.</a:t>
            </a:r>
          </a:p>
          <a:p xmlns:a="http://schemas.openxmlformats.org/drawingml/2006/main">
            <a:r>
              <a:t>Langlois and Stehlé, Worst-case to average-case reductions for module lattices, Theorems 4.7–4.8, https://perso.ens-lyon.fr/damien.stehle/downloads/MSIS.pdf.</a:t>
            </a:r>
          </a:p>
          <a:p xmlns:a="http://schemas.openxmlformats.org/drawingml/2006/main">
            <a:r>
              <a:t>NIST FIPS 203 (2024), Module-Lattice-Based Key-Encapsulation Mechanism Standard, §§1.2,3.2,4.2.2,5.1 and Tables 2–3, https://nvlpubs.nist.gov/nistpubs/FIPS/NIST.FIPS.203.pdf. ML-KEM uses centered binomial errors and compression. Its assumed quantum resistance is not a proof against all quantum attacks.</a:t>
            </a:r>
          </a:p>
          <a:p xmlns:a="http://schemas.openxmlformats.org/drawingml/2006/main">
            <a:r>
              <a:t>Kiltz, Masny and Pietrzak, Provable Security of LPN-based Public-Key Encryption, https://eprint.iacr.org/2015/401.pdf. Yu and Zhang, Cryptography with Auxiliary Input and Trapdoor from Constant-Noise LPN, CRYPTO 2016, https://www.iacr.org/archive/crypto2016/98140212/98140212.pdf. PKE from LPN depends on noise and quantitative hardness. Do not infer impossibility from its common symmetric applications.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Prajjwal Saxena, Understanding the d-LIN Problem, dLIN_explained.tex, Overleaf project https://www.overleaf.com/project/6ac3a275fa67840d6ebb88fb, accessed 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c08fa0d3bc48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44df07cb754e5b" /><Relationship Type="http://schemas.openxmlformats.org/officeDocument/2006/relationships/slideLayout" Target="/ppt/slideLayouts/slideLayout1.xml" Id="Ra7c55d9dfb0f44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c55d9dfb0f44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b9d55ff4944cd" /><Relationship Type="http://schemas.openxmlformats.org/officeDocument/2006/relationships/image" Target="/ppt/media/image.png" Id="R020d79a297bd4c3f" /><Relationship Type="http://schemas.openxmlformats.org/officeDocument/2006/relationships/notesSlide" Target="/ppt/notesSlides/notesSlide1.xml" Id="R88149d52fd1443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18794ed7748a7" /><Relationship Type="http://schemas.openxmlformats.org/officeDocument/2006/relationships/notesSlide" Target="/ppt/notesSlides/notesSlide2.xml" Id="Rc35166c96d164c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ee3f5fff3458c" /><Relationship Type="http://schemas.openxmlformats.org/officeDocument/2006/relationships/image" Target="/ppt/media/image2.png" Id="Rc5747e45928d48c4" /><Relationship Type="http://schemas.openxmlformats.org/officeDocument/2006/relationships/notesSlide" Target="/ppt/notesSlides/notesSlide3.xml" Id="Ra6ef74002b5b4e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5cfe1584a4d51" /><Relationship Type="http://schemas.openxmlformats.org/officeDocument/2006/relationships/notesSlide" Target="/ppt/notesSlides/notesSlide4.xml" Id="R98b828d0365540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7d620f5364d47" /><Relationship Type="http://schemas.openxmlformats.org/officeDocument/2006/relationships/chart" Target="/ppt/slides/charts/chart1.xml" Id="R93a768d7aa0847be" /><Relationship Type="http://schemas.openxmlformats.org/officeDocument/2006/relationships/notesSlide" Target="/ppt/notesSlides/notesSlide5.xml" Id="Re105adc18a4f42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697d4b5214de3" /><Relationship Type="http://schemas.openxmlformats.org/officeDocument/2006/relationships/chart" Target="/ppt/slides/charts/chart2.xml" Id="R293845ec17b441ba" /><Relationship Type="http://schemas.openxmlformats.org/officeDocument/2006/relationships/chart" Target="/ppt/slides/charts/chart3.xml" Id="R5b8e85f2579447f4" /><Relationship Type="http://schemas.openxmlformats.org/officeDocument/2006/relationships/chart" Target="/ppt/slides/charts/chart4.xml" Id="R302f93693e9f4973" /><Relationship Type="http://schemas.openxmlformats.org/officeDocument/2006/relationships/notesSlide" Target="/ppt/notesSlides/notesSlide6.xml" Id="R88c5ba3f2fc54e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935a13d444646" /><Relationship Type="http://schemas.openxmlformats.org/officeDocument/2006/relationships/image" Target="/ppt/media/image3.png" Id="Re64b9408a50e4b81" /><Relationship Type="http://schemas.openxmlformats.org/officeDocument/2006/relationships/notesSlide" Target="/ppt/notesSlides/notesSlide7.xml" Id="R20fcc6a479a048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ab5e245354634" /><Relationship Type="http://schemas.openxmlformats.org/officeDocument/2006/relationships/notesSlide" Target="/ppt/notesSlides/notesSlide8.xml" Id="Rf3fce5b17da240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f873e7b8740e9" /><Relationship Type="http://schemas.openxmlformats.org/officeDocument/2006/relationships/notesSlide" Target="/ppt/notesSlides/notesSlide9.xml" Id="Rbfce2257da094e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dcc980ae34a91" /><Relationship Type="http://schemas.openxmlformats.org/officeDocument/2006/relationships/notesSlide" Target="/ppt/notesSlides/notesSlide10.xml" Id="R91a9d105607d43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699c04bf547cb" /><Relationship Type="http://schemas.openxmlformats.org/officeDocument/2006/relationships/notesSlide" Target="/ppt/notesSlides/notesSlide11.xml" Id="R4001f8781f6447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b05d797d145f6" /><Relationship Type="http://schemas.openxmlformats.org/officeDocument/2006/relationships/notesSlide" Target="/ppt/notesSlides/notesSlide12.xml" Id="Rb98164f56d74411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4603cc1d040a8" /><Relationship Type="http://schemas.openxmlformats.org/officeDocument/2006/relationships/notesSlide" Target="/ppt/notesSlides/notesSlide13.xml" Id="Rf78c9859110444f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ec688ab974a39" /><Relationship Type="http://schemas.openxmlformats.org/officeDocument/2006/relationships/notesSlide" Target="/ppt/notesSlides/notesSlide14.xml" Id="R3ffe7b36341840e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ce8022e9b4cc7" /><Relationship Type="http://schemas.openxmlformats.org/officeDocument/2006/relationships/notesSlide" Target="/ppt/notesSlides/notesSlide15.xml" Id="R6050b0c8a8e64f9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6fa34ee7b4790" /><Relationship Type="http://schemas.openxmlformats.org/officeDocument/2006/relationships/notesSlide" Target="/ppt/notesSlides/notesSlide16.xml" Id="R1c26be15430648d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842bec92f432f" /><Relationship Type="http://schemas.openxmlformats.org/officeDocument/2006/relationships/notesSlide" Target="/ppt/notesSlides/notesSlide17.xml" Id="R968306471a3840e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b9a9203a14ee7" /><Relationship Type="http://schemas.openxmlformats.org/officeDocument/2006/relationships/chart" Target="/ppt/slides/charts/chart5.xml" Id="R2178001c89134c19" /><Relationship Type="http://schemas.openxmlformats.org/officeDocument/2006/relationships/notesSlide" Target="/ppt/notesSlides/notesSlide18.xml" Id="Rd2adfb604be7488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1c339f129499d" /><Relationship Type="http://schemas.openxmlformats.org/officeDocument/2006/relationships/notesSlide" Target="/ppt/notesSlides/notesSlide19.xml" Id="R462a9af7c2cc49c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08b3facb14d25" /><Relationship Type="http://schemas.openxmlformats.org/officeDocument/2006/relationships/notesSlide" Target="/ppt/notesSlides/notesSlide20.xml" Id="R22e166ad143c4d6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f3b28de4d4ebb" /><Relationship Type="http://schemas.openxmlformats.org/officeDocument/2006/relationships/notesSlide" Target="/ppt/notesSlides/notesSlide21.xml" Id="Rf9b7e0c252ce4f4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0a708aac441ca" /><Relationship Type="http://schemas.openxmlformats.org/officeDocument/2006/relationships/notesSlide" Target="/ppt/notesSlides/notesSlide22.xml" Id="R7c80068830d94c9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73419737943b6" /><Relationship Type="http://schemas.openxmlformats.org/officeDocument/2006/relationships/notesSlide" Target="/ppt/notesSlides/notesSlide23.xml" Id="R7c92e221fbf744d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cf7da98854ff1" /><Relationship Type="http://schemas.openxmlformats.org/officeDocument/2006/relationships/notesSlide" Target="/ppt/notesSlides/notesSlide24.xml" Id="R64611ecd7a9f43e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Probability</c:v>
          </c:tx>
          <c:spPr>
            <a:solidFill xmlns:a="http://schemas.openxmlformats.org/drawingml/2006/main">
              <a:srgbClr val="087F82"/>
            </a:solidFill>
          </c:spPr>
          <c:cat>
            <c:numRef>
              <c:f>'Chart Data'!$A$2:$A$10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cat>
          <c:val>
            <c:numRef>
              <c:f>'Chart Data'!$B$2:$B$10</c:f>
              <c:numCache>
                <c:formatCode>0%</c:formatCode>
                <c:ptCount val="9"/>
                <c:pt idx="0">
                  <c:v>0.1215766546</c:v>
                </c:pt>
                <c:pt idx="1">
                  <c:v>0.2701703435</c:v>
                </c:pt>
                <c:pt idx="2">
                  <c:v>0.2851798071</c:v>
                </c:pt>
                <c:pt idx="3">
                  <c:v>0.1901198714</c:v>
                </c:pt>
                <c:pt idx="4">
                  <c:v>0.0897788281</c:v>
                </c:pt>
                <c:pt idx="5">
                  <c:v>0.0319213611</c:v>
                </c:pt>
                <c:pt idx="6">
                  <c:v>0.0088670448</c:v>
                </c:pt>
                <c:pt idx="7">
                  <c:v>0.0019704544</c:v>
                </c:pt>
                <c:pt idx="8">
                  <c:v>0.0003557765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Number of flipped bits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0.32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C8D5D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Probability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7F5F0"/>
        </a:solidFill>
      </c:spPr>
    </c:plotArea>
    <c:plotVisOnly val="1"/>
  </c:chart>
  <c:spPr>
    <a:solidFill xmlns:a="http://schemas.openxmlformats.org/drawingml/2006/main">
      <a:srgbClr val="F7F5F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Probability</c:v>
          </c:tx>
          <c:spPr>
            <a:solidFill xmlns:a="http://schemas.openxmlformats.org/drawingml/2006/main">
              <a:srgbClr val="087F82"/>
            </a:solidFill>
          </c:spPr>
          <c:cat>
            <c:numRef>
              <c:f>'Chart Data'!$A$2:$A$22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'Chart Data'!$B$2:$B$22</c:f>
              <c:numCache>
                <c:formatCode>0%</c:formatCode>
                <c:ptCount val="21"/>
                <c:pt idx="0">
                  <c:v>9.53674316406E-07</c:v>
                </c:pt>
                <c:pt idx="1">
                  <c:v>1.90734863281E-05</c:v>
                </c:pt>
                <c:pt idx="2">
                  <c:v>0.000181198120117</c:v>
                </c:pt>
                <c:pt idx="3">
                  <c:v>0.0010871887207</c:v>
                </c:pt>
                <c:pt idx="4">
                  <c:v>0.00462055206299</c:v>
                </c:pt>
                <c:pt idx="5">
                  <c:v>0.0147857666016</c:v>
                </c:pt>
                <c:pt idx="6">
                  <c:v>0.0369644165039</c:v>
                </c:pt>
                <c:pt idx="7">
                  <c:v>0.0739288330078</c:v>
                </c:pt>
                <c:pt idx="8">
                  <c:v>0.120134353638</c:v>
                </c:pt>
                <c:pt idx="9">
                  <c:v>0.160179138184</c:v>
                </c:pt>
                <c:pt idx="10">
                  <c:v>0.176197052002</c:v>
                </c:pt>
                <c:pt idx="11">
                  <c:v>0.160179138184</c:v>
                </c:pt>
                <c:pt idx="12">
                  <c:v>0.120134353638</c:v>
                </c:pt>
                <c:pt idx="13">
                  <c:v>0.0739288330078</c:v>
                </c:pt>
                <c:pt idx="14">
                  <c:v>0.0369644165039</c:v>
                </c:pt>
                <c:pt idx="15">
                  <c:v>0.0147857666016</c:v>
                </c:pt>
                <c:pt idx="16">
                  <c:v>0.00462055206299</c:v>
                </c:pt>
                <c:pt idx="17">
                  <c:v>0.0010871887207</c:v>
                </c:pt>
                <c:pt idx="18">
                  <c:v>0.000181198120117</c:v>
                </c:pt>
                <c:pt idx="19">
                  <c:v>1.90734863281E-05</c:v>
                </c:pt>
                <c:pt idx="20">
                  <c:v>9.53674316406E-07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Flipped bits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0.25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C8D5D5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7F5F0"/>
        </a:solidFill>
      </c:spPr>
    </c:plotArea>
    <c:plotVisOnly val="1"/>
  </c:chart>
  <c:spPr>
    <a:solidFill xmlns:a="http://schemas.openxmlformats.org/drawingml/2006/main">
      <a:srgbClr val="F7F5F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Probability</c:v>
          </c:tx>
          <c:spPr>
            <a:solidFill xmlns:a="http://schemas.openxmlformats.org/drawingml/2006/main">
              <a:srgbClr val="112F43"/>
            </a:solidFill>
          </c:spPr>
          <c:cat>
            <c:numRef>
              <c:f>'Chart Data'!$A$2:$A$22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'Chart Data'!$B$2:$B$22</c:f>
              <c:numCache>
                <c:formatCode>0%</c:formatCode>
                <c:ptCount val="21"/>
                <c:pt idx="0">
                  <c:v>0.00317121193893</c:v>
                </c:pt>
                <c:pt idx="1">
                  <c:v>0.0211414129262</c:v>
                </c:pt>
                <c:pt idx="2">
                  <c:v>0.0669478075997</c:v>
                </c:pt>
                <c:pt idx="3">
                  <c:v>0.133895615199</c:v>
                </c:pt>
                <c:pt idx="4">
                  <c:v>0.189685454866</c:v>
                </c:pt>
                <c:pt idx="5">
                  <c:v>0.202331151857</c:v>
                </c:pt>
                <c:pt idx="6">
                  <c:v>0.168609293214</c:v>
                </c:pt>
                <c:pt idx="7">
                  <c:v>0.112406195476</c:v>
                </c:pt>
                <c:pt idx="8">
                  <c:v>0.0608866892162</c:v>
                </c:pt>
                <c:pt idx="9">
                  <c:v>0.0270607507628</c:v>
                </c:pt>
                <c:pt idx="10">
                  <c:v>0.00992227527968</c:v>
                </c:pt>
                <c:pt idx="11">
                  <c:v>0.00300675008475</c:v>
                </c:pt>
                <c:pt idx="12">
                  <c:v>0.000751687521188</c:v>
                </c:pt>
                <c:pt idx="13">
                  <c:v>0.000154192312039</c:v>
                </c:pt>
                <c:pt idx="14">
                  <c:v>2.56987186731E-05</c:v>
                </c:pt>
                <c:pt idx="15">
                  <c:v>3.42649582308E-06</c:v>
                </c:pt>
                <c:pt idx="16">
                  <c:v>3.56926648237E-07</c:v>
                </c:pt>
                <c:pt idx="17">
                  <c:v>2.79942469206E-08</c:v>
                </c:pt>
                <c:pt idx="18">
                  <c:v>1.55523594003E-09</c:v>
                </c:pt>
                <c:pt idx="19">
                  <c:v>5.45696821064E-11</c:v>
                </c:pt>
                <c:pt idx="20">
                  <c:v>9.09494701773E-13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Flipped bits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0.25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C8D5D5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7F5F0"/>
        </a:solidFill>
      </c:spPr>
    </c:plotArea>
    <c:plotVisOnly val="1"/>
  </c:chart>
  <c:spPr>
    <a:solidFill xmlns:a="http://schemas.openxmlformats.org/drawingml/2006/main">
      <a:srgbClr val="F7F5F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Probability</c:v>
          </c:tx>
          <c:spPr>
            <a:solidFill xmlns:a="http://schemas.openxmlformats.org/drawingml/2006/main">
              <a:srgbClr val="CB5D4D"/>
            </a:solidFill>
          </c:spPr>
          <c:cat>
            <c:numRef>
              <c:f>'Chart Data'!$A$2:$A$22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'Chart Data'!$B$2:$B$22</c:f>
              <c:numCache>
                <c:formatCode>0%</c:formatCode>
                <c:ptCount val="21"/>
                <c:pt idx="0">
                  <c:v>3.486784401E-11</c:v>
                </c:pt>
                <c:pt idx="1">
                  <c:v>1.6271660538E-09</c:v>
                </c:pt>
                <c:pt idx="2">
                  <c:v>3.60688475259E-08</c:v>
                </c:pt>
                <c:pt idx="3">
                  <c:v>5.04963865363E-07</c:v>
                </c:pt>
                <c:pt idx="4">
                  <c:v>5.00755833151E-06</c:v>
                </c:pt>
                <c:pt idx="5">
                  <c:v>3.73897688753E-05</c:v>
                </c:pt>
                <c:pt idx="6">
                  <c:v>0.000218106985106</c:v>
                </c:pt>
                <c:pt idx="7">
                  <c:v>0.00101783259716</c:v>
                </c:pt>
                <c:pt idx="8">
                  <c:v>0.0038592819309</c:v>
                </c:pt>
                <c:pt idx="9">
                  <c:v>0.0120066548961</c:v>
                </c:pt>
                <c:pt idx="10">
                  <c:v>0.0308170809001</c:v>
                </c:pt>
                <c:pt idx="11">
                  <c:v>0.0653695655456</c:v>
                </c:pt>
                <c:pt idx="12">
                  <c:v>0.114396739705</c:v>
                </c:pt>
                <c:pt idx="13">
                  <c:v>0.164261985217</c:v>
                </c:pt>
                <c:pt idx="14">
                  <c:v>0.191638982753</c:v>
                </c:pt>
                <c:pt idx="15">
                  <c:v>0.17886305057</c:v>
                </c:pt>
                <c:pt idx="16">
                  <c:v>0.130420974374</c:v>
                </c:pt>
                <c:pt idx="17">
                  <c:v>0.0716036722053</c:v>
                </c:pt>
                <c:pt idx="18">
                  <c:v>0.0278458725243</c:v>
                </c:pt>
                <c:pt idx="19">
                  <c:v>0.00683933711122</c:v>
                </c:pt>
                <c:pt idx="20">
                  <c:v>0.000797922662976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Flipped bits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0.25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C8D5D5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7F5F0"/>
        </a:solidFill>
      </c:spPr>
    </c:plotArea>
    <c:plotVisOnly val="1"/>
  </c:chart>
  <c:spPr>
    <a:solidFill xmlns:a="http://schemas.openxmlformats.org/drawingml/2006/main">
      <a:srgbClr val="F7F5F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ε = 0.01</c:v>
          </c:tx>
          <c:spPr>
            <a:ln xmlns:a="http://schemas.openxmlformats.org/drawingml/2006/main" w="28575">
              <a:solidFill>
                <a:srgbClr val="087F82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087F82"/>
              </a:solidFill>
            </c:spPr>
          </c:marker>
          <c:cat>
            <c:numRef>
              <c:f>'Chart Data'!$A$2:$A$8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</c:numCache>
            </c:numRef>
          </c:cat>
          <c:val>
            <c:numRef>
              <c:f>'Chart Data'!$B$2:$B$8</c:f>
              <c:numCache>
                <c:formatCode>0%</c:formatCode>
                <c:ptCount val="7"/>
                <c:pt idx="0">
                  <c:v>0.01</c:v>
                </c:pt>
                <c:pt idx="1">
                  <c:v>0.0198</c:v>
                </c:pt>
                <c:pt idx="2">
                  <c:v>0.03881592</c:v>
                </c:pt>
                <c:pt idx="3">
                  <c:v>0.0746184887</c:v>
                </c:pt>
                <c:pt idx="4">
                  <c:v>0.1381011397</c:v>
                </c:pt>
                <c:pt idx="5">
                  <c:v>0.2380584298</c:v>
                </c:pt>
                <c:pt idx="6">
                  <c:v>0.3627732276</c:v>
                </c:pt>
              </c:numCache>
            </c:numRef>
          </c:val>
        </c:ser>
        <c:ser>
          <c:idx val="1"/>
          <c:order val="1"/>
          <c:tx>
            <c:v>ε = 0.05</c:v>
          </c:tx>
          <c:spPr>
            <a:ln xmlns:a="http://schemas.openxmlformats.org/drawingml/2006/main" w="28575">
              <a:solidFill>
                <a:srgbClr val="CB5D4D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CB5D4D"/>
              </a:solidFill>
            </c:spPr>
          </c:marker>
          <c:cat>
            <c:numRef>
              <c:f>'Chart Data'!$C$2:$C$8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</c:numCache>
            </c:numRef>
          </c:cat>
          <c:val>
            <c:numRef>
              <c:f>'Chart Data'!$D$2:$D$8</c:f>
              <c:numCache>
                <c:formatCode>0%</c:formatCode>
                <c:ptCount val="7"/>
                <c:pt idx="0">
                  <c:v>0.05</c:v>
                </c:pt>
                <c:pt idx="1">
                  <c:v>0.095</c:v>
                </c:pt>
                <c:pt idx="2">
                  <c:v>0.17195</c:v>
                </c:pt>
                <c:pt idx="3">
                  <c:v>0.284766395</c:v>
                </c:pt>
                <c:pt idx="4">
                  <c:v>0.4073489906</c:v>
                </c:pt>
                <c:pt idx="5">
                  <c:v>0.4828315809</c:v>
                </c:pt>
                <c:pt idx="6">
                  <c:v>0.4994104908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Dependency size 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C8D5D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Odd-error probability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5F0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Aptos"/>
              <a:ea typeface="Aptos"/>
              <a:cs typeface="Aptos"/>
            </a:defRPr>
          </a:pPr>
        </a:p>
      </c:txPr>
    </c:legend>
    <c:plotVisOnly val="1"/>
  </c:chart>
  <c:spPr>
    <a:solidFill xmlns:a="http://schemas.openxmlformats.org/drawingml/2006/main">
      <a:srgbClr val="F7F5F0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0d79a297bd4c3f"/>
          <a:stretch xmlns:a="http://schemas.openxmlformats.org/drawingml/2006/main"/>
        </p:blipFill>
        <p:spPr>
          <a:xfrm xmlns:a="http://schemas.openxmlformats.org/drawingml/2006/main">
            <a:off x="4095750" y="603250"/>
            <a:ext cx="7762875" cy="517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C0706-3103-43D9-9B4C-B4A3AC0C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524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05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705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d-LIN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73043-824A-4525-8754-0D8F3623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5953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Sparse noisy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linear systems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7866B-0EFE-4472-ACF2-DB71AAE4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EXPERT SEMINAR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7A8F1F-907C-4056-A517-33EA6C63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5572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Definitions, assumptions and the ABW connection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F1D3D-5E50-4438-B226-FEA67479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Prajjwal Saxena’s notes, revised with ABW09</a:t>
            </a:r>
          </a:p>
        </p:txBody>
      </p:sp>
    </p:spTree>
    <p:extLst>
      <p:ext uri="{BB962C8B-B14F-4D97-AF65-F5344CB8AC3E}">
        <p14:creationId xmlns:p14="http://schemas.microsoft.com/office/powerpoint/2010/main" val="3343552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FB186-255D-49A8-99A2-BE9074C9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The sampled d-LIN distribution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1A909-F414-4FD8-AEBC-5958FC78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EXPERT SEMINAR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507E9-89FF-457C-8FC6-1C56F39D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80045-87BE-4B15-A983-6ACF6C09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10858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M ← M(m, n, d)     x ← U(F₂ⁿ)     e ← Ber(ε)ᵐ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CBE0B-16AA-46F6-8C87-4C8E9B5B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(M, b) = (M, Mx + e)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66750" y="4171950"/>
          <a:ext xmlns:a="http://schemas.openxmlformats.org/drawingml/2006/main" cx="10858500" cy="1724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191500"/>
              </a:tblGrid>
              <a:tr h="43100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Parameter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Role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</a:tr>
              <a:tr h="43100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m / n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Equation count relative to variable count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43100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d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Exactly d ones in each matrix row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43100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ε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Independent output-flip probability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EC945-0803-40BE-9B11-E676756F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All arithmetic in the sampled system is over F₂.</a:t>
            </a:r>
          </a:p>
        </p:txBody>
      </p:sp>
    </p:spTree>
    <p:extLst>
      <p:ext uri="{BB962C8B-B14F-4D97-AF65-F5344CB8AC3E}">
        <p14:creationId xmlns:p14="http://schemas.microsoft.com/office/powerpoint/2010/main" val="8087550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4D4143-801E-4906-AAB7-5B6F23B7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Sparse rows encode local constraints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5742B-2A14-464D-A791-0024D01B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EXPERT SEMINAR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A88F1-5C4D-449F-8F45-EC020F60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747e45928d48c4"/>
          <a:stretch xmlns:a="http://schemas.openxmlformats.org/drawingml/2006/main"/>
        </p:blipFill>
        <p:spPr>
          <a:xfrm xmlns:a="http://schemas.openxmlformats.org/drawingml/2006/main">
            <a:off x="842963" y="1600200"/>
            <a:ext cx="6000750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2B767-2777-46BB-9F18-4B198C74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819275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bᵢ = ⨁ xⱼ + eᵢ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E2590-C046-4C69-8E5C-8A7A6A31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647950"/>
            <a:ext cx="3733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j in the support of row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9A2BC-5E74-4F1A-B05F-2744A4F6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429000"/>
            <a:ext cx="38671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|supp(Mᵢ)| = 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Column weights can vary.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The row ensemble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AF51D-8265-4A99-8BBE-6C762FE1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The diagram shows a noiseless row. Add eᵢ to model its observed output.</a:t>
            </a:r>
          </a:p>
        </p:txBody>
      </p:sp>
    </p:spTree>
    <p:extLst>
      <p:ext uri="{BB962C8B-B14F-4D97-AF65-F5344CB8AC3E}">
        <p14:creationId xmlns:p14="http://schemas.microsoft.com/office/powerpoint/2010/main" val="18202500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A4018-39BE-4599-8935-B2F27907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ABW task definitions and a separate optimization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D959E-08FA-4E1F-9AFD-4B8971CA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EXPERT SEMINAR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2DD27-8DE9-4899-BEB0-486D4739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552575"/>
          <a:ext xmlns:a="http://schemas.openxmlformats.org/drawingml/2006/main" cx="10858500" cy="3324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524750"/>
              </a:tblGrid>
              <a:tr h="66484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Task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Target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</a:tr>
              <a:tr h="66484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Search3LIN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Recover the sampled x, with success at least 2/3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6484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AppSearch3LIN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Return x̂ with dH(x̂, x) ≤ 0.1n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6484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Decision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Distinguish (M, Mx + e) from (M, u), u uniform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6484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Residual optimization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Minimize wt(Mz − b) over z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78C74-2E80-4161-A64B-1134821C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For even d, M1 = 0, so x and x + 1 produce identical clean labels.</a:t>
            </a:r>
          </a:p>
        </p:txBody>
      </p:sp>
    </p:spTree>
    <p:extLst>
      <p:ext uri="{BB962C8B-B14F-4D97-AF65-F5344CB8AC3E}">
        <p14:creationId xmlns:p14="http://schemas.microsoft.com/office/powerpoint/2010/main" val="3808325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9AC93-9D41-4FB7-A7DB-602CA52F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Error count: expectation and concentration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50731-D83E-4B9A-AD86-42E1A66F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EXPERT SEMINAR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5135D-B31B-4B12-A1E7-04810895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86A43-79A2-4449-8E45-2C53ECBC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62100"/>
            <a:ext cx="600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Illustration: m = 20, ε = 0.10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4E715-64C8-4CF4-B142-074E782E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552575"/>
            <a:ext cx="4267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W ∼ Binomial(m, ε)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02F17C-8094-4A18-A5CC-10C801B5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33650"/>
            <a:ext cx="42767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E[W] = mε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Var(W) = mε(1 − ε)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715BA-1437-445D-B652-F99F3991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114800"/>
            <a:ext cx="425767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Pr[W/m &gt; ε + t]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≤ exp(−2mt²)    (t &gt; 0)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F112B-E599-4F0C-B299-C2DCFAB1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A high-probability bound needs slack above ε, or a separate tail calculation.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23875" y="2009775"/>
          <a:ext xmlns:a="http://schemas.openxmlformats.org/drawingml/2006/main" cx="6524625" cy="35337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a768d7aa0847be"/>
          </a:graphicData>
        </a:graphic>
      </p:graphicFrame>
    </p:spTree>
    <p:extLst>
      <p:ext uri="{BB962C8B-B14F-4D97-AF65-F5344CB8AC3E}">
        <p14:creationId xmlns:p14="http://schemas.microsoft.com/office/powerpoint/2010/main" val="6150540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85C5D-8DCA-4FD7-BED2-9EF63703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The same error model at three noise rates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9FDD6-FD5B-4187-9613-FBE015A0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EXPERT SEMINAR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CF3ED-F49F-4E12-9491-E406263E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D5C9D-74E2-4C3F-B59D-B3F162BF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W ∼ Binomial(20, ε)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5FEC0-82AE-42EB-9312-0D409DFB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240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ε = 0.5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228600" y="2428875"/>
          <a:ext xmlns:a="http://schemas.openxmlformats.org/drawingml/2006/main" cx="381000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93845ec17b441b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6D1FC-BA75-4B42-8B91-201EB44B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149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Mean =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55A7B-10AA-4593-B0FB-86912BD8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240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ε = 0.25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4210050" y="2428875"/>
          <a:ext xmlns:a="http://schemas.openxmlformats.org/drawingml/2006/main" cx="381000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8e85f2579447f4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940EC-AB57-4558-965A-9D46E58C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3149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Mean =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364DF-631C-406E-877A-301D52A3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240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CB5D4D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CB5D4D"/>
                </a:solidFill>
                <a:latin typeface="Aptos"/>
                <a:ea typeface="Aptos"/>
                <a:cs typeface="Aptos"/>
              </a:rPr>
              <a:t>ε = 0.7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8191500" y="2428875"/>
          <a:ext xmlns:a="http://schemas.openxmlformats.org/drawingml/2006/main" cx="381000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2f93693e9f4973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78C90-BD18-4DEC-B925-3A21484E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149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B5D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B5D4D"/>
                </a:solidFill>
                <a:latin typeface="Aptos"/>
                <a:ea typeface="Aptos"/>
                <a:cs typeface="Aptos"/>
              </a:rPr>
              <a:t>Mean = 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B9C909-9E4A-493B-A131-32DC5700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245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ε = 0.5 hides x completely.  Flipping all labels changes ε = 0.7 into ε = 0.3.</a:t>
            </a:r>
          </a:p>
        </p:txBody>
      </p:sp>
    </p:spTree>
    <p:extLst>
      <p:ext uri="{BB962C8B-B14F-4D97-AF65-F5344CB8AC3E}">
        <p14:creationId xmlns:p14="http://schemas.microsoft.com/office/powerpoint/2010/main" val="14984829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A7B2AF-8154-4229-8CBC-E3105E16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Distance to the planted output and to the image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7F724-E89A-483E-A2F4-0EF6CF3A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EXPERT SEMINAR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3E2BF-DC7D-4C8A-B8C0-40D77F21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4b9408a50e4b81"/>
          <a:stretch xmlns:a="http://schemas.openxmlformats.org/drawingml/2006/main"/>
        </p:blipFill>
        <p:spPr>
          <a:xfrm xmlns:a="http://schemas.openxmlformats.org/drawingml/2006/main">
            <a:off x="957263" y="1952625"/>
            <a:ext cx="5429250" cy="3619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63459-36FE-415C-8B89-EE60B99E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657350"/>
            <a:ext cx="4238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C = Im(M)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76D2D-B80B-41F0-807C-7DA0661B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695575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dH(b, Mx) = wt(e)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C03D5-8EA4-4848-A13E-55B44EDA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629025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dH(b, C) ≤ wt(e)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E7171D-2EE9-4549-8434-306DD70A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733925"/>
            <a:ext cx="42195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E[dH(b, C)] ≤ mε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B3795-A4F6-4AC4-972B-7306777B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Equality to the planted distance does not imply equality to the nearest-image distance.</a:t>
            </a:r>
          </a:p>
        </p:txBody>
      </p:sp>
    </p:spTree>
    <p:extLst>
      <p:ext uri="{BB962C8B-B14F-4D97-AF65-F5344CB8AC3E}">
        <p14:creationId xmlns:p14="http://schemas.microsoft.com/office/powerpoint/2010/main" val="15878514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3364B-0E6A-485F-8C44-63065B6D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The notes’ toy instance has an exact fit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B635A-715C-4C20-8F3D-EE693C52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EXPERT SEMINAR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5B4F2-1341-42A3-9979-CDF64FCA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62E32-215C-4909-879F-BA3DED68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76425"/>
            <a:ext cx="461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90550" y="2352675"/>
          <a:ext xmlns:a="http://schemas.openxmlformats.org/drawingml/2006/main" cx="4619625" cy="2600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23925"/>
                <a:gridCol w="923925"/>
                <a:gridCol w="923925"/>
                <a:gridCol w="923925"/>
                <a:gridCol w="923925"/>
              </a:tblGrid>
              <a:tr h="6500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500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</a:tr>
              <a:tr h="6500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500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4087B-949A-43CF-A43E-B7180C82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714500"/>
            <a:ext cx="5334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625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b = (1, 1, 0, 1)ᵀ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2DB67-FE91-450C-A235-E64D067E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657475"/>
            <a:ext cx="53530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Sampled x = (1, 0, 1, 0, 1)ᵀ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Residual weight =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E5FA8-E19C-4B88-B42B-9CAFB407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429125"/>
            <a:ext cx="5353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x′ = (0, 1, 0, 0, 0)ᵀ</a:t>
            </a:r>
          </a:p>
          <a:p xmlns:a="http://schemas.openxmlformats.org/drawingml/2006/main">
            <a:pPr algn="l">
              <a:buNone/>
              <a:defRPr sz="2475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Mx′ =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6E1C2F-0ECA-4558-8863-12B4240F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rank(M) = 4, so Im(M) = F₂⁴.  A planted error need not create distance from the image.</a:t>
            </a:r>
          </a:p>
        </p:txBody>
      </p:sp>
    </p:spTree>
    <p:extLst>
      <p:ext uri="{BB962C8B-B14F-4D97-AF65-F5344CB8AC3E}">
        <p14:creationId xmlns:p14="http://schemas.microsoft.com/office/powerpoint/2010/main" val="20573652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4B97C-506D-44FB-BA57-6117FF6C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Hardness depends on the ensemble and task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274DE1-725D-4427-9335-50A4C3BA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EXPERT SEMINAR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18E49-4725-48C2-B3D7-A11377D2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1600200"/>
          <a:ext xmlns:a="http://schemas.openxmlformats.org/drawingml/2006/main" cx="10858500" cy="3495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620000"/>
              </a:tblGrid>
              <a:tr h="69913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Specification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Why it changes the claim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</a:tr>
              <a:tr h="69913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Matrix distribution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Row supports, dependencies and rank affect information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9913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Parameters m, n, d, ε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Sample density and noise affect attack costs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9913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Success criterion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Exact recovery, approximation and advantage differ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9913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Adversary model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PPT, restricted circuit classes and other models differ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1BD1B-9F7B-4F08-A8F6-C6EF66FB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149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2ⁿ candidate assignments ≠ a hardness proof</a:t>
            </a:r>
          </a:p>
        </p:txBody>
      </p:sp>
    </p:spTree>
    <p:extLst>
      <p:ext uri="{BB962C8B-B14F-4D97-AF65-F5344CB8AC3E}">
        <p14:creationId xmlns:p14="http://schemas.microsoft.com/office/powerpoint/2010/main" val="16626474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79536-6356-402C-9101-6DC3D7CE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Theorem 2: PKE from 3-LIN alone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459D1-4CC7-4FCC-AECA-568E5687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EXPERT SEMINAR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A83BA-630D-4D34-80D6-56EFF97D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68EC1-4DC4-479C-A5A8-3F0DA8DA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10858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4425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3LIN(c n¹·⁴, n⁻⁰·² / c)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66B5B-0E34-4627-8528-731EDF7F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06108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70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For a suitable constant c, this assumption implies semantically secure public-key encryption.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4191000"/>
          <a:ext xmlns:a="http://schemas.openxmlformats.org/drawingml/2006/main" cx="10858500" cy="1828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67125"/>
                <a:gridCol w="7191375"/>
              </a:tblGrid>
              <a:tr h="457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Parameter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Asymptotic role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m = Θ(n¹·⁴)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Superlinear number of sparse equations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ε = Θ(n⁻⁰·²)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Noise decreases, expected count is Θ(n¹·²)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DUE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No DUE assumption in this theorem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8361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D1FFF-1CF8-4DE5-94BA-73E36194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Theorem 3: d-LIN together with DUE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39BE69-DD78-4ED3-8047-0224CAFA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EXPERT SEMINAR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E1FFF-BD8B-44F4-A43C-B1FC66ED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77AC4-EDA9-4FF3-9D98-CECD37E4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dLIN(c′ n log n, 1 / (c′q))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DB259-7932-440D-B9CF-E2BCF073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CB5D4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CB5D4D"/>
                </a:solidFill>
                <a:latin typeface="Aptos"/>
                <a:ea typeface="Aptos"/>
                <a:cs typeface="Aptos"/>
              </a:rPr>
              <a:t>DUE(cn, q, 2d)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2F024-2953-4310-8837-CE6FDC04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10620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475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Both assumptions imply semantically secure PKE for the theorem’s parameter regime.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221FC-5578-4FAE-A663-B6E7E7EA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06203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DUE hides a set of q rows supported on only q/3 columns. The public matrix has locality 2d.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E4661-11AC-4BAE-8575-F9B8552B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91225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Here q counts planted rows. It is unrelated to the modulus q used in LWE.</a:t>
            </a:r>
          </a:p>
        </p:txBody>
      </p:sp>
    </p:spTree>
    <p:extLst>
      <p:ext uri="{BB962C8B-B14F-4D97-AF65-F5344CB8AC3E}">
        <p14:creationId xmlns:p14="http://schemas.microsoft.com/office/powerpoint/2010/main" val="12949056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2BFA9-DFE4-4D15-9562-05ABE834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d-LIN, LPN, LWE and Module-LWE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8FDE0-BE6E-4BC3-9491-0839109E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EXPERT SEMINAR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B1BEA-DA09-4585-B9B1-AD1ADA65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685925"/>
          <a:ext xmlns:a="http://schemas.openxmlformats.org/drawingml/2006/main" cx="108585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5238750"/>
                <a:gridCol w="3667125"/>
              </a:tblGrid>
              <a:tr h="6762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Problem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Linear structure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Error model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d-LIN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Binary rows with exactly d ones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Independent bit flips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LPN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Uniform binary rows, typically dense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Independent bit flips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LWE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Uniform matrices over Zq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Small centered modular errors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Module-LWE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Polynomial matrices over Rq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Small polynomial coefficients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3EA12-9559-44B9-B137-1BE5173B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Changing the matrix distribution or the noise changes the assumption.</a:t>
            </a:r>
          </a:p>
        </p:txBody>
      </p:sp>
    </p:spTree>
    <p:extLst>
      <p:ext uri="{BB962C8B-B14F-4D97-AF65-F5344CB8AC3E}">
        <p14:creationId xmlns:p14="http://schemas.microsoft.com/office/powerpoint/2010/main" val="12826662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F9654-CBF2-4951-A9F8-B3F38B50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LWE and Module-LWE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7AA32-CD3B-466D-946C-5F4925BB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EXPERT SEMINAR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9720E-3113-41FF-AB62-AF5103DB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BB2B7-F2DF-42B0-BE04-CB43CBBB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LWE:   b = As + e  (mod q)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C3890B-F617-4B4F-9811-26927606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525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A contains ordinary modular coefficients. Small errors perturb the outputs.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A1825-7330-448E-BD53-3CDEFC81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29025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Module-LWE:   t = As + e  in Rqᵏ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EC9E7-55FD-41B0-A8FD-97E6027A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0532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A, s and e contain polynomials. Coefficient expansion creates correlated convolution blocks.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693A6B-278D-460C-9037-E4DAFA89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Module structure is different from fixing d nonzero bits in each d-LIN row.</a:t>
            </a:r>
          </a:p>
        </p:txBody>
      </p:sp>
    </p:spTree>
    <p:extLst>
      <p:ext uri="{BB962C8B-B14F-4D97-AF65-F5344CB8AC3E}">
        <p14:creationId xmlns:p14="http://schemas.microsoft.com/office/powerpoint/2010/main" val="4984006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29C01-DC8E-41E6-8852-BE314D62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What hardness support each setting provides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4EFF6-D225-4712-99E0-D92AE14F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EXPERT SEMINAR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11E98-1AF1-446C-B3FB-7D048664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600200"/>
          <a:ext xmlns:a="http://schemas.openxmlformats.org/drawingml/2006/main" cx="108585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096250"/>
              </a:tblGrid>
              <a:tr h="6515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Setting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Relevant support and its limits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d-LIN / ABW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Average-case assumption, task reductions and restricted attack evidence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LPN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Separate binary-noise assumptions. PKE depends on parameters and quantitative hardness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LWE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Worst-case lattice reductions under specified parameters and error laws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Module-LWE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Reductions from module-lattice problems under specified conditions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3732C-B83A-448E-B188-FEA8A279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054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The original LWE and Module-LWE reductions cited here are quantum reductions.</a:t>
            </a:r>
          </a:p>
        </p:txBody>
      </p:sp>
    </p:spTree>
    <p:extLst>
      <p:ext uri="{BB962C8B-B14F-4D97-AF65-F5344CB8AC3E}">
        <p14:creationId xmlns:p14="http://schemas.microsoft.com/office/powerpoint/2010/main" val="16917620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0DC62-34C4-4C3B-BC89-8870B4AC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A short row dependency removes 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28CFD-31AD-4561-AFCF-93631A79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EXPERT SEMINAR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72A2D-2374-4A61-8AC4-6676804B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AD174-E55C-41C4-88D4-CDDE9AA8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95475"/>
            <a:ext cx="569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Four 3-sparse rows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90550" y="2371725"/>
          <a:ext xmlns:a="http://schemas.openxmlformats.org/drawingml/2006/main" cx="56959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49325"/>
                <a:gridCol w="949325"/>
                <a:gridCol w="949325"/>
                <a:gridCol w="949325"/>
                <a:gridCol w="949325"/>
                <a:gridCol w="949325"/>
              </a:tblGrid>
              <a:tr h="642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66A74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087F82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133350" marR="95250" marT="95250" marB="76200" anchor="ctr">
                    <a:solidFill>
                      <a:srgbClr val="E4EDE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AD9CF-FA7F-4FD9-889A-094142EA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943100"/>
            <a:ext cx="4429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Σᵢ∈S Mᵢ =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50937-9A7F-47C8-A30C-6552C24D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257550"/>
            <a:ext cx="4429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Σᵢ∈S bᵢ = Σᵢ∈S eᵢ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07F10-AE99-4E67-B448-38DA0434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791075"/>
            <a:ext cx="4229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The hidden assignment cancels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when the selected rows sum to zero.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B2177-BB43-49C2-81F6-D0F46D0C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Each column appears twice in this illustrative dependency.</a:t>
            </a:r>
          </a:p>
        </p:txBody>
      </p:sp>
    </p:spTree>
    <p:extLst>
      <p:ext uri="{BB962C8B-B14F-4D97-AF65-F5344CB8AC3E}">
        <p14:creationId xmlns:p14="http://schemas.microsoft.com/office/powerpoint/2010/main" val="8582832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3B504-A5C2-4FCF-B81D-5E0ED7DE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The ABW bit-encryption mechanism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8E706-F49D-4351-AF1B-6E0E3E5D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EXPERT SEMINAR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534EC-297A-4563-8CDE-E1D4F9DE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1590675"/>
          <a:ext xmlns:a="http://schemas.openxmlformats.org/drawingml/2006/main" cx="10858500" cy="1276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00525"/>
                <a:gridCol w="6657975"/>
              </a:tblGrid>
              <a:tr h="63817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Public key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Secret key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Sparse matrix M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Short set S with Σᵢ∈S Mᵢ = 0 and m ∈ 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1ED4C-72CE-4681-8A54-27EF3B61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042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Enc(σ) = Mx + e + σuₘ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6582F-9138-4B62-B607-AD6001E6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7725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Dec(c) = Σᵢ∈S cᵢ = σ + Σᵢ∈S eᵢ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7E591-012A-42FD-A9E2-64F503AA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σ is the message bit. uₘ has a 1 only in the last position.</a:t>
            </a:r>
          </a:p>
          <a:p xmlns:a="http://schemas.openxmlformats.org/drawingml/2006/main">
            <a:pPr algn="l"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Fresh x and e randomize every encryption.</a:t>
            </a:r>
          </a:p>
        </p:txBody>
      </p:sp>
    </p:spTree>
    <p:extLst>
      <p:ext uri="{BB962C8B-B14F-4D97-AF65-F5344CB8AC3E}">
        <p14:creationId xmlns:p14="http://schemas.microsoft.com/office/powerpoint/2010/main" val="16506519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2C530-C552-47E5-93E3-49D5327C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Key generation must hide the short dependency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1F133-3913-4A2C-9A42-C8D82C6D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EXPERT SEMINAR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5F4A6-DCF2-4BF8-93A7-2FA18758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5E19D-4CEC-469F-B6F8-32A8CE44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501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Theorem 2 route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D1AAC-C4AE-452D-9A72-BD2D9D52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4886325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Condition an appropriate random 3-sparse ensemble on a short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The proof establishes sufficient statistical overlap.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F9043-21EF-47E7-BAF3-CF78C325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628775"/>
            <a:ext cx="491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B5D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B5D4D"/>
                </a:solidFill>
                <a:latin typeface="Aptos"/>
                <a:ea typeface="Aptos"/>
                <a:cs typeface="Aptos"/>
              </a:rPr>
              <a:t>Theorem 3 route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48E98-856E-45BA-9FEF-35D5CB43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95550"/>
            <a:ext cx="4829175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Plant a shrinking set of rows with too few neighbors.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DUE controls whether an observer can detect this structure.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F3F1B-2F40-48AF-ACB8-8284F45A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Finding an arbitrary left-kernel vector does not implement the required short trapdoor.</a:t>
            </a:r>
          </a:p>
        </p:txBody>
      </p:sp>
    </p:spTree>
    <p:extLst>
      <p:ext uri="{BB962C8B-B14F-4D97-AF65-F5344CB8AC3E}">
        <p14:creationId xmlns:p14="http://schemas.microsoft.com/office/powerpoint/2010/main" val="11663187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3F5BE4-8DF3-425F-B773-CAD2EDBE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Noise accumulates along the dependency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E1634-1E06-407F-9C6D-59465A02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EXPERT SEMINAR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87BF2-18DE-4756-9EB0-E3C5DBE4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2B322-54BC-4CE9-8201-B38F88B6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95475"/>
            <a:ext cx="3848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p = [1 − (1 − 2ε)ʳ] /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F3309-1A5E-4E96-B30F-55C7CFBB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62325"/>
            <a:ext cx="38004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p ≤ rε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8FA1F-2B65-4DFE-995E-790C655D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81525"/>
            <a:ext cx="35909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Short dependencies preserve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a useful parity bias.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23C7D-1CEF-4D5C-8179-F7203757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The horizontal labels double r at each step. Values follow the independent-noise model.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23875" y="1952625"/>
          <a:ext xmlns:a="http://schemas.openxmlformats.org/drawingml/2006/main" cx="70866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78001c89134c19"/>
          </a:graphicData>
        </a:graphic>
      </p:graphicFrame>
    </p:spTree>
    <p:extLst>
      <p:ext uri="{BB962C8B-B14F-4D97-AF65-F5344CB8AC3E}">
        <p14:creationId xmlns:p14="http://schemas.microsoft.com/office/powerpoint/2010/main" val="10980901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2CE0D-AF9F-49E4-B92E-EB34CD65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Weak encryption and amplification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E86F0-E346-429D-930E-1A76B1F1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EXPERT SEMINAR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1B1E6B-D866-436D-BB24-257AFADF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03166-898F-4C2A-8A66-1CCA7565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085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4275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α &lt; (1 − √β) /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82402-DE47-47DB-B9ED-9B3CBA9F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ABW first obtains constant correctness and privacy. Amplification gives semantic security and reliable encryption.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4191000"/>
          <a:ext xmlns:a="http://schemas.openxmlformats.org/drawingml/2006/main" cx="10858500" cy="1828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76675"/>
                <a:gridCol w="6981825"/>
              </a:tblGrid>
              <a:tr h="457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Quantity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Meaning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α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Raw decryption-error bound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β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ABW privacy parameter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Section 7 noise conversion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εcipher = 2η(1 − η), where η is search noise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69724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E9D2B-5586-4F44-91C0-8E2910F4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Evidence covers particular attack families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4B904-A249-4EE0-BF7F-B8A27EFE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EXPERT SEMINAR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CF605-F14C-4A2A-B807-688240EB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108585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91050"/>
                <a:gridCol w="6267450"/>
              </a:tblGrid>
              <a:tr h="73818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Family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Scope of the evidence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Myopic algorithms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Restricted access to noisy outputs or their combinations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Low-degree polynomials / AC⁰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Restricted algebraic or circuit computation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Lasserre / SDP hierarchy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Specified relaxation levels and parameter regimes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8421A-37B4-48C5-AA9D-7C4A10CD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A cryptographic assumption remains after these restricted lower bounds.</a:t>
            </a:r>
          </a:p>
        </p:txBody>
      </p:sp>
    </p:spTree>
    <p:extLst>
      <p:ext uri="{BB962C8B-B14F-4D97-AF65-F5344CB8AC3E}">
        <p14:creationId xmlns:p14="http://schemas.microsoft.com/office/powerpoint/2010/main" val="13655479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29175-34E8-448B-BE3C-6E6176E1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Reasons to study d-LIN for public keys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89A94-D8A6-4BF5-A26E-7AE4606D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EXPERT SEMINAR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D61F4-BC20-454E-9411-F4AA89B1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18A8AA-E484-4434-A6CD-61C82417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A different foundation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C5E1A-4AC4-4428-870E-A176ADEE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10591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ABW connects natural sparse noisy constraints to public-key encryption.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08ED1-88EE-4B29-B42F-2AB6EC66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Simple local arithmetic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7151B-8E74-42A4-A088-579039FC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10477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Core evaluation uses O(md) bit operations. Row index lists use O(md log n) bits.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8DE0BA-6F7C-4D28-81AE-DA30E737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2442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A proved conditional construction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11B6E-77C3-4089-8F6E-4CBDC3A0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Theorems turn specified average-case hardness assumptions into semantic security.</a:t>
            </a:r>
          </a:p>
        </p:txBody>
      </p:sp>
    </p:spTree>
    <p:extLst>
      <p:ext uri="{BB962C8B-B14F-4D97-AF65-F5344CB8AC3E}">
        <p14:creationId xmlns:p14="http://schemas.microsoft.com/office/powerpoint/2010/main" val="185052960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50DC2-166C-4573-8032-07E2A56E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Costs and unresolved issues for public keys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2E79D-33D0-4196-A2B4-CA776880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EXPERT SEMINAR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FF19A-8DEA-4450-90A2-D209D92D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A90D7-48C0-4BF0-B214-BEAC9717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501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Security assumptions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2A775-E3A9-449D-AD36-43CB2D9B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4886325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Parameters and sampling matter.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A short hidden dependency must remain hard to exploit.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Restricted attack evidence leaves a general hardness assumption.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BF945-5C01-4E74-9E58-17BAB0D3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647825"/>
            <a:ext cx="491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B5D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B5D4D"/>
                </a:solidFill>
                <a:latin typeface="Aptos"/>
                <a:ea typeface="Aptos"/>
                <a:cs typeface="Aptos"/>
              </a:rPr>
              <a:t>Implementation costs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B7553-A7C4-4D6C-94E0-5377C983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14600"/>
            <a:ext cx="4829175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Noise and dependency length compete with correctness.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Amplification adds overhead.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Concrete parameters, CCA security and quantum analysis need more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024CF-DB0D-438D-AD21-7246D269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245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Cheap sparse XOR operations alone do not establish an efficient final cryptosystem.</a:t>
            </a:r>
          </a:p>
        </p:txBody>
      </p:sp>
    </p:spTree>
    <p:extLst>
      <p:ext uri="{BB962C8B-B14F-4D97-AF65-F5344CB8AC3E}">
        <p14:creationId xmlns:p14="http://schemas.microsoft.com/office/powerpoint/2010/main" val="34958179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99133-5641-499E-8916-69928097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ABW and a concrete Module-LWE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4FC4C-AE2B-4EBB-A455-8505910F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EXPERT SEMINAR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4BBBE-346A-4905-90E1-B7667E54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10858500" cy="3552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029075"/>
                <a:gridCol w="4829175"/>
              </a:tblGrid>
              <a:tr h="71056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Aspect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ABW d-LIN construction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ML-KEM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</a:tr>
              <a:tr h="71056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Role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Asymptotic PKE existence result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Standardized key encapsulation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71056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Security statement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Semantic security under stated assumptions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IND-CCA2 goal under Module-LWE and proof conditions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71056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Parameters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No concrete 128-bit set in ABW09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ML-KEM-512 / 768 / 1024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71056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Example sizes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No like-for-like benchmark here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ML-KEM-768: key 1184 B, ciphertext 1088 B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A56CE-61B2-40EF-A97E-BB8B80D5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PKE encrypts messages. A KEM establishes a shared secret for a larger protocol.</a:t>
            </a:r>
          </a:p>
        </p:txBody>
      </p:sp>
    </p:spTree>
    <p:extLst>
      <p:ext uri="{BB962C8B-B14F-4D97-AF65-F5344CB8AC3E}">
        <p14:creationId xmlns:p14="http://schemas.microsoft.com/office/powerpoint/2010/main" val="3265330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4B9B2-B0AD-43B3-8913-24118345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Reading path and main distinctions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94FDE-E66C-4DE5-B939-9ED1ED01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EXPERT SEMINAR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44195-D2D4-4708-B4E0-6C3B3769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2990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7667625"/>
              </a:tblGrid>
              <a:tr h="59817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Question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Key distinction</a:t>
                      </a:r>
                    </a:p>
                  </a:txBody>
                  <a:tcPr marL="133350" marR="95250" marT="95250" marB="76200" anchor="ctr">
                    <a:solidFill>
                      <a:srgbClr val="112F43"/>
                    </a:solidFill>
                  </a:tcPr>
                </a:tc>
              </a:tr>
              <a:tr h="59817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What is the task?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Exact recovery, approximate recovery, decision or residual fitting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59817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What makes it hard?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A precise sampled distribution and an unproved average-case assumption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59817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What does ABW prove?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Semantic-security existence under specific theorem hypotheses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  <a:tr h="59817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How does it compare?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F43"/>
                          </a:solidFill>
                          <a:latin typeface="Aptos"/>
                          <a:ea typeface="Aptos"/>
                          <a:cs typeface="Aptos"/>
                        </a:rPr>
                        <a:t>Same noisy-linear template, different distributions and reductions</a:t>
                      </a:r>
                    </a:p>
                  </a:txBody>
                  <a:tcPr marL="133350" marR="95250" marT="95250" marB="76200" anchor="ctr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919A8-2B16-46E5-B3AD-5F690C0C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ABW09: §§2, 5–7 and 9</a:t>
            </a:r>
          </a:p>
          <a:p xmlns:a="http://schemas.openxmlformats.org/drawingml/2006/main">
            <a:pPr algn="l">
              <a:defRPr sz="1950" b="0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2F43"/>
                </a:solidFill>
                <a:latin typeface="Aptos"/>
                <a:ea typeface="Aptos"/>
                <a:cs typeface="Aptos"/>
              </a:rPr>
              <a:t>Regev on LWE, Langlois–Stehlé on Module-LWE, NIST FIPS 203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7A431-EE3D-4E45-AB01-8E7571D4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24550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Technical definitions and source links appear in the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20051373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2026-10-05T14:36:22.1430000Z</dcterms:created>
  <dcterms:modified xsi:type="dcterms:W3CDTF">2026-10-05T14:36:22.1430000Z</dcterms:modified>
</coreProperties>
</file>