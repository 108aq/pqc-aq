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67aff9916c46e0" /><Relationship Type="http://schemas.openxmlformats.org/officeDocument/2006/relationships/extended-properties" Target="/docProps/app.xml" Id="R10a5f70ddd9745ae" /><Relationship Type="http://schemas.openxmlformats.org/officeDocument/2006/relationships/officeDocument" Target="/ppt/presentation.xml" Id="Rf9e12c4f1e7142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d2b1764f6949eb"/>
  </p:sldMasterIdLst>
  <p:notesMasterIdLst>
    <p:notesMasterId xmlns:r="http://schemas.openxmlformats.org/officeDocument/2006/relationships" r:id="R847b3f04a4064954"/>
  </p:notesMasterIdLst>
  <p:sldIdLst>
    <p:sldId xmlns:r="http://schemas.openxmlformats.org/officeDocument/2006/relationships" id="256" r:id="R644f82f0e261420f"/>
    <p:sldId xmlns:r="http://schemas.openxmlformats.org/officeDocument/2006/relationships" id="257" r:id="Rce19ae67db1e4ba9"/>
    <p:sldId xmlns:r="http://schemas.openxmlformats.org/officeDocument/2006/relationships" id="258" r:id="R3b1ad80def46432b"/>
    <p:sldId xmlns:r="http://schemas.openxmlformats.org/officeDocument/2006/relationships" id="259" r:id="R8ce5b66db86149e7"/>
    <p:sldId xmlns:r="http://schemas.openxmlformats.org/officeDocument/2006/relationships" id="260" r:id="R5e1cf87e6317463c"/>
    <p:sldId xmlns:r="http://schemas.openxmlformats.org/officeDocument/2006/relationships" id="261" r:id="Re88e707326c047bd"/>
    <p:sldId xmlns:r="http://schemas.openxmlformats.org/officeDocument/2006/relationships" id="262" r:id="R71bbee0d71f84a2e"/>
    <p:sldId xmlns:r="http://schemas.openxmlformats.org/officeDocument/2006/relationships" id="263" r:id="Ra4be142cebf44ff0"/>
    <p:sldId xmlns:r="http://schemas.openxmlformats.org/officeDocument/2006/relationships" id="264" r:id="R2fe62b83c8434f73"/>
    <p:sldId xmlns:r="http://schemas.openxmlformats.org/officeDocument/2006/relationships" id="265" r:id="Rb67b83303d9c4ff7"/>
    <p:sldId xmlns:r="http://schemas.openxmlformats.org/officeDocument/2006/relationships" id="266" r:id="R2e1dc5c22c394a8a"/>
    <p:sldId xmlns:r="http://schemas.openxmlformats.org/officeDocument/2006/relationships" id="267" r:id="R1ed8b6ce931346d0"/>
    <p:sldId xmlns:r="http://schemas.openxmlformats.org/officeDocument/2006/relationships" id="268" r:id="R2ced754c39314601"/>
    <p:sldId xmlns:r="http://schemas.openxmlformats.org/officeDocument/2006/relationships" id="269" r:id="Rb7a816e43ac94fe3"/>
    <p:sldId xmlns:r="http://schemas.openxmlformats.org/officeDocument/2006/relationships" id="270" r:id="Rfd2f50d769684ffe"/>
    <p:sldId xmlns:r="http://schemas.openxmlformats.org/officeDocument/2006/relationships" id="271" r:id="R599d5405bbbb45a5"/>
    <p:sldId xmlns:r="http://schemas.openxmlformats.org/officeDocument/2006/relationships" id="272" r:id="Rae2acf2d37fa45bf"/>
    <p:sldId xmlns:r="http://schemas.openxmlformats.org/officeDocument/2006/relationships" id="273" r:id="R811cb04a993949b1"/>
    <p:sldId xmlns:r="http://schemas.openxmlformats.org/officeDocument/2006/relationships" id="274" r:id="R62e8dd0cc7f348a3"/>
    <p:sldId xmlns:r="http://schemas.openxmlformats.org/officeDocument/2006/relationships" id="275" r:id="Rbc4f2df5b0d347c1"/>
    <p:sldId xmlns:r="http://schemas.openxmlformats.org/officeDocument/2006/relationships" id="276" r:id="R50146563a4174e6d"/>
    <p:sldId xmlns:r="http://schemas.openxmlformats.org/officeDocument/2006/relationships" id="277" r:id="R57e7eac512604a73"/>
    <p:sldId xmlns:r="http://schemas.openxmlformats.org/officeDocument/2006/relationships" id="278" r:id="Rf23bce52e4e844bf"/>
    <p:sldId xmlns:r="http://schemas.openxmlformats.org/officeDocument/2006/relationships" id="279" r:id="Raf2988203e614c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07514fcbc24728" /><Relationship Type="http://schemas.openxmlformats.org/officeDocument/2006/relationships/slideMaster" Target="/ppt/slideMasters/slideMaster1.xml" Id="R76d2b1764f6949eb" /><Relationship Type="http://schemas.openxmlformats.org/officeDocument/2006/relationships/notesMaster" Target="/ppt/notesMasters/notesMaster1.xml" Id="R847b3f04a4064954" /><Relationship Type="http://schemas.openxmlformats.org/officeDocument/2006/relationships/presProps" Target="/ppt/presProps.xml" Id="R48bd90374c3a43d7" /><Relationship Type="http://schemas.openxmlformats.org/officeDocument/2006/relationships/tableStyles" Target="/ppt/tableStyles.xml" Id="R9070235ba3764bcf" /><Relationship Type="http://schemas.openxmlformats.org/officeDocument/2006/relationships/slide" Target="/ppt/slides/slide1.xml" Id="R644f82f0e261420f" /><Relationship Type="http://schemas.openxmlformats.org/officeDocument/2006/relationships/slide" Target="/ppt/slides/slide2.xml" Id="Rce19ae67db1e4ba9" /><Relationship Type="http://schemas.openxmlformats.org/officeDocument/2006/relationships/slide" Target="/ppt/slides/slide3.xml" Id="R3b1ad80def46432b" /><Relationship Type="http://schemas.openxmlformats.org/officeDocument/2006/relationships/slide" Target="/ppt/slides/slide4.xml" Id="R8ce5b66db86149e7" /><Relationship Type="http://schemas.openxmlformats.org/officeDocument/2006/relationships/slide" Target="/ppt/slides/slide5.xml" Id="R5e1cf87e6317463c" /><Relationship Type="http://schemas.openxmlformats.org/officeDocument/2006/relationships/slide" Target="/ppt/slides/slide6.xml" Id="Re88e707326c047bd" /><Relationship Type="http://schemas.openxmlformats.org/officeDocument/2006/relationships/slide" Target="/ppt/slides/slide7.xml" Id="R71bbee0d71f84a2e" /><Relationship Type="http://schemas.openxmlformats.org/officeDocument/2006/relationships/slide" Target="/ppt/slides/slide8.xml" Id="Ra4be142cebf44ff0" /><Relationship Type="http://schemas.openxmlformats.org/officeDocument/2006/relationships/slide" Target="/ppt/slides/slide9.xml" Id="R2fe62b83c8434f73" /><Relationship Type="http://schemas.openxmlformats.org/officeDocument/2006/relationships/slide" Target="/ppt/slides/slide10.xml" Id="Rb67b83303d9c4ff7" /><Relationship Type="http://schemas.openxmlformats.org/officeDocument/2006/relationships/slide" Target="/ppt/slides/slide11.xml" Id="R2e1dc5c22c394a8a" /><Relationship Type="http://schemas.openxmlformats.org/officeDocument/2006/relationships/slide" Target="/ppt/slides/slide12.xml" Id="R1ed8b6ce931346d0" /><Relationship Type="http://schemas.openxmlformats.org/officeDocument/2006/relationships/slide" Target="/ppt/slides/slide13.xml" Id="R2ced754c39314601" /><Relationship Type="http://schemas.openxmlformats.org/officeDocument/2006/relationships/slide" Target="/ppt/slides/slide14.xml" Id="Rb7a816e43ac94fe3" /><Relationship Type="http://schemas.openxmlformats.org/officeDocument/2006/relationships/slide" Target="/ppt/slides/slide15.xml" Id="Rfd2f50d769684ffe" /><Relationship Type="http://schemas.openxmlformats.org/officeDocument/2006/relationships/slide" Target="/ppt/slides/slide16.xml" Id="R599d5405bbbb45a5" /><Relationship Type="http://schemas.openxmlformats.org/officeDocument/2006/relationships/slide" Target="/ppt/slides/slide17.xml" Id="Rae2acf2d37fa45bf" /><Relationship Type="http://schemas.openxmlformats.org/officeDocument/2006/relationships/slide" Target="/ppt/slides/slide18.xml" Id="R811cb04a993949b1" /><Relationship Type="http://schemas.openxmlformats.org/officeDocument/2006/relationships/slide" Target="/ppt/slides/slide19.xml" Id="R62e8dd0cc7f348a3" /><Relationship Type="http://schemas.openxmlformats.org/officeDocument/2006/relationships/slide" Target="/ppt/slides/slide20.xml" Id="Rbc4f2df5b0d347c1" /><Relationship Type="http://schemas.openxmlformats.org/officeDocument/2006/relationships/slide" Target="/ppt/slides/slide21.xml" Id="R50146563a4174e6d" /><Relationship Type="http://schemas.openxmlformats.org/officeDocument/2006/relationships/slide" Target="/ppt/slides/slide22.xml" Id="R57e7eac512604a73" /><Relationship Type="http://schemas.openxmlformats.org/officeDocument/2006/relationships/slide" Target="/ppt/slides/slide23.xml" Id="Rf23bce52e4e844bf" /><Relationship Type="http://schemas.openxmlformats.org/officeDocument/2006/relationships/slide" Target="/ppt/slides/slide24.xml" Id="Raf2988203e614c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34f6bc525242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a54fac734b4870" /><Relationship Type="http://schemas.openxmlformats.org/officeDocument/2006/relationships/notesMaster" Target="/ppt/notesMasters/notesMaster1.xml" Id="R09fbeeb781d248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9eea3c68204f70" /><Relationship Type="http://schemas.openxmlformats.org/officeDocument/2006/relationships/notesMaster" Target="/ppt/notesMasters/notesMaster1.xml" Id="R3d15ab9aeb124c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fc94ffc9c34e5e" /><Relationship Type="http://schemas.openxmlformats.org/officeDocument/2006/relationships/notesMaster" Target="/ppt/notesMasters/notesMaster1.xml" Id="R6dafb03bc48341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c8a3827ec14ae9" /><Relationship Type="http://schemas.openxmlformats.org/officeDocument/2006/relationships/notesMaster" Target="/ppt/notesMasters/notesMaster1.xml" Id="R2dc800d7e1e645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be744ee4d44772" /><Relationship Type="http://schemas.openxmlformats.org/officeDocument/2006/relationships/notesMaster" Target="/ppt/notesMasters/notesMaster1.xml" Id="R93f06c52a0d54f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7d6efb2d374dcf" /><Relationship Type="http://schemas.openxmlformats.org/officeDocument/2006/relationships/notesMaster" Target="/ppt/notesMasters/notesMaster1.xml" Id="R911c3057988040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86c92483584571" /><Relationship Type="http://schemas.openxmlformats.org/officeDocument/2006/relationships/notesMaster" Target="/ppt/notesMasters/notesMaster1.xml" Id="Rf92b3223e9bf4c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446c8fdd454cea" /><Relationship Type="http://schemas.openxmlformats.org/officeDocument/2006/relationships/notesMaster" Target="/ppt/notesMasters/notesMaster1.xml" Id="Rda791e0572ba40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f1b835bb4e48d0" /><Relationship Type="http://schemas.openxmlformats.org/officeDocument/2006/relationships/notesMaster" Target="/ppt/notesMasters/notesMaster1.xml" Id="R5409572b01d944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4bf1e02bf040f7" /><Relationship Type="http://schemas.openxmlformats.org/officeDocument/2006/relationships/notesMaster" Target="/ppt/notesMasters/notesMaster1.xml" Id="R26e0a46891ae48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b84d71b498481a" /><Relationship Type="http://schemas.openxmlformats.org/officeDocument/2006/relationships/notesMaster" Target="/ppt/notesMasters/notesMaster1.xml" Id="R3546123fb9d14b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39d7ca09944111" /><Relationship Type="http://schemas.openxmlformats.org/officeDocument/2006/relationships/notesMaster" Target="/ppt/notesMasters/notesMaster1.xml" Id="R6dbff4fe13ed481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896101f2124207" /><Relationship Type="http://schemas.openxmlformats.org/officeDocument/2006/relationships/notesMaster" Target="/ppt/notesMasters/notesMaster1.xml" Id="R9b85d70ae0574a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2cf016e1b04433" /><Relationship Type="http://schemas.openxmlformats.org/officeDocument/2006/relationships/notesMaster" Target="/ppt/notesMasters/notesMaster1.xml" Id="R1f5a373ae82040b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918fca5a2814395" /><Relationship Type="http://schemas.openxmlformats.org/officeDocument/2006/relationships/notesMaster" Target="/ppt/notesMasters/notesMaster1.xml" Id="Re0d4fdbd292143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9445b889e1c4d27" /><Relationship Type="http://schemas.openxmlformats.org/officeDocument/2006/relationships/notesMaster" Target="/ppt/notesMasters/notesMaster1.xml" Id="R59af3d11e2604dd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4533f7495e84c12" /><Relationship Type="http://schemas.openxmlformats.org/officeDocument/2006/relationships/notesMaster" Target="/ppt/notesMasters/notesMaster1.xml" Id="R5b7a4e8a54bd4d7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8508c4c6b044c29" /><Relationship Type="http://schemas.openxmlformats.org/officeDocument/2006/relationships/notesMaster" Target="/ppt/notesMasters/notesMaster1.xml" Id="Red8e6f7b9688477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7329c7dd0c34452" /><Relationship Type="http://schemas.openxmlformats.org/officeDocument/2006/relationships/notesMaster" Target="/ppt/notesMasters/notesMaster1.xml" Id="R1225403bc9d140b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2e5dde6bef945cf" /><Relationship Type="http://schemas.openxmlformats.org/officeDocument/2006/relationships/notesMaster" Target="/ppt/notesMasters/notesMaster1.xml" Id="R73abced9e1694e5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32df7f3c7744b7f" /><Relationship Type="http://schemas.openxmlformats.org/officeDocument/2006/relationships/notesMaster" Target="/ppt/notesMasters/notesMaster1.xml" Id="Rfae29abf38db4bc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57e9f39042141fe" /><Relationship Type="http://schemas.openxmlformats.org/officeDocument/2006/relationships/notesMaster" Target="/ppt/notesMasters/notesMaster1.xml" Id="R10fbf97dcff24b9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169120b48404582" /><Relationship Type="http://schemas.openxmlformats.org/officeDocument/2006/relationships/notesMaster" Target="/ppt/notesMasters/notesMaster1.xml" Id="R4214dfd0384049e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4dc51cde3534a1f" /><Relationship Type="http://schemas.openxmlformats.org/officeDocument/2006/relationships/notesMaster" Target="/ppt/notesMasters/notesMaster1.xml" Id="Rc12b9cfa843c45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presentation summarizes the supplied notes. Assume only basic algebra. Introduce XOR before matrix notation. Invite learners to calculate parity by counting ones.</a:t>
            </a:r>
          </a:p>
          <a:p xmlns:a="http://schemas.openxmlformats.org/drawingml/2006/main">
            <a:r>
              <a:t>Generated cover illustration: conceptual artwork, not a quantitative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sections 1 and 3. All operations take place in F₂. M and b are observed. The chosen assignment x and error vector e are hidden. For d-LIN, the public matrix has exactly d ones per 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section 2. Addition modulo two is XOR. For several bits, the output is one precisely when an odd number of inputs equal one. Subtraction equals addition.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sections 4–5. The first row (1,1,0,1,0) selects x₁, x₂ and x₄. This is a noiseless clause diagram. With an error bit, the observed right side is b₁ = x₁ ⊕ x₂ ⊕ x₄ ⊕ e₁. Generated illustration checked for exactly three incoming connections.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sections 3–5. M is the exact 4×5 example from the notes. Each row has three ones. x and b are column vectors, matching equations 11 and 12 of the edited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sections 6 and 13. Gaussian elimination can find a solution or certify inconsistency for exact linear equations. When b=Mx+e, merely finding any exact fit does not in general recover the sampled x. Assumptions require a specified distribution and parameter regime.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sections 9 and 18. The visual shows one particular error pattern. It does not assert that all sampled vectors have exactly one error. Generated illustration checked: only the third of eight bits differs.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section 12. x=(1,0,1,0,1)ᵀ. Multiplication over F₂ yields (1,0,0,1)ᵀ. The published b=(1,1,0,1)ᵀ differs in only row 2. The chosen x satisfies 3/4 clauses. The table includes the same four clauses as the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sections 7 and 12. The residual is (0,1,0,0)ᵀ. Hamming weight counts ones. The score shown applies to the chosen assignment; the optimum can be higher. Direct enumeration gives x′=(0,1,0,0,0)ᵀ as an exact solution to this toy instance.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section 8. This is a deterministic definition: there exists some assignment with at most εm violated clauses. It does not claim every Bernoulli sample obeys that upper bound. Example m=1000 and ε=0.01 is conditional on satisfying the stated bound.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section 9. W=wt(e) has a Binomial(m,ε) distribution and E[W]=mε. The chart is calculated from the binomial probability mass function for an illustrative m=20, ε=0.10. Counts above 8 have total probability under 0.01%; the visible range is 0–8. There is positive probability of more than the mean number of errors.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section 11. Im(M)={Mz:z∈F₂ⁿ}. Distance to the particular planted output Mx equals wt(e). Distance to the whole image is at most wt(e), and may be smaller. The schematic shows one possible case with b outside the image; noise can also leave b inside the image. The drawing is conceptual, not Euclidean geometry.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  <a:p xmlns:a="http://schemas.openxmlformats.org/drawingml/2006/main">
            <a:r>
              <a:t>Def5.1 p12: Search3LIN outputs the planted x. Def6.1 p16: approximate search outputs an assignment within .1n Hamming distance of x. Minimizing residual weight is a separate optimization problem. For even row weight, x and x+1 give the same clean labels, so exact x recovery needs a convention.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  <a:p xmlns:a="http://schemas.openxmlformats.org/drawingml/2006/main">
            <a:r>
              <a:t>Def5.1 and Assumption5.2 p12. Intractability quantifies over all probabilistic polynomial-time algorithms, average over random instances, with success below2/3 for all sufficiently large n. Exponential search space and worst-case NP-hardness alone do not imply this statement.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  <a:p xmlns:a="http://schemas.openxmlformats.org/drawingml/2006/main">
            <a:r>
              <a:t>Regev, On lattices, learning with errors, random linear codes, and cryptography, Theorem 1.1, https://cims.nyu.edu/~regev/papers/qcrypto.pdf. The reduction is quantum and requires its stated parameters and error distribution.</a:t>
            </a:r>
          </a:p>
          <a:p xmlns:a="http://schemas.openxmlformats.org/drawingml/2006/main">
            <a:r>
              <a:t>Langlois and Stehlé, Worst-case to average-case reductions for module lattices, Theorems 4.7–4.8, https://perso.ens-lyon.fr/damien.stehle/downloads/MSIS.pdf.</a:t>
            </a:r>
          </a:p>
          <a:p xmlns:a="http://schemas.openxmlformats.org/drawingml/2006/main">
            <a:r>
              <a:t>Kiltz, Masny and Pietrzak, Provable Security of LPN-based Public-Key Encryption, https://eprint.iacr.org/2015/401.pdf. Yu and Zhang, Cryptography with Auxiliary Input and Trapdoor from Constant-Noise LPN, CRYPTO 2016, https://www.iacr.org/archive/crypto2016/98140212/98140212.pdf. PKE from LPN depends on noise and quantitative hardness. Do not infer impossibility from its common symmetric applications.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Regev, On lattices, learning with errors, random linear codes, and cryptography, Theorem 1.1, https://cims.nyu.edu/~regev/papers/qcrypto.pdf. The reduction is quantum and requires its stated parameters and error distribution.</a:t>
            </a:r>
          </a:p>
          <a:p xmlns:a="http://schemas.openxmlformats.org/drawingml/2006/main">
            <a:r>
              <a:t>Langlois and Stehlé, Worst-case to average-case reductions for module lattices, Theorems 4.7–4.8, https://perso.ens-lyon.fr/damien.stehle/downloads/MSIS.pdf.</a:t>
            </a:r>
          </a:p>
          <a:p xmlns:a="http://schemas.openxmlformats.org/drawingml/2006/main">
            <a:r>
              <a:t>NIST FIPS 203 (2024), Module-Lattice-Based Key-Encapsulation Mechanism Standard, §§1.2,3.2,4.2.2,5.1 and Tables 2–3, https://nvlpubs.nist.gov/nistpubs/FIPS/NIST.FIPS.203.pdf. ML-KEM uses centered binomial errors and compression. Its assumed quantum resistance is not a proof against all quantum attacks.</a:t>
            </a:r>
          </a:p>
          <a:p xmlns:a="http://schemas.openxmlformats.org/drawingml/2006/main">
            <a:r>
              <a:t>Schematic equations describe their algebraic templates. In LWE, A is uniform in Zq^(m×n). In module-LWE, A is uniform over an appropriate quotient ring Rq. Expanded coefficient matrices use structured convolution blocks, not independent entries.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  <a:p xmlns:a="http://schemas.openxmlformats.org/drawingml/2006/main">
            <a:r>
              <a:t>Theorems2–3 p5. Theorem2 has no DUE assumption. Theorem3 adds DUE for parameter flexibility. Both conclusions require the stated assumptions and give asymptotic semantically secure PKE.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sections 18 and 20. The displayed toy example uses 2-variable rows purely to illustrate characteristic-two cancellation, not to instantiate the secure 3-LIN regime. Every variable occurs twice in the sum. In ABW, a suitable secret short row dependency plays the analogous role. 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  <a:p xmlns:a="http://schemas.openxmlformats.org/drawingml/2006/main">
            <a:r>
              <a:t>Figure 1, printed p.8, and §5.2 pp.13–14. This is the raw weak scheme. Public key M has a secret short row dependency S containing the last row. Each encryption samples fresh uniform x and fresh Bernoulli errors. Enc(1) differs from Enc(0) by flipping the final coordinate. It is not an independently uniform ciphertext distribution.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  <a:p xmlns:a="http://schemas.openxmlformats.org/drawingml/2006/main">
            <a:r>
              <a:t>Lemma5.3 pp13–14 and direct independent-parity calculation. For r=|S|, exact raw error=(1−(1−2ε)^r)/2≤rε. For r=10,ε=.01 exact error≈.0914636. ABW combines weak privacy and correctness then amplifies.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  <a:p xmlns:a="http://schemas.openxmlformats.org/drawingml/2006/main">
            <a:r>
              <a:t>Introduction and Theorems 2–3. The operation and storage costs below are direct counts for the core sparse matrix representation, not benchmark claims about a final amplified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  <a:p xmlns:a="http://schemas.openxmlformats.org/drawingml/2006/main">
            <a:r>
              <a:t>Introduction, §§4–7 and §12. These are construction/design implications. ABW does not give a concrete standardized CCA KEM or a modern security-bit estimate. Quantum security requires a quantum-adversary assumption plus a compatible proof.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  <a:p xmlns:a="http://schemas.openxmlformats.org/drawingml/2006/main">
            <a:r>
              <a:t>NIST FIPS 203 (2024), Module-Lattice-Based Key-Encapsulation Mechanism Standard, §§1.2,3.2,4.2.2,5.1 and Tables 2–3, https://nvlpubs.nist.gov/nistpubs/FIPS/NIST.FIPS.203.pdf. ML-KEM uses centered binomial errors and compression. Its assumed quantum resistance is not a proof against all quantum attacks.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  <a:p xmlns:a="http://schemas.openxmlformats.org/drawingml/2006/main">
            <a:r>
              <a:t>Regev, On lattices, learning with errors, random linear codes, and cryptography, Theorem 1.1, https://cims.nyu.edu/~regev/papers/qcrypto.pdf. The reduction is quantum and requires its stated parameters and error distribution.</a:t>
            </a:r>
          </a:p>
          <a:p xmlns:a="http://schemas.openxmlformats.org/drawingml/2006/main">
            <a:r>
              <a:t>Langlois and Stehlé, Worst-case to average-case reductions for module lattices, Theorems 4.7–4.8, https://perso.ens-lyon.fr/damien.stehle/downloads/MSIS.pdf.</a:t>
            </a:r>
          </a:p>
          <a:p xmlns:a="http://schemas.openxmlformats.org/drawingml/2006/main">
            <a:r>
              <a:t>NIST FIPS 203 (2024), Module-Lattice-Based Key-Encapsulation Mechanism Standard, §§1.2,3.2,4.2.2,5.1 and Tables 2–3, https://nvlpubs.nist.gov/nistpubs/FIPS/NIST.FIPS.203.pdf. ML-KEM uses centered binomial errors and compression. Its assumed quantum resistance is not a proof against all quantum attacks.</a:t>
            </a:r>
          </a:p>
          <a:p xmlns:a="http://schemas.openxmlformats.org/drawingml/2006/main">
            <a:r>
              <a:t>Kiltz, Masny and Pietrzak, Provable Security of LPN-based Public-Key Encryption, https://eprint.iacr.org/2015/401.pdf. Yu and Zhang, Cryptography with Auxiliary Input and Trapdoor from Constant-Noise LPN, CRYPTO 2016, https://www.iacr.org/archive/crypto2016/98140212/98140212.pdf. PKE from LPN depends on noise and quantitative hardness. Do not infer impossibility from its common symmetric applications.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3aad24f25a4e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f85c01c25b4825" /><Relationship Type="http://schemas.openxmlformats.org/officeDocument/2006/relationships/slideLayout" Target="/ppt/slideLayouts/slideLayout1.xml" Id="Rf019fe6cadd64c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19fe6cadd64c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b92e37ceb4d8b" /><Relationship Type="http://schemas.openxmlformats.org/officeDocument/2006/relationships/image" Target="/ppt/media/image.png" Id="R394ee97fa71f4a2e" /><Relationship Type="http://schemas.openxmlformats.org/officeDocument/2006/relationships/notesSlide" Target="/ppt/notesSlides/notesSlide1.xml" Id="R4299dc1669e349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038165ee840d0" /><Relationship Type="http://schemas.openxmlformats.org/officeDocument/2006/relationships/notesSlide" Target="/ppt/notesSlides/notesSlide2.xml" Id="R83b6b39c765e45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bf1be79d34761" /><Relationship Type="http://schemas.openxmlformats.org/officeDocument/2006/relationships/notesSlide" Target="/ppt/notesSlides/notesSlide3.xml" Id="R75220c5e078b46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da548b17a48ea" /><Relationship Type="http://schemas.openxmlformats.org/officeDocument/2006/relationships/image" Target="/ppt/media/image2.png" Id="R99528d43129641f8" /><Relationship Type="http://schemas.openxmlformats.org/officeDocument/2006/relationships/notesSlide" Target="/ppt/notesSlides/notesSlide4.xml" Id="Ra09ec173123943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fb274fa0b4aea" /><Relationship Type="http://schemas.openxmlformats.org/officeDocument/2006/relationships/notesSlide" Target="/ppt/notesSlides/notesSlide5.xml" Id="R5938e60a8bc547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01ac15be94173" /><Relationship Type="http://schemas.openxmlformats.org/officeDocument/2006/relationships/notesSlide" Target="/ppt/notesSlides/notesSlide6.xml" Id="R40ee3e90357643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9d6783e0e4a29" /><Relationship Type="http://schemas.openxmlformats.org/officeDocument/2006/relationships/image" Target="/ppt/media/image3.png" Id="R85fce461436b4948" /><Relationship Type="http://schemas.openxmlformats.org/officeDocument/2006/relationships/notesSlide" Target="/ppt/notesSlides/notesSlide7.xml" Id="R967265090c0b47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79eb0b0394bb7" /><Relationship Type="http://schemas.openxmlformats.org/officeDocument/2006/relationships/notesSlide" Target="/ppt/notesSlides/notesSlide8.xml" Id="R1ff55c6b93ec40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54d0b49d346d7" /><Relationship Type="http://schemas.openxmlformats.org/officeDocument/2006/relationships/notesSlide" Target="/ppt/notesSlides/notesSlide9.xml" Id="R68fd8119baaf48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bd900ba59444e" /><Relationship Type="http://schemas.openxmlformats.org/officeDocument/2006/relationships/notesSlide" Target="/ppt/notesSlides/notesSlide10.xml" Id="Rea497533ae9b4b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f97b61cef464f" /><Relationship Type="http://schemas.openxmlformats.org/officeDocument/2006/relationships/chart" Target="/ppt/slides/charts/chart1.xml" Id="R9e32363b3c384fd9" /><Relationship Type="http://schemas.openxmlformats.org/officeDocument/2006/relationships/notesSlide" Target="/ppt/notesSlides/notesSlide11.xml" Id="R48b69ef9cfcf41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63fe4708340c0" /><Relationship Type="http://schemas.openxmlformats.org/officeDocument/2006/relationships/image" Target="/ppt/media/image4.png" Id="R8897452b7a74419d" /><Relationship Type="http://schemas.openxmlformats.org/officeDocument/2006/relationships/notesSlide" Target="/ppt/notesSlides/notesSlide12.xml" Id="R15b7412b6f144a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bf9ebb94b4360" /><Relationship Type="http://schemas.openxmlformats.org/officeDocument/2006/relationships/notesSlide" Target="/ppt/notesSlides/notesSlide13.xml" Id="Rb02e783f22e74d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182b9767143f7" /><Relationship Type="http://schemas.openxmlformats.org/officeDocument/2006/relationships/notesSlide" Target="/ppt/notesSlides/notesSlide14.xml" Id="R2a670a4ccc3e49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2e9464d784095" /><Relationship Type="http://schemas.openxmlformats.org/officeDocument/2006/relationships/notesSlide" Target="/ppt/notesSlides/notesSlide15.xml" Id="Rd2222cb8b2364f6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6b554df684ccb" /><Relationship Type="http://schemas.openxmlformats.org/officeDocument/2006/relationships/notesSlide" Target="/ppt/notesSlides/notesSlide16.xml" Id="Rf9f29309f95f4d3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6ed46795544eb" /><Relationship Type="http://schemas.openxmlformats.org/officeDocument/2006/relationships/notesSlide" Target="/ppt/notesSlides/notesSlide17.xml" Id="Rbe7614b32e1e46e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3e55e7acc4ff0" /><Relationship Type="http://schemas.openxmlformats.org/officeDocument/2006/relationships/notesSlide" Target="/ppt/notesSlides/notesSlide18.xml" Id="Red55b4a3ad6b4c3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5423f6000440f" /><Relationship Type="http://schemas.openxmlformats.org/officeDocument/2006/relationships/notesSlide" Target="/ppt/notesSlides/notesSlide19.xml" Id="R9f15a13d15c748c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ce5e9cc144c0e" /><Relationship Type="http://schemas.openxmlformats.org/officeDocument/2006/relationships/notesSlide" Target="/ppt/notesSlides/notesSlide20.xml" Id="R27e3be7fcf7c4c4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321865bdc4478" /><Relationship Type="http://schemas.openxmlformats.org/officeDocument/2006/relationships/notesSlide" Target="/ppt/notesSlides/notesSlide21.xml" Id="R0371652bb79a475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47d58e71c41a4" /><Relationship Type="http://schemas.openxmlformats.org/officeDocument/2006/relationships/notesSlide" Target="/ppt/notesSlides/notesSlide22.xml" Id="R8a8a5eda000d473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9e2c61fd6414d" /><Relationship Type="http://schemas.openxmlformats.org/officeDocument/2006/relationships/notesSlide" Target="/ppt/notesSlides/notesSlide23.xml" Id="R7c9f2fa08a3c453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f6fc91d3b4f1c" /><Relationship Type="http://schemas.openxmlformats.org/officeDocument/2006/relationships/notesSlide" Target="/ppt/notesSlides/notesSlide24.xml" Id="R61cbdf2591da4fd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Probability</c:v>
          </c:tx>
          <c:spPr>
            <a:solidFill xmlns:a="http://schemas.openxmlformats.org/drawingml/2006/main">
              <a:srgbClr val="087F82"/>
            </a:solidFill>
          </c:spPr>
          <c:cat>
            <c:numRef>
              <c:f>'Chart Data'!$A$2:$A$10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'Chart Data'!$B$2:$B$10</c:f>
              <c:numCache>
                <c:formatCode>0%</c:formatCode>
                <c:ptCount val="9"/>
                <c:pt idx="0">
                  <c:v>0.1215766546</c:v>
                </c:pt>
                <c:pt idx="1">
                  <c:v>0.2701703435</c:v>
                </c:pt>
                <c:pt idx="2">
                  <c:v>0.2851798071</c:v>
                </c:pt>
                <c:pt idx="3">
                  <c:v>0.1901198714</c:v>
                </c:pt>
                <c:pt idx="4">
                  <c:v>0.0897788281</c:v>
                </c:pt>
                <c:pt idx="5">
                  <c:v>0.0319213611</c:v>
                </c:pt>
                <c:pt idx="6">
                  <c:v>0.0088670448</c:v>
                </c:pt>
                <c:pt idx="7">
                  <c:v>0.0019704544</c:v>
                </c:pt>
                <c:pt idx="8">
                  <c:v>0.0003557765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Number of flipped bits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32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C8D5D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Probability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7F5F0"/>
        </a:solidFill>
      </c:spPr>
    </c:plotArea>
    <c:plotVisOnly val="1"/>
  </c:chart>
  <c:spPr>
    <a:solidFill xmlns:a="http://schemas.openxmlformats.org/drawingml/2006/main">
      <a:srgbClr val="F7F5F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ee97fa71f4a2e"/>
          <a:stretch xmlns:a="http://schemas.openxmlformats.org/drawingml/2006/main"/>
        </p:blipFill>
        <p:spPr>
          <a:xfrm xmlns:a="http://schemas.openxmlformats.org/drawingml/2006/main">
            <a:off x="4095750" y="603250"/>
            <a:ext cx="7762875" cy="517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6318F-AD2F-4EEF-85A7-E5116F58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524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05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705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d-LIN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896A0-A24A-4C04-9F29-A13CFCBD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595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Sparse equations,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noisy answers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9F590-3592-4741-B9E2-77351134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STUDENT EDITION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79133-6A7E-4D1D-810E-A852D1F7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5572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A visual introduction to parity, noise and hardness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96BF2-B0CD-4D75-BACE-F02E3207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Prajjwal Saxena’s notes, revised with ABW09</a:t>
            </a:r>
          </a:p>
        </p:txBody>
      </p:sp>
    </p:spTree>
    <p:extLst>
      <p:ext uri="{BB962C8B-B14F-4D97-AF65-F5344CB8AC3E}">
        <p14:creationId xmlns:p14="http://schemas.microsoft.com/office/powerpoint/2010/main" val="1231702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EABB7-6DA8-4C21-B84D-B7F91C38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The central equation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DE8E3-442C-469C-B5FB-3BF99A17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STUDENT EDITION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14D70-5DD3-44C3-9BEF-F3E1C03B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D3EB2-4F39-4DF6-BC47-261D1A38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858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b = Mx + e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3133725"/>
          <a:ext xmlns:a="http://schemas.openxmlformats.org/drawingml/2006/main" cx="1085850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7000875"/>
                <a:gridCol w="2333625"/>
              </a:tblGrid>
              <a:tr h="52959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Symbol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Meaning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Size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</a:tr>
              <a:tr h="52959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M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Which variables enter each equation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m × n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52959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x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Hidden binary assignment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n × 1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52959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e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Bits that flip equation outputs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m × 1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52959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b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Observed right-hand sides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m × 1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FE644-56AF-438D-8562-9BC331FE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m counts equations.  n counts variables.  d counts variables per equation.</a:t>
            </a:r>
          </a:p>
        </p:txBody>
      </p:sp>
    </p:spTree>
    <p:extLst>
      <p:ext uri="{BB962C8B-B14F-4D97-AF65-F5344CB8AC3E}">
        <p14:creationId xmlns:p14="http://schemas.microsoft.com/office/powerpoint/2010/main" val="13243515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AF196-387B-4511-9087-42D24DEA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Arithmetic with bits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D2E88-70AD-4158-825F-F0D1485E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STUDENT EDITION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B8221-05EB-454B-94E5-305760AD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66750" y="1647825"/>
          <a:ext xmlns:a="http://schemas.openxmlformats.org/drawingml/2006/main" cx="447675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1333500"/>
                <a:gridCol w="1809750"/>
              </a:tblGrid>
              <a:tr h="704850"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 ⊕ b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4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4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4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4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2F37D-E362-402E-A02F-E16D89DA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943100"/>
            <a:ext cx="552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1 ⊕ 0 ⊕ 1 =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8AC7F-B177-4450-B46B-F529A512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038475"/>
            <a:ext cx="519112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Two ones cancel.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Only the parity of the number of ones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B80EA-940F-4681-B4FE-9A88F507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79107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a + a =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D8D5F-9F89-4FFC-9FAE-29C7E48B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All additions in this deck use modulo 2 unless a slide says otherwise.</a:t>
            </a:r>
          </a:p>
        </p:txBody>
      </p:sp>
    </p:spTree>
    <p:extLst>
      <p:ext uri="{BB962C8B-B14F-4D97-AF65-F5344CB8AC3E}">
        <p14:creationId xmlns:p14="http://schemas.microsoft.com/office/powerpoint/2010/main" val="17786340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A28C4-D0B6-4FFD-B3C1-44AF1ACA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A sparse equation uses only a few variables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13DB6-91C0-407B-978E-AD848A6C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STUDENT EDITION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8AFDA-AAF1-46B0-A754-DF132D42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28d43129641f8"/>
          <a:stretch xmlns:a="http://schemas.openxmlformats.org/drawingml/2006/main"/>
        </p:blipFill>
        <p:spPr>
          <a:xfrm xmlns:a="http://schemas.openxmlformats.org/drawingml/2006/main">
            <a:off x="885825" y="1514475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D1AF1-69A9-4083-900D-90CA3803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14525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d =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1F79A-55D4-4D94-9D11-06D0FE0C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52750"/>
            <a:ext cx="33813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Three selected variables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make one parity clause.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5691E-8B07-4126-96B7-3353AA79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772025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x₁ ⊕ x₂ ⊕ x₄ = b₁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12584-5933-402F-AFBD-528942F6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A 0 in the matrix means that variable does not enter the clause.</a:t>
            </a:r>
          </a:p>
        </p:txBody>
      </p:sp>
    </p:spTree>
    <p:extLst>
      <p:ext uri="{BB962C8B-B14F-4D97-AF65-F5344CB8AC3E}">
        <p14:creationId xmlns:p14="http://schemas.microsoft.com/office/powerpoint/2010/main" val="18277111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DB669-2CAA-4697-B302-568ADFF3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The matrix stores every clause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12D9A-B5C5-48B1-A8F1-6D642AB7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STUDENT EDITION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1A622-8AEB-4E6F-A65E-177F2148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CFF0F-14F6-4E3B-B21E-3869CD64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M   4 equations × 5 variables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66750" y="2314575"/>
          <a:ext xmlns:a="http://schemas.openxmlformats.org/drawingml/2006/main" cx="47625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952500"/>
                <a:gridCol w="952500"/>
                <a:gridCol w="952500"/>
                <a:gridCol w="952500"/>
              </a:tblGrid>
              <a:tr h="685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67D72-F3B3-4706-9CAB-BD92B080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457325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677025" y="1933575"/>
          <a:ext xmlns:a="http://schemas.openxmlformats.org/drawingml/2006/main" cx="12192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9200"/>
              </a:tblGrid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x₁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x₂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x₃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x₄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x₅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E3E99-F232-495D-B714-EA2BDB6F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38325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9886950" y="2314575"/>
          <a:ext xmlns:a="http://schemas.openxmlformats.org/drawingml/2006/main" cx="12192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9200"/>
              </a:tblGrid>
              <a:tr h="685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b₁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b₂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b₃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b₄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D310E-4CF6-4109-8437-757D3886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533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AC95E-D42C-4F1C-B5BC-8B35900F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57550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=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8E428D-FBDB-4629-9337-B21C7FDB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Without noise, Mx = b packages all four equations into one statement.</a:t>
            </a:r>
          </a:p>
        </p:txBody>
      </p:sp>
    </p:spTree>
    <p:extLst>
      <p:ext uri="{BB962C8B-B14F-4D97-AF65-F5344CB8AC3E}">
        <p14:creationId xmlns:p14="http://schemas.microsoft.com/office/powerpoint/2010/main" val="3556426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7F98E-5676-403C-A1C5-088F6EF2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Exact equations and noisy equations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33B85-EF4A-4630-89FF-CD062538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STUDENT EDITION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F9237-67A8-4E5A-9847-B90A3477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69BD7-142E-499D-BAFE-110CC223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9067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Exact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A470B-9A62-48E7-8A86-ECF7BDB9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Mx =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B5C89-C608-4332-9647-8B76882E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46863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Gaussian elimination finds a solution, or detects inconsistency.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8A0F6-9C12-4C1D-B6E0-072A7DB2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9067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CB5D4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CB5D4D"/>
                </a:solidFill>
                <a:latin typeface="Aptos"/>
                <a:ea typeface="Aptos"/>
                <a:cs typeface="Aptos"/>
              </a:rPr>
              <a:t>Noisy observations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E2785-0279-4353-AE7A-C58DFBC7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4810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75" b="1">
                <a:solidFill>
                  <a:srgbClr val="CB5D4D"/>
                </a:solidFill>
                <a:latin typeface="Aptos"/>
                <a:ea typeface="Aptos"/>
                <a:cs typeface="Aptos"/>
              </a:defRPr>
            </a:pPr>
            <a:r>
              <a:rPr sz="4275" b="1">
                <a:solidFill>
                  <a:srgbClr val="CB5D4D"/>
                </a:solidFill>
                <a:latin typeface="Aptos"/>
                <a:ea typeface="Aptos"/>
                <a:cs typeface="Aptos"/>
              </a:rPr>
              <a:t>b = Mx + 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1DC6D-EAFA-4E05-A625-5A635F9C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47148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Some outputs have flipped. Their locations are hidden.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D9AB7-29B9-4AA1-B77D-A48646C4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Noise creates an inference problem. Its difficulty depends on the parameters.</a:t>
            </a:r>
          </a:p>
        </p:txBody>
      </p:sp>
    </p:spTree>
    <p:extLst>
      <p:ext uri="{BB962C8B-B14F-4D97-AF65-F5344CB8AC3E}">
        <p14:creationId xmlns:p14="http://schemas.microsoft.com/office/powerpoint/2010/main" val="15185275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6841F-C0FC-4EEC-A900-96EE96F7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Noise flips the output of a clause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68D83-5A68-40DE-97EA-2B1FCE5F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STUDENT EDITION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61D3C-3AFF-48C4-9EE9-F61E9DCC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ce461436b4948"/>
          <a:srcRect xmlns:a="http://schemas.openxmlformats.org/drawingml/2006/main" l="0" t="23553" r="0" b="235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295400"/>
            <a:ext cx="10858500" cy="3829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E7572-80B0-491D-9698-24885B37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62575"/>
            <a:ext cx="53435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eᵢ = 0   unchanged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E3CCE-A253-46CB-BA88-24DEDDCE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362575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CB5D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B5D4D"/>
                </a:solidFill>
                <a:latin typeface="Aptos"/>
                <a:ea typeface="Aptos"/>
                <a:cs typeface="Aptos"/>
              </a:rPr>
              <a:t>eᵢ = 1   flipped</a:t>
            </a:r>
          </a:p>
        </p:txBody>
      </p:sp>
    </p:spTree>
    <p:extLst>
      <p:ext uri="{BB962C8B-B14F-4D97-AF65-F5344CB8AC3E}">
        <p14:creationId xmlns:p14="http://schemas.microsoft.com/office/powerpoint/2010/main" val="18308831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C9AF5-F179-47B5-B217-B34F98B7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A worked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C17D0-4B19-4944-9949-98538CBC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STUDENT EDITION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A8208-1494-4A70-A5E4-6B0B97AE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AD1FC-E834-469E-909E-1B356044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47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Take x = (1, 0, 1, 0, 1)ᵀ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2286000"/>
          <a:ext xmlns:a="http://schemas.openxmlformats.org/drawingml/2006/main" cx="108585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2190750"/>
                <a:gridCol w="2190750"/>
                <a:gridCol w="2190750"/>
              </a:tblGrid>
              <a:tr h="6191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Clause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Computed Mx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Observed b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Mismatch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x₁ ⊕ x₂ ⊕ x₄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x₂ ⊕ x₃ ⊕ x₅</a:t>
                      </a:r>
                    </a:p>
                  </a:txBody>
                  <a:tcPr marL="133350" marR="95250" marT="95250" marB="76200" anchor="ctr">
                    <a:solidFill>
                      <a:srgbClr val="F4DD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4DD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F4DD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F4DDD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x₁ ⊕ x₃ ⊕ x₄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x₂ ⊕ x₄ ⊕ x₅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C05E7-D335-4724-9CF1-21CAA216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Only the second clause disagrees with the observed right-hand side.</a:t>
            </a:r>
          </a:p>
        </p:txBody>
      </p:sp>
    </p:spTree>
    <p:extLst>
      <p:ext uri="{BB962C8B-B14F-4D97-AF65-F5344CB8AC3E}">
        <p14:creationId xmlns:p14="http://schemas.microsoft.com/office/powerpoint/2010/main" val="20616559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15357D-DD79-436F-90C0-336CD148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Hamming weight counts the violations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56E1D-E809-421F-A642-41D2F350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STUDENT EDITION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0297E-944B-4986-B6FB-ACBC0FD1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ED779-7970-414A-9366-A632FE85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Mx − b = (0, 1, 0, 0)ᵀ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68D99-FBC0-4B82-B693-0E4C2381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676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wt(Mx − b) =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F9046-3FF0-4F55-B106-C94A5D28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527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825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6825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75%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BE42D-1883-4841-A05F-7BB8DE35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81450"/>
            <a:ext cx="365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3 of 4 clauses satisfied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CB462-B137-433B-9767-ED466A91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666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This assignment has one violation.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A different assignment can do better.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D92E6-CF09-4404-A1F4-2100F856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“At least 3/4-satisfiable” is a lower bound for the instance.</a:t>
            </a:r>
          </a:p>
        </p:txBody>
      </p:sp>
    </p:spTree>
    <p:extLst>
      <p:ext uri="{BB962C8B-B14F-4D97-AF65-F5344CB8AC3E}">
        <p14:creationId xmlns:p14="http://schemas.microsoft.com/office/powerpoint/2010/main" val="8756895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CB71C-47B2-4294-91DC-2C26140B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Almost satisfiable means few violations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605EF-900C-4464-9860-32FE5DD0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STUDENT EDITION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811AA-7F53-4485-9917-880C733A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FC76F-6019-465A-9452-9E878F92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425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4425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wt(Mx − b) ≤ εm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0E70C-0983-4695-BB41-8D50006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10515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An assignment satisfies at least a fraction 1 − ε of the clauses.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EAE22-2110-4197-BE59-81CC7268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390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1,000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92CEA-80F6-4486-A6B9-B0AE0F9F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clauses in total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91D21-D1FB-4538-BC28-4D38E221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86225"/>
            <a:ext cx="4895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CB5D4D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CB5D4D"/>
                </a:solidFill>
                <a:latin typeface="Aptos"/>
                <a:ea typeface="Aptos"/>
                <a:cs typeface="Aptos"/>
              </a:rPr>
              <a:t>at most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6216E-D572-413B-8ED8-90E8E6C3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958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violations when ε = 0.01</a:t>
            </a:r>
          </a:p>
        </p:txBody>
      </p:sp>
    </p:spTree>
    <p:extLst>
      <p:ext uri="{BB962C8B-B14F-4D97-AF65-F5344CB8AC3E}">
        <p14:creationId xmlns:p14="http://schemas.microsoft.com/office/powerpoint/2010/main" val="15056968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BD4C8-58E2-4347-8D2E-52B36268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Bernoulli noise gives an average error count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9F066-486D-46D3-9941-17FE93E1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STUDENT EDITION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6F943-A435-4F0A-BB76-A847DBE4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5759C-BD39-4080-ADD6-F18A4405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7526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Pr(eᵢ = 1) = 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A5BE4-4E8E-4568-BBCF-3C9D52A9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8765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E[wt(e)] = mε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1A9DF-A3DB-493D-8A22-5F59AEC2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886200"/>
            <a:ext cx="3381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20 clauses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10% flip probability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2 errors on average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68C9B-4093-4FE6-8F3E-892FB6C9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An average of 2 errors does not guarantee at most 2 errors.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71500" y="1790700"/>
          <a:ext xmlns:a="http://schemas.openxmlformats.org/drawingml/2006/main" cx="7000875" cy="3781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32363b3c384fd9"/>
          </a:graphicData>
        </a:graphic>
      </p:graphicFrame>
    </p:spTree>
    <p:extLst>
      <p:ext uri="{BB962C8B-B14F-4D97-AF65-F5344CB8AC3E}">
        <p14:creationId xmlns:p14="http://schemas.microsoft.com/office/powerpoint/2010/main" val="2152076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370D6-AC80-4EC0-A4B7-AB0DDD33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The image of M contains every noiseless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AED20-6D85-4579-A19F-26B15615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STUDENT EDITION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37E41-A243-4431-AFA0-1C7EE9FA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7452b7a74419d"/>
          <a:stretch xmlns:a="http://schemas.openxmlformats.org/drawingml/2006/main"/>
        </p:blipFill>
        <p:spPr>
          <a:xfrm xmlns:a="http://schemas.openxmlformats.org/drawingml/2006/main">
            <a:off x="950119" y="1628775"/>
            <a:ext cx="6015038" cy="40100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C3BAE-BF1B-4AC6-8911-7C552E72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781175"/>
            <a:ext cx="4067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Im(M) = {Mz : z ∈ F₂ⁿ}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17110-A5F3-4F82-953A-BD4D8033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314700"/>
            <a:ext cx="361950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Mx is one possible clean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b adds the error pattern 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056C9-C1FC-42A2-9A5B-96318828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Hamming distance counts changed bits. The sketch shows one possible noisy observation.</a:t>
            </a:r>
          </a:p>
        </p:txBody>
      </p:sp>
    </p:spTree>
    <p:extLst>
      <p:ext uri="{BB962C8B-B14F-4D97-AF65-F5344CB8AC3E}">
        <p14:creationId xmlns:p14="http://schemas.microsoft.com/office/powerpoint/2010/main" val="11796866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D3F5B-67B5-47EB-BFAA-4BAEC384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The computational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9F1F0-31C7-4C57-9BC1-5E71DD6D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STUDENT EDITION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4CFD0-4274-44E9-AAB4-37FDA8BC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58500" cy="3219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429500"/>
              </a:tblGrid>
              <a:tr h="64389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Task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What the algorithm must do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Search3LIN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Recover the original hidden assignment x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Approximate recovery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Recover most bits of x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Decision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Tell noisy parity labels from independent random labels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Residual fitting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Find an assignment violating few equations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470A2-0906-45C0-85EC-7CDCBFF1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A low number of violated equations does not always identify the original assignment.</a:t>
            </a:r>
          </a:p>
        </p:txBody>
      </p:sp>
    </p:spTree>
    <p:extLst>
      <p:ext uri="{BB962C8B-B14F-4D97-AF65-F5344CB8AC3E}">
        <p14:creationId xmlns:p14="http://schemas.microsoft.com/office/powerpoint/2010/main" val="16881340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A62AA-5BE5-49FA-BB1F-B1FEC19D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The hardness assumption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00242-2F2F-4C3D-8229-2F467EA6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STUDENT EDITION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F6883-C6FD-4DE4-B5A8-EA0B1E0E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220FC-385D-48A1-A089-D4F670DB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Random instances from a specified distribution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FA929-EAE3-4B0A-BA8E-B7559415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106680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ABW assumes efficient algorithms cannot reliably recover x for particular choices of m, d and 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94E9F-C609-441A-A4FB-78D9DB13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5BAB1-0602-4374-8D90-E1FFA0FE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48863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The paper rules out certain restricted attack families.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D4208-AD2C-4E8C-AEF8-228C876A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38600"/>
            <a:ext cx="491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B5D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B5D4D"/>
                </a:solidFill>
                <a:latin typeface="Aptos"/>
                <a:ea typeface="Aptos"/>
                <a:cs typeface="Aptos"/>
              </a:rPr>
              <a:t>Remaining assumption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DDC54-2C65-4DE0-8441-638EAB94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905375"/>
            <a:ext cx="48291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Hardness against every efficient algorithm remains unproved.</a:t>
            </a:r>
          </a:p>
        </p:txBody>
      </p:sp>
    </p:spTree>
    <p:extLst>
      <p:ext uri="{BB962C8B-B14F-4D97-AF65-F5344CB8AC3E}">
        <p14:creationId xmlns:p14="http://schemas.microsoft.com/office/powerpoint/2010/main" val="14908979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A3CB3-C380-482F-8678-A3FCC56E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d-LIN, LPN, LWE and Module-LWE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0C5AB-BF9F-4D0F-AD8B-0A2A3B59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STUDENT EDITION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D8E30-AB1B-480D-896D-3DB38E21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685925"/>
          <a:ext xmlns:a="http://schemas.openxmlformats.org/drawingml/2006/main" cx="108585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5238750"/>
                <a:gridCol w="3667125"/>
              </a:tblGrid>
              <a:tr h="6762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Problem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Linear structure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Error model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d-LIN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Binary rows with exactly d ones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Independent bit flips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LPN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Uniform binary rows, typically dense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Independent bit flips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LWE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Uniform matrices over Zq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Small centered modular errors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Module-LWE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Polynomial matrices over Rq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Small polynomial coefficients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959FC-6E9D-42FB-BDC1-05133DB1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Changing the matrix distribution or the noise changes the assumption.</a:t>
            </a:r>
          </a:p>
        </p:txBody>
      </p:sp>
    </p:spTree>
    <p:extLst>
      <p:ext uri="{BB962C8B-B14F-4D97-AF65-F5344CB8AC3E}">
        <p14:creationId xmlns:p14="http://schemas.microsoft.com/office/powerpoint/2010/main" val="11759098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63A24-2F85-4C8A-A557-E249D96B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LWE and Module-LWE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583C3-FA85-4040-8867-B53A7B07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STUDENT EDITION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31613-E4A1-49C7-AC59-7F754972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3A585-A892-494E-A209-8D262595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LWE:   b = As + e  (mod q)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64F94-0024-4DDB-A95C-3CA720F4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525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A contains ordinary modular coefficients. Small errors perturb the outputs.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E6E78-6C27-4203-BA94-1535466E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Module-LWE:   t = As + e  in Rqᵏ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76F98-8B77-4FDB-BCBE-69982FEA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A, s and e contain polynomials. Each polynomial equation represents many linked coefficient equations.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7914C-6E1C-4B44-B512-2F406AD6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Module structure is different from fixing d nonzero bits in each d-LIN row.</a:t>
            </a:r>
          </a:p>
        </p:txBody>
      </p:sp>
    </p:spTree>
    <p:extLst>
      <p:ext uri="{BB962C8B-B14F-4D97-AF65-F5344CB8AC3E}">
        <p14:creationId xmlns:p14="http://schemas.microsoft.com/office/powerpoint/2010/main" val="19754628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04D14-A956-403D-B141-E606A08D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What ABW proves about public-key encryption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4B634-1F09-4C00-9CF9-288F4BF8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STUDENT EDITION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2AF49-EF90-4762-ABB2-D5B9F4A0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78D7D-2FBA-4D57-9F69-FDF9D7BA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Theorem 2: one sparse-noise assumption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C0E6D-A178-471A-BBF6-2099BFD5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6203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Hardness of 3-LIN at m = c n¹·⁴ and ε = n⁻⁰·² / c implies semantically secure public-key encryption.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507D6-D16D-4F50-A49B-AF55F3B7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B5D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B5D4D"/>
                </a:solidFill>
                <a:latin typeface="Aptos"/>
                <a:ea typeface="Aptos"/>
                <a:cs typeface="Aptos"/>
              </a:rPr>
              <a:t>Theorem 3: an additional graph assumption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9E1C1-AE15-4DE4-A8B6-D16E7932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A d-LIN assumption plus hidden unbalanced expansion allows another parameter regime.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F7AE5-B785-4E53-9ACE-586B6EAC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95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Semantic security hides the message from efficient observers.</a:t>
            </a:r>
          </a:p>
          <a:p xmlns:a="http://schemas.openxmlformats.org/drawingml/2006/main">
            <a:pPr algn="l"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These are asymptotic existence theorems without a concrete parameter set.</a:t>
            </a:r>
          </a:p>
        </p:txBody>
      </p:sp>
    </p:spTree>
    <p:extLst>
      <p:ext uri="{BB962C8B-B14F-4D97-AF65-F5344CB8AC3E}">
        <p14:creationId xmlns:p14="http://schemas.microsoft.com/office/powerpoint/2010/main" val="3343573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F6642-1AFF-4D0E-8EB5-EC004845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A hidden dependency cancels the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BA724-AA9F-457E-9AF7-90506CDA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STUDENT EDITION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46DA2-E5D1-45E8-A3DF-D5C3D31F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68362-548E-4984-A876-CA7268C1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33525"/>
            <a:ext cx="1085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A small cancellation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A0809-9487-48E6-B1F8-47ECFA4D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6791325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y₁ = x₁ + x₂ + e₁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y₂ = x₂ + x₃ + e₂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y₃ = x₁ + x₃ + e₃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6004F-D6BC-4C58-9D4C-569A5B6F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390775"/>
            <a:ext cx="3448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xᵢ + xᵢ =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BA8EB-F1BD-42E3-8A04-50039FC0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438525"/>
            <a:ext cx="334327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Each variable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appears twice.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9C83A-D52A-4DD7-AFA8-C5E755A6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y₁ + y₂ + y₃ = e₁ + e₂ + e₃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FAC42-1CB1-4F03-A8C0-09CAAFC8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72175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ABW uses a secret short dependency as part of a public-key encryption construction.</a:t>
            </a:r>
          </a:p>
        </p:txBody>
      </p:sp>
    </p:spTree>
    <p:extLst>
      <p:ext uri="{BB962C8B-B14F-4D97-AF65-F5344CB8AC3E}">
        <p14:creationId xmlns:p14="http://schemas.microsoft.com/office/powerpoint/2010/main" val="7657120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2B121-D222-4A6F-9498-61D3FB9B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The ABW bit-encryption mechanism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018E6-FD76-47E3-9D7A-2BEE0924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STUDENT EDITION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763FC-354C-4A30-BB8C-DBDEEB22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1590675"/>
          <a:ext xmlns:a="http://schemas.openxmlformats.org/drawingml/2006/main" cx="10858500" cy="1276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00525"/>
                <a:gridCol w="6657975"/>
              </a:tblGrid>
              <a:tr h="6381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Public key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Secret key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Sparse matrix M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Short set S with Σᵢ∈S Mᵢ = 0 and m ∈ 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0CD34-82AA-4310-A9A2-26BFF2AD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042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Enc(σ) = Mx + e + σuₘ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FFE51-1C69-4BA0-A608-7CDF30A3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772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Dec(c) = Σᵢ∈S cᵢ = σ + Σᵢ∈S eᵢ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17AFA-A004-4F96-8238-5213D96D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σ is the message bit. uₘ has a 1 only in the last position.</a:t>
            </a:r>
          </a:p>
          <a:p xmlns:a="http://schemas.openxmlformats.org/drawingml/2006/main">
            <a:pPr algn="l"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Fresh x and e randomize every encryption.</a:t>
            </a:r>
          </a:p>
        </p:txBody>
      </p:sp>
    </p:spTree>
    <p:extLst>
      <p:ext uri="{BB962C8B-B14F-4D97-AF65-F5344CB8AC3E}">
        <p14:creationId xmlns:p14="http://schemas.microsoft.com/office/powerpoint/2010/main" val="194620393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8575C-81DF-43F8-8219-85087B36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A short dependency keeps decryption useful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B608A-111B-42B2-A0BE-CE9F422C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STUDENT EDITION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2C16B-15C9-40D1-9ACA-D8E23986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AA185-80B4-40A4-9F92-D458D95C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858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Dec(c) = σ + the parity of r error bits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3D5CD-21A0-4F01-8A68-DCB05A49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Example: r = 10, ε = 0.01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03444-69FA-423F-AC01-4AE58CA6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5848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75" b="1">
                <a:solidFill>
                  <a:srgbClr val="CB5D4D"/>
                </a:solidFill>
                <a:latin typeface="Aptos"/>
                <a:ea typeface="Aptos"/>
                <a:cs typeface="Aptos"/>
              </a:defRPr>
            </a:pPr>
            <a:r>
              <a:rPr sz="5175" b="1">
                <a:solidFill>
                  <a:srgbClr val="CB5D4D"/>
                </a:solidFill>
                <a:latin typeface="Aptos"/>
                <a:ea typeface="Aptos"/>
                <a:cs typeface="Aptos"/>
              </a:rPr>
              <a:t>about 9.15%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94A9B-39DA-4C7A-8041-77942040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24300"/>
            <a:ext cx="48196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47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raw decryption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AD137-0589-441D-9B25-C94BE971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076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Longer dependencies accumulate noise. ABW uses amplification to obtain reliable encryption.</a:t>
            </a:r>
          </a:p>
        </p:txBody>
      </p:sp>
    </p:spTree>
    <p:extLst>
      <p:ext uri="{BB962C8B-B14F-4D97-AF65-F5344CB8AC3E}">
        <p14:creationId xmlns:p14="http://schemas.microsoft.com/office/powerpoint/2010/main" val="9991441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A6C27-7CA8-42D2-A9EE-DF229164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Reasons to study d-LIN for public keys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9E0BA-C3E2-4BCF-89D5-B2AB2D82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STUDENT EDITION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A8033-143F-47A7-B2D4-F02F6554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32357-B876-4CEC-8A81-FB133F99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A different 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2DCED-11C7-4B32-B2D2-E5AEA888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10591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ABW connects natural sparse noisy constraints to public-key encryption.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8A8AC-615C-418E-8DDF-DA2F1F55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Simple local arithmetic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142EE-26E0-4FB7-953A-D9E9B533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10477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Core evaluation uses O(md) bit operations. Row index lists use O(md log n) bits.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3ECF8-64D9-4A05-84C9-8FF94F15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2442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A proved conditional construction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53253-8FED-42A5-A7A0-26A81B1A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Theorems turn specified average-case hardness assumptions into semantic security.</a:t>
            </a:r>
          </a:p>
        </p:txBody>
      </p:sp>
    </p:spTree>
    <p:extLst>
      <p:ext uri="{BB962C8B-B14F-4D97-AF65-F5344CB8AC3E}">
        <p14:creationId xmlns:p14="http://schemas.microsoft.com/office/powerpoint/2010/main" val="40963934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DDAAD-80AB-4016-B8BB-6E95A4B5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Costs and unresolved issues for public keys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CE8EF-4526-499A-AA29-E4CACF69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STUDENT EDITION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AD1E0-6493-4D94-8FEA-BCE83664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24B9B-DDF5-4B90-B94F-263CD914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Security assumptions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89287-F8D0-43A0-BA39-BB773B8B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4886325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Parameters and sampling matter.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A short hidden dependency must remain hard to exploit.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Restricted attack evidence leaves a general hardness assumption.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7B9F6-9671-482A-B723-10CA59D2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647825"/>
            <a:ext cx="491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B5D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B5D4D"/>
                </a:solidFill>
                <a:latin typeface="Aptos"/>
                <a:ea typeface="Aptos"/>
                <a:cs typeface="Aptos"/>
              </a:rPr>
              <a:t>Implementation costs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1A725-9C16-4DCF-AA7A-DE77685B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14600"/>
            <a:ext cx="4829175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Noise and dependency length compete with correctness.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Amplification adds overhead.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Concrete parameters, CCA security and quantum analysis need more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E95CA-D55F-416A-AC17-247A9CD5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Cheap sparse XOR operations alone do not establish an efficient final cryptosystem.</a:t>
            </a:r>
          </a:p>
        </p:txBody>
      </p:sp>
    </p:spTree>
    <p:extLst>
      <p:ext uri="{BB962C8B-B14F-4D97-AF65-F5344CB8AC3E}">
        <p14:creationId xmlns:p14="http://schemas.microsoft.com/office/powerpoint/2010/main" val="21431151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A1631-DD5A-4631-9A15-9F2AD178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ABW and a concrete Module-LWE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9ED4C-6A78-40C8-B29C-2AB93582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STUDENT EDITION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276F9-4C27-48E7-ABE2-5EEDF0C9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3552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029075"/>
                <a:gridCol w="4829175"/>
              </a:tblGrid>
              <a:tr h="71056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Aspect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ABW d-LIN construction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ML-KEM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</a:tr>
              <a:tr h="71056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Role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Asymptotic PKE existence result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Standardized key encapsulation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71056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Security statement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Semantic security under stated assumptions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IND-CCA2 goal under Module-LWE and proof conditions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71056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Parameters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No concrete 128-bit set in ABW09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ML-KEM-512 / 768 / 1024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71056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Example sizes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No like-for-like benchmark here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ML-KEM-768: key 1184 B, ciphertext 1088 B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EE2F2-899E-44D8-ADAB-C2A43865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PKE encrypts messages. A KEM establishes a shared secret for a larger protocol.</a:t>
            </a:r>
          </a:p>
        </p:txBody>
      </p:sp>
    </p:spTree>
    <p:extLst>
      <p:ext uri="{BB962C8B-B14F-4D97-AF65-F5344CB8AC3E}">
        <p14:creationId xmlns:p14="http://schemas.microsoft.com/office/powerpoint/2010/main" val="134810660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9A9F8-A04B-4C7A-BEC9-33317637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Reading path and main distinctions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4E160-0CD0-4D5B-A8D6-F46917AA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STUDENT EDITION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4EDC6-F726-4D93-A25E-94C4AD35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2990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7667625"/>
              </a:tblGrid>
              <a:tr h="59817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Question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Key distinction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</a:tr>
              <a:tr h="59817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What is the task?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Exact recovery, approximate recovery, decision or residual fitting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59817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What makes it hard?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A precise sampled distribution and an unproved average-case assumption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59817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What does ABW prove?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Semantic-security existence under specific theorem hypotheses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59817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How does it compare?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Same noisy-linear template, different distributions and reductions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7C82E-A178-4492-9593-FB148202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ABW09: §§2, 5–7 and 9</a:t>
            </a:r>
          </a:p>
          <a:p xmlns:a="http://schemas.openxmlformats.org/drawingml/2006/main">
            <a:pPr algn="l">
              <a:defRPr sz="19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Regev on LWE, Langlois–Stehlé on Module-LWE, NIST FIPS 203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63541-F3B9-47C7-92AA-0BA1CE97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Try explaining why exact equations, noisy recovery and public-key encryption are different tasks.</a:t>
            </a:r>
          </a:p>
        </p:txBody>
      </p:sp>
    </p:spTree>
    <p:extLst>
      <p:ext uri="{BB962C8B-B14F-4D97-AF65-F5344CB8AC3E}">
        <p14:creationId xmlns:p14="http://schemas.microsoft.com/office/powerpoint/2010/main" val="13186323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2026-10-05T14:36:17.8340000Z</dcterms:created>
  <dcterms:modified xsi:type="dcterms:W3CDTF">2026-10-05T14:36:17.8340000Z</dcterms:modified>
</coreProperties>
</file>