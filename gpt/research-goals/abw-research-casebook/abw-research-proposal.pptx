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94882c045b14c46" /><Relationship Type="http://schemas.openxmlformats.org/officeDocument/2006/relationships/extended-properties" Target="/docProps/app.xml" Id="Rf83e6e7bb72848ec" /><Relationship Type="http://schemas.openxmlformats.org/officeDocument/2006/relationships/officeDocument" Target="/ppt/presentation.xml" Id="R6f44488421da46da" /></Relationships>
</file>

<file path=ppt/presentation.xml><?xml version="1.0" encoding="utf-8"?>
<p:presentation xmlns:p="http://schemas.openxmlformats.org/presentationml/2006/main">
  <p:sldMasterIdLst>
    <p:sldMasterId xmlns:r="http://schemas.openxmlformats.org/officeDocument/2006/relationships" id="2147483648" r:id="R6d66aa99fa5b4858"/>
  </p:sldMasterIdLst>
  <p:notesMasterIdLst>
    <p:notesMasterId xmlns:r="http://schemas.openxmlformats.org/officeDocument/2006/relationships" r:id="R7a0dcfd11e1f49f7"/>
  </p:notesMasterIdLst>
  <p:sldIdLst>
    <p:sldId xmlns:r="http://schemas.openxmlformats.org/officeDocument/2006/relationships" id="256" r:id="R93893408a8974b50"/>
    <p:sldId xmlns:r="http://schemas.openxmlformats.org/officeDocument/2006/relationships" id="257" r:id="Rb53ae19ef34f441c"/>
    <p:sldId xmlns:r="http://schemas.openxmlformats.org/officeDocument/2006/relationships" id="258" r:id="R82749d68c8b24a65"/>
    <p:sldId xmlns:r="http://schemas.openxmlformats.org/officeDocument/2006/relationships" id="259" r:id="R3f9d35ab34dc46b4"/>
    <p:sldId xmlns:r="http://schemas.openxmlformats.org/officeDocument/2006/relationships" id="260" r:id="R366f86ceb4c04424"/>
    <p:sldId xmlns:r="http://schemas.openxmlformats.org/officeDocument/2006/relationships" id="261" r:id="R5563c24c635c42a3"/>
    <p:sldId xmlns:r="http://schemas.openxmlformats.org/officeDocument/2006/relationships" id="262" r:id="R32fa530d04bb4f86"/>
    <p:sldId xmlns:r="http://schemas.openxmlformats.org/officeDocument/2006/relationships" id="263" r:id="R5741094763734788"/>
    <p:sldId xmlns:r="http://schemas.openxmlformats.org/officeDocument/2006/relationships" id="264" r:id="Rc723668117ff4fae"/>
    <p:sldId xmlns:r="http://schemas.openxmlformats.org/officeDocument/2006/relationships" id="265" r:id="Rcfd9ea8f20d143f5"/>
    <p:sldId xmlns:r="http://schemas.openxmlformats.org/officeDocument/2006/relationships" id="266" r:id="R6b29f7efd5ba45f5"/>
    <p:sldId xmlns:r="http://schemas.openxmlformats.org/officeDocument/2006/relationships" id="267" r:id="R33f0be0bb46748be"/>
    <p:sldId xmlns:r="http://schemas.openxmlformats.org/officeDocument/2006/relationships" id="268" r:id="R070a256009164844"/>
    <p:sldId xmlns:r="http://schemas.openxmlformats.org/officeDocument/2006/relationships" id="269" r:id="R7e99584925254b1c"/>
    <p:sldId xmlns:r="http://schemas.openxmlformats.org/officeDocument/2006/relationships" id="270" r:id="R0dbf3b3b6a8a4ef5"/>
    <p:sldId xmlns:r="http://schemas.openxmlformats.org/officeDocument/2006/relationships" id="271" r:id="R6799b8b875374476"/>
    <p:sldId xmlns:r="http://schemas.openxmlformats.org/officeDocument/2006/relationships" id="272" r:id="R0d2e0286da984f3d"/>
    <p:sldId xmlns:r="http://schemas.openxmlformats.org/officeDocument/2006/relationships" id="273" r:id="Rc742e4633d3947b6"/>
    <p:sldId xmlns:r="http://schemas.openxmlformats.org/officeDocument/2006/relationships" id="274" r:id="Re9c145e04f73482f"/>
    <p:sldId xmlns:r="http://schemas.openxmlformats.org/officeDocument/2006/relationships" id="275" r:id="R2ceae18a55dc40c7"/>
    <p:sldId xmlns:r="http://schemas.openxmlformats.org/officeDocument/2006/relationships" id="276" r:id="R50eec7946d2441cf"/>
    <p:sldId xmlns:r="http://schemas.openxmlformats.org/officeDocument/2006/relationships" id="277" r:id="Rd9b694df4a8545f1"/>
    <p:sldId xmlns:r="http://schemas.openxmlformats.org/officeDocument/2006/relationships" id="278" r:id="R5265b73642724505"/>
    <p:sldId xmlns:r="http://schemas.openxmlformats.org/officeDocument/2006/relationships" id="279" r:id="R3365ba02d2524339"/>
    <p:sldId xmlns:r="http://schemas.openxmlformats.org/officeDocument/2006/relationships" id="280" r:id="R824279b5c4a540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ff2ddbbe1f45d9" /><Relationship Type="http://schemas.openxmlformats.org/officeDocument/2006/relationships/slideMaster" Target="/ppt/slideMasters/slideMaster1.xml" Id="R6d66aa99fa5b4858" /><Relationship Type="http://schemas.openxmlformats.org/officeDocument/2006/relationships/notesMaster" Target="/ppt/notesMasters/notesMaster1.xml" Id="R7a0dcfd11e1f49f7" /><Relationship Type="http://schemas.openxmlformats.org/officeDocument/2006/relationships/presProps" Target="/ppt/presProps.xml" Id="R1916881332994bb1" /><Relationship Type="http://schemas.openxmlformats.org/officeDocument/2006/relationships/tableStyles" Target="/ppt/tableStyles.xml" Id="R655713d303114081" /><Relationship Type="http://schemas.openxmlformats.org/officeDocument/2006/relationships/slide" Target="/ppt/slides/slide1.xml" Id="R93893408a8974b50" /><Relationship Type="http://schemas.openxmlformats.org/officeDocument/2006/relationships/slide" Target="/ppt/slides/slide2.xml" Id="Rb53ae19ef34f441c" /><Relationship Type="http://schemas.openxmlformats.org/officeDocument/2006/relationships/slide" Target="/ppt/slides/slide3.xml" Id="R82749d68c8b24a65" /><Relationship Type="http://schemas.openxmlformats.org/officeDocument/2006/relationships/slide" Target="/ppt/slides/slide4.xml" Id="R3f9d35ab34dc46b4" /><Relationship Type="http://schemas.openxmlformats.org/officeDocument/2006/relationships/slide" Target="/ppt/slides/slide5.xml" Id="R366f86ceb4c04424" /><Relationship Type="http://schemas.openxmlformats.org/officeDocument/2006/relationships/slide" Target="/ppt/slides/slide6.xml" Id="R5563c24c635c42a3" /><Relationship Type="http://schemas.openxmlformats.org/officeDocument/2006/relationships/slide" Target="/ppt/slides/slide7.xml" Id="R32fa530d04bb4f86" /><Relationship Type="http://schemas.openxmlformats.org/officeDocument/2006/relationships/slide" Target="/ppt/slides/slide8.xml" Id="R5741094763734788" /><Relationship Type="http://schemas.openxmlformats.org/officeDocument/2006/relationships/slide" Target="/ppt/slides/slide9.xml" Id="Rc723668117ff4fae" /><Relationship Type="http://schemas.openxmlformats.org/officeDocument/2006/relationships/slide" Target="/ppt/slides/slide10.xml" Id="Rcfd9ea8f20d143f5" /><Relationship Type="http://schemas.openxmlformats.org/officeDocument/2006/relationships/slide" Target="/ppt/slides/slide11.xml" Id="R6b29f7efd5ba45f5" /><Relationship Type="http://schemas.openxmlformats.org/officeDocument/2006/relationships/slide" Target="/ppt/slides/slide12.xml" Id="R33f0be0bb46748be" /><Relationship Type="http://schemas.openxmlformats.org/officeDocument/2006/relationships/slide" Target="/ppt/slides/slide13.xml" Id="R070a256009164844" /><Relationship Type="http://schemas.openxmlformats.org/officeDocument/2006/relationships/slide" Target="/ppt/slides/slide14.xml" Id="R7e99584925254b1c" /><Relationship Type="http://schemas.openxmlformats.org/officeDocument/2006/relationships/slide" Target="/ppt/slides/slide15.xml" Id="R0dbf3b3b6a8a4ef5" /><Relationship Type="http://schemas.openxmlformats.org/officeDocument/2006/relationships/slide" Target="/ppt/slides/slide16.xml" Id="R6799b8b875374476" /><Relationship Type="http://schemas.openxmlformats.org/officeDocument/2006/relationships/slide" Target="/ppt/slides/slide17.xml" Id="R0d2e0286da984f3d" /><Relationship Type="http://schemas.openxmlformats.org/officeDocument/2006/relationships/slide" Target="/ppt/slides/slide18.xml" Id="Rc742e4633d3947b6" /><Relationship Type="http://schemas.openxmlformats.org/officeDocument/2006/relationships/slide" Target="/ppt/slides/slide19.xml" Id="Re9c145e04f73482f" /><Relationship Type="http://schemas.openxmlformats.org/officeDocument/2006/relationships/slide" Target="/ppt/slides/slide20.xml" Id="R2ceae18a55dc40c7" /><Relationship Type="http://schemas.openxmlformats.org/officeDocument/2006/relationships/slide" Target="/ppt/slides/slide21.xml" Id="R50eec7946d2441cf" /><Relationship Type="http://schemas.openxmlformats.org/officeDocument/2006/relationships/slide" Target="/ppt/slides/slide22.xml" Id="Rd9b694df4a8545f1" /><Relationship Type="http://schemas.openxmlformats.org/officeDocument/2006/relationships/slide" Target="/ppt/slides/slide23.xml" Id="R5265b73642724505" /><Relationship Type="http://schemas.openxmlformats.org/officeDocument/2006/relationships/slide" Target="/ppt/slides/slide24.xml" Id="R3365ba02d2524339" /><Relationship Type="http://schemas.openxmlformats.org/officeDocument/2006/relationships/slide" Target="/ppt/slides/slide25.xml" Id="R824279b5c4a540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4d2642dbfb40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360cc2f9244366" /><Relationship Type="http://schemas.openxmlformats.org/officeDocument/2006/relationships/notesMaster" Target="/ppt/notesMasters/notesMaster1.xml" Id="R575f541f0b0a49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bcdc4daf4144b1" /><Relationship Type="http://schemas.openxmlformats.org/officeDocument/2006/relationships/notesMaster" Target="/ppt/notesMasters/notesMaster1.xml" Id="Rcc2d3f7213634b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e6773edd6f41b3" /><Relationship Type="http://schemas.openxmlformats.org/officeDocument/2006/relationships/notesMaster" Target="/ppt/notesMasters/notesMaster1.xml" Id="R46bfae4679cf41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95e1de534b40ec" /><Relationship Type="http://schemas.openxmlformats.org/officeDocument/2006/relationships/notesMaster" Target="/ppt/notesMasters/notesMaster1.xml" Id="R96b00415965343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69cf1ceeee41fb" /><Relationship Type="http://schemas.openxmlformats.org/officeDocument/2006/relationships/notesMaster" Target="/ppt/notesMasters/notesMaster1.xml" Id="R0126d3cad1fe45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22339cd3154aef" /><Relationship Type="http://schemas.openxmlformats.org/officeDocument/2006/relationships/notesMaster" Target="/ppt/notesMasters/notesMaster1.xml" Id="Rcd58cb7adb5d4d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099fd929ab42c0" /><Relationship Type="http://schemas.openxmlformats.org/officeDocument/2006/relationships/notesMaster" Target="/ppt/notesMasters/notesMaster1.xml" Id="Rf135bd1fb0f245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0aa06274104bad" /><Relationship Type="http://schemas.openxmlformats.org/officeDocument/2006/relationships/notesMaster" Target="/ppt/notesMasters/notesMaster1.xml" Id="Rade4c91fd7bb47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2b2c91593c4728" /><Relationship Type="http://schemas.openxmlformats.org/officeDocument/2006/relationships/notesMaster" Target="/ppt/notesMasters/notesMaster1.xml" Id="R587f165e9f114c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1badab58f946a4" /><Relationship Type="http://schemas.openxmlformats.org/officeDocument/2006/relationships/notesMaster" Target="/ppt/notesMasters/notesMaster1.xml" Id="R076c907d069345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2fdd74d17d4ca5" /><Relationship Type="http://schemas.openxmlformats.org/officeDocument/2006/relationships/notesMaster" Target="/ppt/notesMasters/notesMaster1.xml" Id="R02be5acbef1a43e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9515532c104a8b" /><Relationship Type="http://schemas.openxmlformats.org/officeDocument/2006/relationships/notesMaster" Target="/ppt/notesMasters/notesMaster1.xml" Id="R1b811b26e52041b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99c654b532f497d" /><Relationship Type="http://schemas.openxmlformats.org/officeDocument/2006/relationships/notesMaster" Target="/ppt/notesMasters/notesMaster1.xml" Id="R4782950c4258479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83e9c2cbfee4614" /><Relationship Type="http://schemas.openxmlformats.org/officeDocument/2006/relationships/notesMaster" Target="/ppt/notesMasters/notesMaster1.xml" Id="R87ae6b32514f4c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fa73ccc77149e6" /><Relationship Type="http://schemas.openxmlformats.org/officeDocument/2006/relationships/notesMaster" Target="/ppt/notesMasters/notesMaster1.xml" Id="Rba4f64cb4b434bc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7c703382b86474c" /><Relationship Type="http://schemas.openxmlformats.org/officeDocument/2006/relationships/notesMaster" Target="/ppt/notesMasters/notesMaster1.xml" Id="R4c0eea4da33f445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b01129e7eb648fc" /><Relationship Type="http://schemas.openxmlformats.org/officeDocument/2006/relationships/notesMaster" Target="/ppt/notesMasters/notesMaster1.xml" Id="R1ac1ac3e196841b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b317f968ecc4d9b" /><Relationship Type="http://schemas.openxmlformats.org/officeDocument/2006/relationships/notesMaster" Target="/ppt/notesMasters/notesMaster1.xml" Id="R32e92d3fc1d94b7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98e02b1d7274852" /><Relationship Type="http://schemas.openxmlformats.org/officeDocument/2006/relationships/notesMaster" Target="/ppt/notesMasters/notesMaster1.xml" Id="R24c26a4fadcb481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46f5eae7dee404c" /><Relationship Type="http://schemas.openxmlformats.org/officeDocument/2006/relationships/notesMaster" Target="/ppt/notesMasters/notesMaster1.xml" Id="R10b3c719a4364aa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4b5258072884091" /><Relationship Type="http://schemas.openxmlformats.org/officeDocument/2006/relationships/notesMaster" Target="/ppt/notesMasters/notesMaster1.xml" Id="Reea0d5e047e0499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e61de3eb13a46c9" /><Relationship Type="http://schemas.openxmlformats.org/officeDocument/2006/relationships/notesMaster" Target="/ppt/notesMasters/notesMaster1.xml" Id="Rfa11d54acd88404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880955789a548d7" /><Relationship Type="http://schemas.openxmlformats.org/officeDocument/2006/relationships/notesMaster" Target="/ppt/notesMasters/notesMaster1.xml" Id="R8209414dbd20484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0759b3ee47343b8" /><Relationship Type="http://schemas.openxmlformats.org/officeDocument/2006/relationships/notesMaster" Target="/ppt/notesMasters/notesMaster1.xml" Id="R51cfe12738b8436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7a387eb13494b3c" /><Relationship Type="http://schemas.openxmlformats.org/officeDocument/2006/relationships/notesMaster" Target="/ppt/notesMasters/notesMaster1.xml" Id="Rd67a5b2a6f8f4a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25–30 minute research briefing for cryptography colleagues. Slides 1–20 form the main talk. Slides 21–25 provide technical details and references. Assessment date: 6 October 2026. The cover is conceptual artwork already prepared for the d-LIN project, not an actual sampled public key.</a:t>
            </a:r>
          </a:p>
          <a:p xmlns:a="http://schemas.openxmlformats.org/drawingml/2006/main">
            <a:r>
              <a:t/>
            </a:r>
          </a:p>
          <a:p xmlns:a="http://schemas.openxmlformats.org/drawingml/2006/main">
            <a:r>
              <a:t>Sources</a:t>
            </a:r>
          </a:p>
          <a:p xmlns:a="http://schemas.openxmlformats.org/drawingml/2006/main">
            <a:r>
              <a:t>https://www.math.ias.edu/~avi/PUBLICATIONS/MYPAPERS/ABW09/ABW09.pdf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 aim as a feasibility question. ABW offers a way to diversify assumptions, not an established claim of greater security or practical superiority. A credible project can produce a construction, a sharper reduction, or a negative result. The team should decide whether its primary aim is an assumption-minimizing theorem or an efficient concrete KEM. The proposed first phase serves either aim.</a:t>
            </a:r>
          </a:p>
          <a:p xmlns:a="http://schemas.openxmlformats.org/drawingml/2006/main">
            <a:r>
              <a:t/>
            </a:r>
          </a:p>
          <a:p xmlns:a="http://schemas.openxmlformats.org/drawingml/2006/main">
            <a:r>
              <a:t>Sources</a:t>
            </a:r>
          </a:p>
          <a:p xmlns:a="http://schemas.openxmlformats.org/drawingml/2006/main">
            <a:r>
              <a:t>https://www.math.ias.edu/~avi/PUBLICATIONS/MYPAPERS/ABW09/ABW09.pdf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of M is independently uniform among binary vectors of weight d in the basic problem distribution. Sample x uniformly and independent noise coordinates with probability epsilon. M and b are public observations. The graphic depicts the noiseless part of one row, not the full ABW key-generation law. Here d-LIN means sparse noisy parity equations, not the pairing-based Decisional Linear assumption.</a:t>
            </a:r>
          </a:p>
          <a:p xmlns:a="http://schemas.openxmlformats.org/drawingml/2006/main">
            <a:r>
              <a:t/>
            </a:r>
          </a:p>
          <a:p xmlns:a="http://schemas.openxmlformats.org/drawingml/2006/main">
            <a:r>
              <a:t>Sources</a:t>
            </a:r>
          </a:p>
          <a:p xmlns:a="http://schemas.openxmlformats.org/drawingml/2006/main">
            <a:r>
              <a:t>https://www.math.ias.edu/~avi/PUBLICATIONS/MYPAPERS/ABW09/ABW09.pdf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ABW’s single-assumption theorem starts from search 3LIN, not an unqualified decisional assumption. Approximate search in ABW Definition 6.1 means recovering an assignment within 0.1n Hamming distance of the planted x, not merely fitting many equations. The reductions change sample counts and success probabilities. Ordinary worst-case NP-hardness does not imply this average-case hardness. For even locality, complement symmetry needs attention in literal exact-recovery definitions.</a:t>
            </a:r>
          </a:p>
          <a:p xmlns:a="http://schemas.openxmlformats.org/drawingml/2006/main">
            <a:r>
              <a:t/>
            </a:r>
          </a:p>
          <a:p xmlns:a="http://schemas.openxmlformats.org/drawingml/2006/main">
            <a:r>
              <a:t>Sources</a:t>
            </a:r>
          </a:p>
          <a:p xmlns:a="http://schemas.openxmlformats.org/drawingml/2006/main">
            <a:r>
              <a:t>https://www.math.ias.edu/~avi/PUBLICATIONS/MYPAPERS/ABW09/ABW09.pdf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ABW Theorem 2 and Section 5 provide the 3LIN-only route. Theorem 3 and Section 7 combine dLIN with DUE. Section 8 combines DUE with DSF, a suitable local pseudorandom generator assumption. DUE concerns distinguishing random hypergraphs from ones with a planted small set having unusually few neighbours. DSF is a nonlinear route, not merely linear equations with altered noise. Recommendation: use Section 5 as the theoretical reference, Section 7 as a useful experimental comparison, and keep Section 8 separate.</a:t>
            </a:r>
          </a:p>
          <a:p xmlns:a="http://schemas.openxmlformats.org/drawingml/2006/main">
            <a:r>
              <a:t/>
            </a:r>
          </a:p>
          <a:p xmlns:a="http://schemas.openxmlformats.org/drawingml/2006/main">
            <a:r>
              <a:t>Sources</a:t>
            </a:r>
          </a:p>
          <a:p xmlns:a="http://schemas.openxmlformats.org/drawingml/2006/main">
            <a:r>
              <a:t>https://www.math.ias.edu/~avi/PUBLICATIONS/MYPAPERS/ABW09/ABW09.pdf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4 by 6 example has exactly three ones in each row and exactly two ones in each column. XOR of all four rows is zero, so s=(1,1,1,1)^T is a left-kernel vector. It illustrates cancellation only. The dependency is obvious at this toy size and the matrix is not a secure key. In a real key, hiding a useful short dependency under the exact public distribution is a separate security obligation. Ordinary elimination can find long dependencies, whose noise parity may be almost unbiased.</a:t>
            </a:r>
          </a:p>
          <a:p xmlns:a="http://schemas.openxmlformats.org/drawingml/2006/main">
            <a:r>
              <a:t/>
            </a:r>
          </a:p>
          <a:p xmlns:a="http://schemas.openxmlformats.org/drawingml/2006/main">
            <a:r>
              <a:t>Sources</a:t>
            </a:r>
          </a:p>
          <a:p xmlns:a="http://schemas.openxmlformats.org/drawingml/2006/main">
            <a:r>
              <a:t>https://www.math.ias.edu/~avi/PUBLICATIONS/MYPAPERS/ABW09/ABW09.pdf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key is M. The secret indicator s satisfies s^T M=0 and s_m=1. The message bit is mu. Each encryption samples fresh x and e. The last unit vector u_m flips the last ciphertext coordinate when mu=1. Decryption outputs the parity on the secret support, which equals the message plus noise parity. This is the raw weak bit-encryption construction, before the amplification used by the theorem.</a:t>
            </a:r>
          </a:p>
          <a:p xmlns:a="http://schemas.openxmlformats.org/drawingml/2006/main">
            <a:r>
              <a:t/>
            </a:r>
          </a:p>
          <a:p xmlns:a="http://schemas.openxmlformats.org/drawingml/2006/main">
            <a:r>
              <a:t>Sources</a:t>
            </a:r>
          </a:p>
          <a:p xmlns:a="http://schemas.openxmlformats.org/drawingml/2006/main">
            <a:r>
              <a:t>https://www.math.ias.edu/~avi/PUBLICATIONS/MYPAPERS/ABW09/ABW09.pdf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Calculated curves under independent Bernoulli noise, not measurements and not recommended cryptographic parameters. With r=wt(s), the exact raw failure probability is [1-(1-2epsilon)^r]/2. The union bound is r epsilon. Values use r=8,16,...,64 at equal numeric increments. A short dependency can retain useful bias, but the sampling distribution must conceal it. Raw constant correctness needs amplification for a finished scheme.</a:t>
            </a:r>
          </a:p>
          <a:p xmlns:a="http://schemas.openxmlformats.org/drawingml/2006/main">
            <a:r>
              <a:t/>
            </a:r>
          </a:p>
          <a:p xmlns:a="http://schemas.openxmlformats.org/drawingml/2006/main">
            <a:r>
              <a:t>Sources</a:t>
            </a:r>
          </a:p>
          <a:p xmlns:a="http://schemas.openxmlformats.org/drawingml/2006/main">
            <a:r>
              <a:t>https://www.math.ias.edu/~avi/PUBLICATIONS/MYPAPERS/ABW09/ABW09.pdf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compares distributions, not proven equivalences. Dense LPN uses uniform binary sample rows, typically with independent Bernoulli noise. Sparse dLIN fixes row weight. LWE uses modular equations with an appropriate small-error law. Module-LWE adds polynomial-ring/module structure. Regev-type worst-case reductions have parameter and distribution conditions. Module reductions concern module lattices, not arbitrary lattices at the same scalar dimension. Yu and Zhang give constant-noise LPN PKE under a stronger quantitative hardness assumption.</a:t>
            </a:r>
          </a:p>
          <a:p xmlns:a="http://schemas.openxmlformats.org/drawingml/2006/main">
            <a:r>
              <a:t/>
            </a:r>
          </a:p>
          <a:p xmlns:a="http://schemas.openxmlformats.org/drawingml/2006/main">
            <a:r>
              <a:t>Sources</a:t>
            </a:r>
          </a:p>
          <a:p xmlns:a="http://schemas.openxmlformats.org/drawingml/2006/main">
            <a:r>
              <a:t>https://www.math.ias.edu/~avi/PUBLICATIONS/MYPAPERS/ABW09/ABW09.pdf</a:t>
            </a:r>
          </a:p>
          <a:p xmlns:a="http://schemas.openxmlformats.org/drawingml/2006/main">
            <a:r>
              <a:t>https://cims.nyu.edu/~regev/papers/qcrypto.pdf</a:t>
            </a:r>
          </a:p>
          <a:p xmlns:a="http://schemas.openxmlformats.org/drawingml/2006/main">
            <a:r>
              <a:t>https://perso.ens-lyon.fr/damien.stehle/downloads/MSIS.pdf</a:t>
            </a:r>
          </a:p>
          <a:p xmlns:a="http://schemas.openxmlformats.org/drawingml/2006/main">
            <a:r>
              <a:t>https://www.iacr.org/archive/crypto2016/98140212/98140212.pdf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Byte sizes are from FIPS 203 Table 3 and the HQC specification dated 22 August 2025. Both rows target NIST category 1, which is not a statement of identical concrete margins or implementation costs. ML-KEM is standardized. HQC was selected in March 2025 for standardization and the cited candidate specification is not a finalized FIPS. Compare complete KEMs, including CCA security. ABW has no concrete competitive parameter set supplied by its existence theorem. RSA/ECC offer mature conventional baselines but sufficiently capable quantum computers threaten their central assumptions.</a:t>
            </a:r>
          </a:p>
          <a:p xmlns:a="http://schemas.openxmlformats.org/drawingml/2006/main">
            <a:r>
              <a:t/>
            </a:r>
          </a:p>
          <a:p xmlns:a="http://schemas.openxmlformats.org/drawingml/2006/main">
            <a:r>
              <a:t>Sources</a:t>
            </a:r>
          </a:p>
          <a:p xmlns:a="http://schemas.openxmlformats.org/drawingml/2006/main">
            <a:r>
              <a:t>https://nvlpubs.nist.gov/nistpubs/FIPS/NIST.FIPS.203.pdf</a:t>
            </a:r>
          </a:p>
          <a:p xmlns:a="http://schemas.openxmlformats.org/drawingml/2006/main">
            <a:r>
              <a:t>https://pqc-hqc.org/doc/hqc_specifications_2025_08_22.pdf</a:t>
            </a:r>
          </a:p>
          <a:p xmlns:a="http://schemas.openxmlformats.org/drawingml/2006/main">
            <a:r>
              <a:t>https://csrc.nist.gov/Projects/Post-Quantum-Cryptography/Post-Quantum-Cryptography-Standardization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research judgments from the mechanism and proof structure. Sparse binary matrix multiplication uses simple local XOR operations, but full cost includes sampling, ciphertext length and amplification. A distinct assumption family is useful only if its relationship to existing attacks is understood. ABW is related to decoding and does not automatically supply independence from all code-based cryptography. Avoid post-quantum security claims until assumptions and reductions have been analysed against quantum adversaries.</a:t>
            </a:r>
          </a:p>
          <a:p xmlns:a="http://schemas.openxmlformats.org/drawingml/2006/main">
            <a:r>
              <a:t/>
            </a:r>
          </a:p>
          <a:p xmlns:a="http://schemas.openxmlformats.org/drawingml/2006/main">
            <a:r>
              <a:t>Sources</a:t>
            </a:r>
          </a:p>
          <a:p xmlns:a="http://schemas.openxmlformats.org/drawingml/2006/main">
            <a:r>
              <a:t>https://www.math.ias.edu/~avi/PUBLICATIONS/MYPAPERS/ABW09/ABW09.pdf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BKR 2023 combines ABW ideas with local PRGs and low-degree analysis. Its alternative independent-random-hyperloop sampler leaks 4-clique counts; this is not a break of its proposed sampler or ABW. Dao–Jain provide sparse-LPN attacks in specific compression regimes and propose a distinct Dense-Sparse LPN assumption. Those attacks do not demonstrate a break of ABW’s 3LIN regime. Hair–Sahai, April 2026, is a preprint based on two high-corruption CSP conjectures and different parameters. It is not a practical upgrade of fixed-locality ABW. Low-degree evidence does not rule out all attacks.</a:t>
            </a:r>
          </a:p>
          <a:p xmlns:a="http://schemas.openxmlformats.org/drawingml/2006/main">
            <a:r>
              <a:t/>
            </a:r>
          </a:p>
          <a:p xmlns:a="http://schemas.openxmlformats.org/drawingml/2006/main">
            <a:r>
              <a:t>Sources</a:t>
            </a:r>
          </a:p>
          <a:p xmlns:a="http://schemas.openxmlformats.org/drawingml/2006/main">
            <a:r>
              <a:t>https://eprint.iacr.org/2023/1049.pdf</a:t>
            </a:r>
          </a:p>
          <a:p xmlns:a="http://schemas.openxmlformats.org/drawingml/2006/main">
            <a:r>
              <a:t>https://eprint.iacr.org/2024/175.pdf</a:t>
            </a:r>
          </a:p>
          <a:p xmlns:a="http://schemas.openxmlformats.org/drawingml/2006/main">
            <a:r>
              <a:t>https://arxiv.org/abs/2604.10479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distinction guides experiments; it is not a formal composition theorem. An attacker can exploit public-key structure, or distinguish/recover information in ciphertexts under the actual key law. For the 3LIN route, ABW’s Lemma 5.4 gives constant statistical overlap, not negligible statistical distance. The prediction reductions and amplification bridge that weaker statement to encryption. Multiple ciphertexts reuse the public matrix but sample fresh assignments and errors. All new structured samplers need their own analysis.</a:t>
            </a:r>
          </a:p>
          <a:p xmlns:a="http://schemas.openxmlformats.org/drawingml/2006/main">
            <a:r>
              <a:t/>
            </a:r>
          </a:p>
          <a:p xmlns:a="http://schemas.openxmlformats.org/drawingml/2006/main">
            <a:r>
              <a:t>Sources</a:t>
            </a:r>
          </a:p>
          <a:p xmlns:a="http://schemas.openxmlformats.org/drawingml/2006/main">
            <a:r>
              <a:t>https://www.math.ias.edu/~avi/PUBLICATIONS/MYPAPERS/ABW09/ABW09.pdf</a:t>
            </a:r>
          </a:p>
          <a:p xmlns:a="http://schemas.openxmlformats.org/drawingml/2006/main">
            <a:r>
              <a:t>https://eprint.iacr.org/2023/1049.pdf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experimental work packages, not claims that each generic method directly applies without adaptation. Include success probability, runtime, memory, sample count, and the exact distribution. Keep training/tuning samples separate from evaluation samples for heuristic distinguishers. Analyse dependencies containing the designated message row and combinations that distinguish messages. Do not use dense-LPN estimators as calibrated sparse-LPN estimators. Quantum costs need separate models.</a:t>
            </a:r>
          </a:p>
          <a:p xmlns:a="http://schemas.openxmlformats.org/drawingml/2006/main">
            <a:r>
              <a:t/>
            </a:r>
          </a:p>
          <a:p xmlns:a="http://schemas.openxmlformats.org/drawingml/2006/main">
            <a:r>
              <a:t>Sources</a:t>
            </a:r>
          </a:p>
          <a:p xmlns:a="http://schemas.openxmlformats.org/drawingml/2006/main">
            <a:r>
              <a:t>https://www.math.ias.edu/~avi/PUBLICATIONS/MYPAPERS/ABW09/ABW09.pdf</a:t>
            </a:r>
          </a:p>
          <a:p xmlns:a="http://schemas.openxmlformats.org/drawingml/2006/main">
            <a:r>
              <a:t>https://eprint.iacr.org/2023/1049.pdf</a:t>
            </a:r>
          </a:p>
          <a:p xmlns:a="http://schemas.openxmlformats.org/drawingml/2006/main">
            <a:r>
              <a:t>https://eprint.iacr.org/2024/175.pdf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raw bit ciphertext has m bits. A row-index representation uses O(md log n) bits for the sparse matrix before compression and extra keys. ABW’s cited amplification has genuine key and ciphertext costs; Holenstein–Renner Lemma 7 can use independently generated base key pairs. Average-key correctness is different from a bound excluding weak keys. An asymptotic polynomial-time hardness assumption is insufficient to derive a numerical work factor. Performance comparison must use full CPA or CCA constructions consistently.</a:t>
            </a:r>
          </a:p>
          <a:p xmlns:a="http://schemas.openxmlformats.org/drawingml/2006/main">
            <a:r>
              <a:t/>
            </a:r>
          </a:p>
          <a:p xmlns:a="http://schemas.openxmlformats.org/drawingml/2006/main">
            <a:r>
              <a:t>Sources</a:t>
            </a:r>
          </a:p>
          <a:p xmlns:a="http://schemas.openxmlformats.org/drawingml/2006/main">
            <a:r>
              <a:t>https://www.math.ias.edu/~avi/PUBLICATIONS/MYPAPERS/ABW09/ABW09.pdf</a:t>
            </a:r>
          </a:p>
          <a:p xmlns:a="http://schemas.openxmlformats.org/drawingml/2006/main">
            <a:r>
              <a:t>https://crypto.ethz.ch/publications/files/HolRen05.pdf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planning estimate for a small research team, not a promise that a secure scheme will exist within one year. Work overlaps. Specify assumptions in month 0–1; reproduce and attack the baseline over months 0.5–4; concrete CPA analysis over months 2–6; improve one bottleneck over months 4–9; attempt a CCA KEM and independent review over months 7–12+, contingent on earlier gates. The first formal review should happen near month 3. Durations in the chart are proposed planning values.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quarter is the proposed commitment. The assumption ledger should record which statements are proved, assumed, heuristic or measured. The baseline should include tests for finite-field cancellation, sampler behaviour and independent-noise correctness. The parameter report should document attack coverage, unresolved risks, and total projected size. These outputs remain useful if the candidate fails. The suggested team split is one proof lead and one attack/implementation lead with regular joint review.</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research questions, not verified novelty claims. First check the current literature. A distribution-preserving sampler, tighter reduction or cheaper amplification could be valuable without producing an immediately deployable KEM. Multiple relations may improve throughput but may also leak structure or correlate errors. Changing row locality, adding circulant structure, regularising degrees or compressing keys changes the security analysis. Change one design feature at a time and compare with the faithful baseline.</a:t>
            </a:r>
          </a:p>
          <a:p xmlns:a="http://schemas.openxmlformats.org/drawingml/2006/main">
            <a:r>
              <a:t/>
            </a:r>
          </a:p>
          <a:p xmlns:a="http://schemas.openxmlformats.org/drawingml/2006/main">
            <a:r>
              <a:t>Sources</a:t>
            </a:r>
          </a:p>
          <a:p xmlns:a="http://schemas.openxmlformats.org/drawingml/2006/main">
            <a:r>
              <a:t>https://www.math.ias.edu/~avi/PUBLICATIONS/MYPAPERS/ABW09/ABW09.pdf</a:t>
            </a:r>
          </a:p>
          <a:p xmlns:a="http://schemas.openxmlformats.org/drawingml/2006/main">
            <a:r>
              <a:t>https://eprint.iacr.org/2023/1049.pdf</a:t>
            </a:r>
          </a:p>
          <a:p xmlns:a="http://schemas.openxmlformats.org/drawingml/2006/main">
            <a:r>
              <a:t>https://crypto.ethz.ch/publications/files/HolRen05.pdf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deduction from ABW’s raw linear decoder. For every binary unit vector u_i, Dec(u_i)=s_i, because decryption takes the parity on the secret support and does not validate ciphertexts. Thus m chosen-ciphertext queries recover s, even before a challenge. This does not contradict the paper’s passive-security result. It shows why the raw scheme is not a CCA construction. First obtain an appropriate strong CPA PKE, then choose and prove a suitable conversion. A naive hash of a one-bit output does not create a secure KEM.</a:t>
            </a:r>
          </a:p>
          <a:p xmlns:a="http://schemas.openxmlformats.org/drawingml/2006/main">
            <a:r>
              <a:t/>
            </a:r>
          </a:p>
          <a:p xmlns:a="http://schemas.openxmlformats.org/drawingml/2006/main">
            <a:r>
              <a:t>Sources</a:t>
            </a:r>
          </a:p>
          <a:p xmlns:a="http://schemas.openxmlformats.org/drawingml/2006/main">
            <a:r>
              <a:t>https://www.math.ias.edu/~avi/PUBLICATIONS/MYPAPERS/ABW09/ABW09.pdf</a:t>
            </a:r>
          </a:p>
          <a:p xmlns:a="http://schemas.openxmlformats.org/drawingml/2006/main">
            <a:r>
              <a:t>https://people.inf.ethz.ch/dhofheinz/pdf/conf/tcc/HofheinzHK17.pdf</a:t>
            </a:r>
          </a:p>
          <a:p xmlns:a="http://schemas.openxmlformats.org/drawingml/2006/main">
            <a:r>
              <a:t>https://csrc.nist.gov/pubs/sp/800/227/final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project title: Concrete Security and Feasibility of Public-Key Encryption from Sparse Noisy Linear Equations. Begin with a bounded first-quarter programme. Continue toward a new construction if a credible parameter window and a tractable improvement emerge. Redirect toward a cryptanalytic result or sharper limitation if planting becomes distinguishable, short relations are cheap, amplification is impractical, or proof losses dominate. Organise weekly exchanges between proof and attack leads and obtain independent review before promoting any concrete security claim.</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ABW Theorem 2 uses Search3LIN(c n^1.4, n^-0.2/c) for a suitable constant c. The shorthand Theta notation suppresses constants that are essential to a concrete instantiation. Lemma 5.4 gives statistical distance at most 1-delta, not negligible distance. The weak security and correctness relation and amplification are integral. For the dLIN+DUE route, public degree D is even and the search degree is D/2; pairing produces ciphertext noise epsilon=2eta(1-eta). Public-key rows and reduction sample count must be kept separate. See ABW Sections 5 and 7.</a:t>
            </a:r>
          </a:p>
          <a:p xmlns:a="http://schemas.openxmlformats.org/drawingml/2006/main">
            <a:r>
              <a:t/>
            </a:r>
          </a:p>
          <a:p xmlns:a="http://schemas.openxmlformats.org/drawingml/2006/main">
            <a:r>
              <a:t>Sources</a:t>
            </a:r>
          </a:p>
          <a:p xmlns:a="http://schemas.openxmlformats.org/drawingml/2006/main">
            <a:r>
              <a:t>https://www.math.ias.edu/~avi/PUBLICATIONS/MYPAPERS/ABW09/ABW09.pdf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Derivation: define Z=(-1)^(sum_i e_i). Independence gives E[Z]=(1-2epsilon)^r. Since E[Z]=P[even]-P[odd]=1-2P[odd], solve for P[odd]. The numerical examples are direct calculations, not crypto parameters. For epsilon=0.01 and r=4,16,64 the probabilities are approximately 3.88%,13.81%,36.28%. epsilon=0.5 erases signal. Known epsilon&gt;0.5 can be reduced to 1-epsilon by complementing outputs. A lower empirical failure rate does not replace a rigorous bound.</a:t>
            </a:r>
          </a:p>
          <a:p xmlns:a="http://schemas.openxmlformats.org/drawingml/2006/main">
            <a:r>
              <a:t/>
            </a:r>
          </a:p>
          <a:p xmlns:a="http://schemas.openxmlformats.org/drawingml/2006/main">
            <a:r>
              <a:t>Sources</a:t>
            </a:r>
          </a:p>
          <a:p xmlns:a="http://schemas.openxmlformats.org/drawingml/2006/main">
            <a:r>
              <a:t>https://www.math.ias.edu/~avi/PUBLICATIONS/MYPAPERS/ABW09/ABW09.pdf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KEM establishes a shared symmetric key; authenticated symmetric encryption carries application messages. First prove an appropriate strong CPA construction and then check every hypothesis of a selected CCA transformation. Specify ROM or QROM assumptions and decryption-failure treatment. Quantum security requires both a quantum-hard base assumption and quantum-valid reductions. Near-quartic quantum and later classical planted-kXOR speedups apply to specified regimes, with stated even-k requirements, not automatically to ABW k=3. Engineering must address constant-time execution, randomness, key authentication and failure-safe rejection.</a:t>
            </a:r>
          </a:p>
          <a:p xmlns:a="http://schemas.openxmlformats.org/drawingml/2006/main">
            <a:r>
              <a:t/>
            </a:r>
          </a:p>
          <a:p xmlns:a="http://schemas.openxmlformats.org/drawingml/2006/main">
            <a:r>
              <a:t>Sources</a:t>
            </a:r>
          </a:p>
          <a:p xmlns:a="http://schemas.openxmlformats.org/drawingml/2006/main">
            <a:r>
              <a:t>https://people.inf.ethz.ch/dhofheinz/pdf/conf/tcc/HofheinzHK17.pdf</a:t>
            </a:r>
          </a:p>
          <a:p xmlns:a="http://schemas.openxmlformats.org/drawingml/2006/main">
            <a:r>
              <a:t>https://csrc.nist.gov/pubs/sp/800/227/final</a:t>
            </a:r>
          </a:p>
          <a:p xmlns:a="http://schemas.openxmlformats.org/drawingml/2006/main">
            <a:r>
              <a:t>https://arxiv.org/abs/2406.19378</a:t>
            </a:r>
          </a:p>
          <a:p xmlns:a="http://schemas.openxmlformats.org/drawingml/2006/main">
            <a:r>
              <a:t>https://arxiv.org/abs/2508.09422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references support the comparison of assumptions and the transition from weak encryption to a complete KEM. Full URLs also appear in the notes of the relevant slides. The ABW document is the November 2009 full manuscript; a conference version appeared at STOC 2010. ML-KEM sizes are from FIPS 203 Table 3.</a:t>
            </a:r>
          </a:p>
          <a:p xmlns:a="http://schemas.openxmlformats.org/drawingml/2006/main">
            <a:r>
              <a:t/>
            </a:r>
          </a:p>
          <a:p xmlns:a="http://schemas.openxmlformats.org/drawingml/2006/main">
            <a:r>
              <a:t>Sources</a:t>
            </a:r>
          </a:p>
          <a:p xmlns:a="http://schemas.openxmlformats.org/drawingml/2006/main">
            <a:r>
              <a:t>https://www.math.ias.edu/~avi/PUBLICATIONS/MYPAPERS/ABW09/ABW09.pdf</a:t>
            </a:r>
          </a:p>
          <a:p xmlns:a="http://schemas.openxmlformats.org/drawingml/2006/main">
            <a:r>
              <a:t>https://cims.nyu.edu/~regev/papers/qcrypto.pdf</a:t>
            </a:r>
          </a:p>
          <a:p xmlns:a="http://schemas.openxmlformats.org/drawingml/2006/main">
            <a:r>
              <a:t>https://perso.ens-lyon.fr/damien.stehle/downloads/MSIS.pdf</a:t>
            </a:r>
          </a:p>
          <a:p xmlns:a="http://schemas.openxmlformats.org/drawingml/2006/main">
            <a:r>
              <a:t>https://www.iacr.org/archive/crypto2016/98140212/98140212.pdf</a:t>
            </a:r>
          </a:p>
          <a:p xmlns:a="http://schemas.openxmlformats.org/drawingml/2006/main">
            <a:r>
              <a:t>https://nvlpubs.nist.gov/nistpubs/FIPS/NIST.FIPS.203.pdf</a:t>
            </a:r>
          </a:p>
          <a:p xmlns:a="http://schemas.openxmlformats.org/drawingml/2006/main">
            <a:r>
              <a:t>https://crypto.ethz.ch/publications/files/HolRen05.pdf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links for current research and implementation guidance. Hair–Sahai is a preprint and its conclusions should be described as conditional theoretical proposals. HQC sizes come from the August 2025 specification, not older parameter tables. The exact attack scope matters for all local-PRG and sparse-LPN results.</a:t>
            </a:r>
          </a:p>
          <a:p xmlns:a="http://schemas.openxmlformats.org/drawingml/2006/main">
            <a:r>
              <a:t/>
            </a:r>
          </a:p>
          <a:p xmlns:a="http://schemas.openxmlformats.org/drawingml/2006/main">
            <a:r>
              <a:t>Sources</a:t>
            </a:r>
          </a:p>
          <a:p xmlns:a="http://schemas.openxmlformats.org/drawingml/2006/main">
            <a:r>
              <a:t>https://eprint.iacr.org/2023/1049.pdf</a:t>
            </a:r>
          </a:p>
          <a:p xmlns:a="http://schemas.openxmlformats.org/drawingml/2006/main">
            <a:r>
              <a:t>https://eprint.iacr.org/2024/175.pdf</a:t>
            </a:r>
          </a:p>
          <a:p xmlns:a="http://schemas.openxmlformats.org/drawingml/2006/main">
            <a:r>
              <a:t>https://arxiv.org/abs/2604.10479</a:t>
            </a:r>
          </a:p>
          <a:p xmlns:a="http://schemas.openxmlformats.org/drawingml/2006/main">
            <a:r>
              <a:t>https://pqc-hqc.org/doc/hqc_specifications_2025_08_22.pdf</a:t>
            </a:r>
          </a:p>
          <a:p xmlns:a="http://schemas.openxmlformats.org/drawingml/2006/main">
            <a:r>
              <a:t>https://people.inf.ethz.ch/dhofheinz/pdf/conf/tcc/HofheinzHK17.pdf</a:t>
            </a:r>
          </a:p>
          <a:p xmlns:a="http://schemas.openxmlformats.org/drawingml/2006/main">
            <a:r>
              <a:t>https://csrc.nist.gov/pubs/sp/800/227/final</a:t>
            </a:r>
          </a:p>
          <a:p xmlns:a="http://schemas.openxmlformats.org/drawingml/2006/main">
            <a:r>
              <a:t>https://csrc.nist.gov/Projects/Post-Quantum-Cryptography/Post-Quantum-Cryptography-Standardization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85ece5eb2b42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1d2132026b48e2" /><Relationship Type="http://schemas.openxmlformats.org/officeDocument/2006/relationships/slideLayout" Target="/ppt/slideLayouts/slideLayout1.xml" Id="Rec183b41731044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183b41731044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cc3fc2318a4c60" /><Relationship Type="http://schemas.openxmlformats.org/officeDocument/2006/relationships/image" Target="/ppt/media/image.png" Id="R9004b05470b44c04" /><Relationship Type="http://schemas.openxmlformats.org/officeDocument/2006/relationships/notesSlide" Target="/ppt/notesSlides/notesSlide1.xml" Id="R3b62d85a94ab40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9a2c3e307884ae2" /><Relationship Type="http://schemas.openxmlformats.org/officeDocument/2006/relationships/notesSlide" Target="/ppt/notesSlides/notesSlide2.xml" Id="R21dbb9b30f3e41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7c73270e1f54610" /><Relationship Type="http://schemas.openxmlformats.org/officeDocument/2006/relationships/image" Target="/ppt/media/image2.png" Id="R75afe9ab77ab4471" /><Relationship Type="http://schemas.openxmlformats.org/officeDocument/2006/relationships/notesSlide" Target="/ppt/notesSlides/notesSlide3.xml" Id="R0f73a86529494f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c1b054def04e31" /><Relationship Type="http://schemas.openxmlformats.org/officeDocument/2006/relationships/notesSlide" Target="/ppt/notesSlides/notesSlide4.xml" Id="R94f4a825a5a545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b3383d0bcd64646" /><Relationship Type="http://schemas.openxmlformats.org/officeDocument/2006/relationships/notesSlide" Target="/ppt/notesSlides/notesSlide5.xml" Id="Rbbe780ab1b4246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c21413d7c14763" /><Relationship Type="http://schemas.openxmlformats.org/officeDocument/2006/relationships/notesSlide" Target="/ppt/notesSlides/notesSlide6.xml" Id="R6c1184b71ca843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c8ffb021ebc48db" /><Relationship Type="http://schemas.openxmlformats.org/officeDocument/2006/relationships/notesSlide" Target="/ppt/notesSlides/notesSlide7.xml" Id="R1d4c6ee33f1540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06b749d875b4da7" /><Relationship Type="http://schemas.openxmlformats.org/officeDocument/2006/relationships/chart" Target="/ppt/slides/charts/chart1.xml" Id="R966a55bc4214492a" /><Relationship Type="http://schemas.openxmlformats.org/officeDocument/2006/relationships/notesSlide" Target="/ppt/notesSlides/notesSlide8.xml" Id="R1d0b16de8fd545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c06b751068445bc" /><Relationship Type="http://schemas.openxmlformats.org/officeDocument/2006/relationships/notesSlide" Target="/ppt/notesSlides/notesSlide9.xml" Id="R4e3f2bd544614f3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1af61f72cc04a24" /><Relationship Type="http://schemas.openxmlformats.org/officeDocument/2006/relationships/chart" Target="/ppt/slides/charts/chart2.xml" Id="Rb10f8a64d1ca4c01" /><Relationship Type="http://schemas.openxmlformats.org/officeDocument/2006/relationships/notesSlide" Target="/ppt/notesSlides/notesSlide10.xml" Id="R316f218ade16427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4df9154aeac413c" /><Relationship Type="http://schemas.openxmlformats.org/officeDocument/2006/relationships/notesSlide" Target="/ppt/notesSlides/notesSlide11.xml" Id="R2c406ff0eef841a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c70e4dcd8434a1f" /><Relationship Type="http://schemas.openxmlformats.org/officeDocument/2006/relationships/notesSlide" Target="/ppt/notesSlides/notesSlide12.xml" Id="R0e6bd3de8cf843e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494e458711549d7" /><Relationship Type="http://schemas.openxmlformats.org/officeDocument/2006/relationships/notesSlide" Target="/ppt/notesSlides/notesSlide13.xml" Id="Rec29b1b695d5447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fc8637843254ee7" /><Relationship Type="http://schemas.openxmlformats.org/officeDocument/2006/relationships/notesSlide" Target="/ppt/notesSlides/notesSlide14.xml" Id="R7983cf2735444bf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4bd818370a34b84" /><Relationship Type="http://schemas.openxmlformats.org/officeDocument/2006/relationships/notesSlide" Target="/ppt/notesSlides/notesSlide15.xml" Id="R1f1491517e2d437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421eed0d0674d2f" /><Relationship Type="http://schemas.openxmlformats.org/officeDocument/2006/relationships/chart" Target="/ppt/slides/charts/chart3.xml" Id="R2c1d151f27ff470e" /><Relationship Type="http://schemas.openxmlformats.org/officeDocument/2006/relationships/notesSlide" Target="/ppt/notesSlides/notesSlide16.xml" Id="Ra072deec417d4b0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c0f6379e12a4612" /><Relationship Type="http://schemas.openxmlformats.org/officeDocument/2006/relationships/notesSlide" Target="/ppt/notesSlides/notesSlide17.xml" Id="R4fe4ae0b34cb4cc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728328d3f0348a0" /><Relationship Type="http://schemas.openxmlformats.org/officeDocument/2006/relationships/notesSlide" Target="/ppt/notesSlides/notesSlide18.xml" Id="R9f80dae1921445a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67b2d15a57d415d" /><Relationship Type="http://schemas.openxmlformats.org/officeDocument/2006/relationships/notesSlide" Target="/ppt/notesSlides/notesSlide19.xml" Id="R2ae9e33e00ac4c4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cd244c325e649f5" /><Relationship Type="http://schemas.openxmlformats.org/officeDocument/2006/relationships/notesSlide" Target="/ppt/notesSlides/notesSlide20.xml" Id="Ra7fadd47fc574f1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f0945ae0392457a" /><Relationship Type="http://schemas.openxmlformats.org/officeDocument/2006/relationships/notesSlide" Target="/ppt/notesSlides/notesSlide21.xml" Id="Reed6ed201b7c4eb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d119066e8514384" /><Relationship Type="http://schemas.openxmlformats.org/officeDocument/2006/relationships/notesSlide" Target="/ppt/notesSlides/notesSlide22.xml" Id="Radd575d5f18b406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241d7f5ad124000" /><Relationship Type="http://schemas.openxmlformats.org/officeDocument/2006/relationships/notesSlide" Target="/ppt/notesSlides/notesSlide23.xml" Id="R6b5489ebe2754c8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935282eeff74c89" /><Relationship Type="http://schemas.openxmlformats.org/officeDocument/2006/relationships/notesSlide" Target="/ppt/notesSlides/notesSlide24.xml" Id="R5aeff8c8022841d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8e207b0ba42445a" /><Relationship Type="http://schemas.openxmlformats.org/officeDocument/2006/relationships/notesSlide" Target="/ppt/notesSlides/notesSlide25.xml" Id="R8ba7da9512c8412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ε = 0.002</c:v>
          </c:tx>
          <c:spPr>
            <a:ln xmlns:a="http://schemas.openxmlformats.org/drawingml/2006/main" w="28575">
              <a:solidFill>
                <a:srgbClr val="087F82"/>
              </a:solidFill>
            </a:ln>
          </c:spPr>
          <c:marker>
            <c:symbol val="circle"/>
            <c:size val="4"/>
            <c:spPr>
              <a:solidFill xmlns:a="http://schemas.openxmlformats.org/drawingml/2006/main">
                <a:srgbClr val="087F82"/>
              </a:solidFill>
            </c:spPr>
          </c:marker>
          <c:cat>
            <c:numRef>
              <c:f>'Chart Data'!$A$2:$A$9</c:f>
              <c:numCache>
                <c:formatCode>General</c:formatCode>
                <c:ptCount val="8"/>
                <c:pt idx="0">
                  <c:v>8</c:v>
                </c:pt>
                <c:pt idx="1">
                  <c:v>16</c:v>
                </c:pt>
                <c:pt idx="2">
                  <c:v>24</c:v>
                </c:pt>
                <c:pt idx="3">
                  <c:v>32</c:v>
                </c:pt>
                <c:pt idx="4">
                  <c:v>40</c:v>
                </c:pt>
                <c:pt idx="5">
                  <c:v>48</c:v>
                </c:pt>
                <c:pt idx="6">
                  <c:v>56</c:v>
                </c:pt>
                <c:pt idx="7">
                  <c:v>64</c:v>
                </c:pt>
              </c:numCache>
            </c:numRef>
          </c:cat>
          <c:val>
            <c:numRef>
              <c:f>'Chart Data'!$B$2:$B$9</c:f>
              <c:numCache>
                <c:formatCode>0%</c:formatCode>
                <c:ptCount val="8"/>
                <c:pt idx="0">
                  <c:v>0.0157777831</c:v>
                </c:pt>
                <c:pt idx="1">
                  <c:v>0.0310576893</c:v>
                </c:pt>
                <c:pt idx="2">
                  <c:v>0.0458554294</c:v>
                </c:pt>
                <c:pt idx="3">
                  <c:v>0.0601862184</c:v>
                </c:pt>
                <c:pt idx="4">
                  <c:v>0.0740647913</c:v>
                </c:pt>
                <c:pt idx="5">
                  <c:v>0.0875054179</c:v>
                </c:pt>
                <c:pt idx="6">
                  <c:v>0.100521918</c:v>
                </c:pt>
                <c:pt idx="7">
                  <c:v>0.113127675</c:v>
                </c:pt>
              </c:numCache>
            </c:numRef>
          </c:val>
        </c:ser>
        <c:ser>
          <c:idx val="1"/>
          <c:order val="1"/>
          <c:tx>
            <c:v>ε = 0.01</c:v>
          </c:tx>
          <c:spPr>
            <a:ln xmlns:a="http://schemas.openxmlformats.org/drawingml/2006/main" w="28575">
              <a:solidFill>
                <a:srgbClr val="C45C48"/>
              </a:solidFill>
            </a:ln>
          </c:spPr>
          <c:marker>
            <c:symbol val="circle"/>
            <c:size val="4"/>
            <c:spPr>
              <a:solidFill xmlns:a="http://schemas.openxmlformats.org/drawingml/2006/main">
                <a:srgbClr val="C45C48"/>
              </a:solidFill>
            </c:spPr>
          </c:marker>
          <c:cat>
            <c:numRef>
              <c:f>'Chart Data'!$C$2:$C$9</c:f>
              <c:numCache>
                <c:formatCode>General</c:formatCode>
                <c:ptCount val="8"/>
                <c:pt idx="0">
                  <c:v>8</c:v>
                </c:pt>
                <c:pt idx="1">
                  <c:v>16</c:v>
                </c:pt>
                <c:pt idx="2">
                  <c:v>24</c:v>
                </c:pt>
                <c:pt idx="3">
                  <c:v>32</c:v>
                </c:pt>
                <c:pt idx="4">
                  <c:v>40</c:v>
                </c:pt>
                <c:pt idx="5">
                  <c:v>48</c:v>
                </c:pt>
                <c:pt idx="6">
                  <c:v>56</c:v>
                </c:pt>
                <c:pt idx="7">
                  <c:v>64</c:v>
                </c:pt>
              </c:numCache>
            </c:numRef>
          </c:cat>
          <c:val>
            <c:numRef>
              <c:f>'Chart Data'!$D$2:$D$9</c:f>
              <c:numCache>
                <c:formatCode>0%</c:formatCode>
                <c:ptCount val="8"/>
                <c:pt idx="0">
                  <c:v>0.0746184887</c:v>
                </c:pt>
                <c:pt idx="1">
                  <c:v>0.1381011397</c:v>
                </c:pt>
                <c:pt idx="2">
                  <c:v>0.1921098317</c:v>
                </c:pt>
                <c:pt idx="3">
                  <c:v>0.2380584298</c:v>
                </c:pt>
                <c:pt idx="4">
                  <c:v>0.277149798</c:v>
                </c:pt>
                <c:pt idx="5">
                  <c:v>0.3104072886</c:v>
                </c:pt>
                <c:pt idx="6">
                  <c:v>0.3387015318</c:v>
                </c:pt>
                <c:pt idx="7">
                  <c:v>0.3627732276</c:v>
                </c:pt>
              </c:numCache>
            </c:numRef>
          </c:val>
        </c:ser>
        <c:ser>
          <c:idx val="2"/>
          <c:order val="2"/>
          <c:tx>
            <c:v>ε = 0.03</c:v>
          </c:tx>
          <c:spPr>
            <a:ln xmlns:a="http://schemas.openxmlformats.org/drawingml/2006/main" w="28575">
              <a:solidFill>
                <a:srgbClr val="112F43"/>
              </a:solidFill>
            </a:ln>
          </c:spPr>
          <c:marker>
            <c:symbol val="circle"/>
            <c:size val="4"/>
            <c:spPr>
              <a:solidFill xmlns:a="http://schemas.openxmlformats.org/drawingml/2006/main">
                <a:srgbClr val="112F43"/>
              </a:solidFill>
            </c:spPr>
          </c:marker>
          <c:cat>
            <c:numRef>
              <c:f>'Chart Data'!$E$2:$E$9</c:f>
              <c:numCache>
                <c:formatCode>General</c:formatCode>
                <c:ptCount val="8"/>
                <c:pt idx="0">
                  <c:v>8</c:v>
                </c:pt>
                <c:pt idx="1">
                  <c:v>16</c:v>
                </c:pt>
                <c:pt idx="2">
                  <c:v>24</c:v>
                </c:pt>
                <c:pt idx="3">
                  <c:v>32</c:v>
                </c:pt>
                <c:pt idx="4">
                  <c:v>40</c:v>
                </c:pt>
                <c:pt idx="5">
                  <c:v>48</c:v>
                </c:pt>
                <c:pt idx="6">
                  <c:v>56</c:v>
                </c:pt>
                <c:pt idx="7">
                  <c:v>64</c:v>
                </c:pt>
              </c:numCache>
            </c:numRef>
          </c:cat>
          <c:val>
            <c:numRef>
              <c:f>'Chart Data'!$F$2:$F$9</c:f>
              <c:numCache>
                <c:formatCode>0%</c:formatCode>
                <c:ptCount val="8"/>
                <c:pt idx="0">
                  <c:v>0.1952155307</c:v>
                </c:pt>
                <c:pt idx="1">
                  <c:v>0.3142128546</c:v>
                </c:pt>
                <c:pt idx="2">
                  <c:v>0.386749927</c:v>
                </c:pt>
                <c:pt idx="3">
                  <c:v>0.4309662732</c:v>
                </c:pt>
                <c:pt idx="4">
                  <c:v>0.4579191844</c:v>
                </c:pt>
                <c:pt idx="5">
                  <c:v>0.4743488419</c:v>
                </c:pt>
                <c:pt idx="6">
                  <c:v>0.4843638508</c:v>
                </c:pt>
                <c:pt idx="7">
                  <c:v>0.4904686891</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Dependency length r</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ptos"/>
                <a:ea typeface="Aptos"/>
                <a:cs typeface="Aptos"/>
              </a:defRPr>
            </a:pPr>
          </a:p>
        </c:txPr>
        <c:crossAx val="48672768"/>
      </c:catAx>
      <c:valAx>
        <c:axId val="48672768"/>
        <c:scaling>
          <c:orientation val="minMax"/>
          <c:max val="0.5"/>
          <c:min val="0"/>
        </c:scaling>
        <c:delete val="0"/>
        <c:axPos val="l"/>
        <c:majorGridlines>
          <c:spPr>
            <a:ln xmlns:a="http://schemas.openxmlformats.org/drawingml/2006/main" w="4763">
              <a:solidFill>
                <a:srgbClr val="C7D3D4"/>
              </a:solidFill>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Raw decryption failure</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ptos"/>
                <a:ea typeface="Aptos"/>
                <a:cs typeface="Aptos"/>
              </a:defRPr>
            </a:pPr>
          </a:p>
        </c:txPr>
        <c:crossAx val="48650112"/>
        <c:crossBetween val="between"/>
        <c:majorUnit val="0.1"/>
      </c:valAx>
      <c:spPr>
        <a:solidFill xmlns:a="http://schemas.openxmlformats.org/drawingml/2006/main">
          <a:srgbClr val="F7F5F0"/>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ptos"/>
              <a:ea typeface="Aptos"/>
              <a:cs typeface="Aptos"/>
            </a:defRPr>
          </a:pPr>
        </a:p>
      </c:txPr>
    </c:legend>
    <c:plotVisOnly val="1"/>
  </c:chart>
  <c:spPr>
    <a:solidFill xmlns:a="http://schemas.openxmlformats.org/drawingml/2006/main">
      <a:srgbClr val="F7F5F0"/>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Public key</c:v>
          </c:tx>
          <c:spPr>
            <a:solidFill xmlns:a="http://schemas.openxmlformats.org/drawingml/2006/main">
              <a:srgbClr val="087F82"/>
            </a:solidFill>
          </c:spPr>
          <c:cat>
            <c:strRef>
              <c:f>'Chart Data'!$A$2:$A$3</c:f>
              <c:strCache>
                <c:ptCount val="2"/>
                <c:pt idx="0">
                  <c:v>ML-KEM-512</c:v>
                </c:pt>
                <c:pt idx="1">
                  <c:v>HQC-1</c:v>
                </c:pt>
              </c:strCache>
            </c:strRef>
          </c:cat>
          <c:val>
            <c:numRef>
              <c:f>'Chart Data'!$B$2:$B$3</c:f>
              <c:numCache>
                <c:formatCode>General</c:formatCode>
                <c:ptCount val="2"/>
                <c:pt idx="0">
                  <c:v>800</c:v>
                </c:pt>
                <c:pt idx="1">
                  <c:v>2241</c:v>
                </c:pt>
              </c:numCache>
            </c:numRef>
          </c:val>
        </c:ser>
        <c:ser>
          <c:idx val="1"/>
          <c:order val="1"/>
          <c:tx>
            <c:v>Ciphertext</c:v>
          </c:tx>
          <c:spPr>
            <a:solidFill xmlns:a="http://schemas.openxmlformats.org/drawingml/2006/main">
              <a:srgbClr val="C45C48"/>
            </a:solidFill>
          </c:spPr>
          <c:cat>
            <c:strRef>
              <c:f>'Chart Data'!$C$2:$C$3</c:f>
              <c:strCache>
                <c:ptCount val="2"/>
                <c:pt idx="0">
                  <c:v>ML-KEM-512</c:v>
                </c:pt>
                <c:pt idx="1">
                  <c:v>HQC-1</c:v>
                </c:pt>
              </c:strCache>
            </c:strRef>
          </c:cat>
          <c:val>
            <c:numRef>
              <c:f>'Chart Data'!$D$2:$D$3</c:f>
              <c:numCache>
                <c:formatCode>General</c:formatCode>
                <c:ptCount val="2"/>
                <c:pt idx="0">
                  <c:v>768</c:v>
                </c:pt>
                <c:pt idx="1">
                  <c:v>4433</c:v>
                </c:pt>
              </c:numCache>
            </c:numRef>
          </c:val>
        </c:ser>
        <c:dLbls>
          <c:txPr>
            <a:bodyPr xmlns:a="http://schemas.openxmlformats.org/drawingml/2006/main" anchorCtr="1"/>
            <a:lstStyle xmlns:a="http://schemas.openxmlformats.org/drawingml/2006/main"/>
            <a:p xmlns:a="http://schemas.openxmlformats.org/drawingml/2006/main">
              <a:pPr>
                <a:defRPr sz="1575">
                  <a:latin typeface="Aptos"/>
                  <a:ea typeface="Aptos"/>
                  <a:cs typeface="Aptos"/>
                </a:defRPr>
              </a:pPr>
            </a:p>
          </c:txPr>
          <c:dLblPos val="outEnd"/>
          <c:showLegendKey val="0"/>
          <c:showVal val="1"/>
          <c:showCatName val="0"/>
          <c:showSerName val="0"/>
          <c:showPercent val="0"/>
          <c:showBubbleSize val="0"/>
          <c:showLeaderLines val="0"/>
        </c:dLbls>
        <c:gapWidth val="10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ptos"/>
                <a:ea typeface="Aptos"/>
                <a:cs typeface="Aptos"/>
              </a:defRPr>
            </a:pPr>
          </a:p>
        </c:txPr>
        <c:crossAx val="48672768"/>
      </c:catAx>
      <c:valAx>
        <c:axId val="48672768"/>
        <c:scaling>
          <c:orientation val="minMax"/>
          <c:max val="5000"/>
          <c:min val="0"/>
        </c:scaling>
        <c:delete val="0"/>
        <c:axPos val="l"/>
        <c:majorGridlines>
          <c:spPr>
            <a:ln xmlns:a="http://schemas.openxmlformats.org/drawingml/2006/main" w="4763">
              <a:solidFill>
                <a:srgbClr val="C7D3D4"/>
              </a:solidFill>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Bytes</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ptos"/>
                <a:ea typeface="Aptos"/>
                <a:cs typeface="Aptos"/>
              </a:defRPr>
            </a:pPr>
          </a:p>
        </c:txPr>
        <c:crossAx val="48650112"/>
        <c:crossBetween val="between"/>
        <c:majorUnit val="1000"/>
      </c:valAx>
      <c:spPr>
        <a:solidFill xmlns:a="http://schemas.openxmlformats.org/drawingml/2006/main">
          <a:srgbClr val="F7F5F0"/>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Aptos"/>
              <a:ea typeface="Aptos"/>
              <a:cs typeface="Aptos"/>
            </a:defRPr>
          </a:pPr>
        </a:p>
      </c:txPr>
    </c:legend>
    <c:plotVisOnly val="1"/>
  </c:chart>
  <c:spPr>
    <a:solidFill xmlns:a="http://schemas.openxmlformats.org/drawingml/2006/main">
      <a:srgbClr val="F7F5F0"/>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a:latin typeface="Aptos"/>
                <a:ea typeface="Aptos"/>
                <a:cs typeface="Aptos"/>
              </a:rPr>
              <a:t>Months from project start</a:t>
            </a:r>
          </a:p>
        </c:rich>
      </c:tx>
      <c:overlay val="0"/>
      <c:txPr>
        <a:bodyPr xmlns:a="http://schemas.openxmlformats.org/drawingml/2006/main" anchorCtr="1"/>
        <a:lstStyle xmlns:a="http://schemas.openxmlformats.org/drawingml/2006/main"/>
        <a:p xmlns:a="http://schemas.openxmlformats.org/drawingml/2006/main">
          <a:pPr>
            <a:defRPr sz="1650">
              <a:latin typeface="Aptos"/>
              <a:ea typeface="Aptos"/>
              <a:cs typeface="Aptos"/>
            </a:defRPr>
          </a:pPr>
        </a:p>
      </c:txPr>
    </c:title>
    <c:plotArea>
      <c:barChart>
        <c:barDir val="bar"/>
        <c:grouping val="stacked"/>
        <c:varyColors val="0"/>
        <c:ser>
          <c:idx val="0"/>
          <c:order val="0"/>
          <c:tx>
            <c:v>Start month</c:v>
          </c:tx>
          <c:spPr>
            <a:solidFill xmlns:a="http://schemas.openxmlformats.org/drawingml/2006/main">
              <a:srgbClr val="F7F5F0"/>
            </a:solidFill>
            <a:ln xmlns:a="http://schemas.openxmlformats.org/drawingml/2006/main" w="0">
              <a:solidFill>
                <a:srgbClr val="F7F5F0"/>
              </a:solidFill>
            </a:ln>
          </c:spPr>
          <c:cat>
            <c:strRef>
              <c:f>'Chart Data'!$A$2:$A$6</c:f>
              <c:strCache>
                <c:ptCount val="5"/>
                <c:pt idx="0">
                  <c:v>CCA KEM and review</c:v>
                </c:pt>
                <c:pt idx="1">
                  <c:v>Improve one bottleneck</c:v>
                </c:pt>
                <c:pt idx="2">
                  <c:v>Concrete CPA analysis</c:v>
                </c:pt>
                <c:pt idx="3">
                  <c:v>Reproduce and attack</c:v>
                </c:pt>
                <c:pt idx="4">
                  <c:v>Specify assumptions</c:v>
                </c:pt>
              </c:strCache>
            </c:strRef>
          </c:cat>
          <c:val>
            <c:numRef>
              <c:f>'Chart Data'!$B$2:$B$6</c:f>
              <c:numCache>
                <c:formatCode>General</c:formatCode>
                <c:ptCount val="5"/>
                <c:pt idx="0">
                  <c:v>7</c:v>
                </c:pt>
                <c:pt idx="1">
                  <c:v>4</c:v>
                </c:pt>
                <c:pt idx="2">
                  <c:v>2</c:v>
                </c:pt>
                <c:pt idx="3">
                  <c:v>0.5</c:v>
                </c:pt>
                <c:pt idx="4">
                  <c:v>0</c:v>
                </c:pt>
              </c:numCache>
            </c:numRef>
          </c:val>
        </c:ser>
        <c:ser>
          <c:idx val="1"/>
          <c:order val="1"/>
          <c:tx>
            <c:v>Work period</c:v>
          </c:tx>
          <c:spPr>
            <a:solidFill xmlns:a="http://schemas.openxmlformats.org/drawingml/2006/main">
              <a:srgbClr val="087F82"/>
            </a:solidFill>
            <a:ln xmlns:a="http://schemas.openxmlformats.org/drawingml/2006/main" w="0">
              <a:solidFill>
                <a:srgbClr val="087F82"/>
              </a:solidFill>
            </a:ln>
          </c:spPr>
          <c:cat>
            <c:strRef>
              <c:f>'Chart Data'!$C$2:$C$6</c:f>
              <c:strCache>
                <c:ptCount val="5"/>
                <c:pt idx="0">
                  <c:v>CCA KEM and review</c:v>
                </c:pt>
                <c:pt idx="1">
                  <c:v>Improve one bottleneck</c:v>
                </c:pt>
                <c:pt idx="2">
                  <c:v>Concrete CPA analysis</c:v>
                </c:pt>
                <c:pt idx="3">
                  <c:v>Reproduce and attack</c:v>
                </c:pt>
                <c:pt idx="4">
                  <c:v>Specify assumptions</c:v>
                </c:pt>
              </c:strCache>
            </c:strRef>
          </c:cat>
          <c:val>
            <c:numRef>
              <c:f>'Chart Data'!$D$2:$D$6</c:f>
              <c:numCache>
                <c:formatCode>General</c:formatCode>
                <c:ptCount val="5"/>
                <c:pt idx="0">
                  <c:v>5</c:v>
                </c:pt>
                <c:pt idx="1">
                  <c:v>5</c:v>
                </c:pt>
                <c:pt idx="2">
                  <c:v>4</c:v>
                </c:pt>
                <c:pt idx="3">
                  <c:v>3.5</c:v>
                </c:pt>
                <c:pt idx="4">
                  <c:v>1</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gapWidth val="6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ptos"/>
                <a:ea typeface="Aptos"/>
                <a:cs typeface="Aptos"/>
              </a:defRPr>
            </a:pPr>
          </a:p>
        </c:txPr>
        <c:crossAx val="48672768"/>
      </c:catAx>
      <c:valAx>
        <c:axId val="48672768"/>
        <c:scaling>
          <c:orientation val="minMax"/>
          <c:max val="12"/>
          <c:min val="0"/>
        </c:scaling>
        <c:delete val="0"/>
        <c:axPos val="b"/>
        <c:majorGridlines>
          <c:spPr>
            <a:ln xmlns:a="http://schemas.openxmlformats.org/drawingml/2006/main" w="4763">
              <a:solidFill>
                <a:srgbClr val="C7D3D4"/>
              </a:solidFill>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Months from project start</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ptos"/>
                <a:ea typeface="Aptos"/>
                <a:cs typeface="Aptos"/>
              </a:defRPr>
            </a:pPr>
          </a:p>
        </c:txPr>
        <c:crossAx val="48650112"/>
        <c:crossBetween val="between"/>
        <c:majorUnit val="2"/>
      </c:valAx>
      <c:spPr>
        <a:solidFill xmlns:a="http://schemas.openxmlformats.org/drawingml/2006/main">
          <a:srgbClr val="F7F5F0"/>
        </a:solidFill>
      </c:spPr>
    </c:plotArea>
    <c:plotVisOnly val="1"/>
  </c:chart>
  <c:spPr>
    <a:solidFill xmlns:a="http://schemas.openxmlformats.org/drawingml/2006/main">
      <a:srgbClr val="F7F5F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93E9CD6-BED5-492A-8739-ECAAA99BA5C3}"/>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4D8B6D17-3B53-4035-9E56-324B72D1C4B6}"/>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ABW research proposal</a:t>
            </a:r>
          </a:p>
        </p:txBody>
      </p:sp>
      <p:sp>
        <p:nvSpPr>
          <p:cNvPr id="3" name="">
            <a:extLst xmlns:a="http://schemas.openxmlformats.org/drawingml/2006/main">
              <a:ext uri="{FF2B5EF4-FFF2-40B4-BE49-F238E27FC236}">
                <a16:creationId xmlns:a16="http://schemas.microsoft.com/office/drawing/2014/main" id="{865C8670-5779-42C7-9B6F-85CDE8050C7A}"/>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01</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004b05470b44c04"/>
          <a:stretch xmlns:a="http://schemas.openxmlformats.org/drawingml/2006/main"/>
        </p:blipFill>
        <p:spPr>
          <a:xfrm xmlns:a="http://schemas.openxmlformats.org/drawingml/2006/main">
            <a:off x="5676900" y="1263650"/>
            <a:ext cx="5953125" cy="3968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FDF95A9-BC2B-44F7-896D-E8BC36A3AAB6}"/>
              </a:ext>
            </a:extLst>
          </p:cNvPr>
          <p:cNvSpPr>
            <a:spLocks xmlns:a="http://schemas.openxmlformats.org/drawingml/2006/main" noGrp="1"/>
          </p:cNvSpPr>
          <p:nvPr/>
        </p:nvSpPr>
        <p:spPr>
          <a:xfrm xmlns:a="http://schemas.openxmlformats.org/drawingml/2006/main">
            <a:off x="609600" y="1143000"/>
            <a:ext cx="7524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75" b="1">
                <a:solidFill>
                  <a:srgbClr val="112F43"/>
                </a:solidFill>
                <a:latin typeface="Aptos"/>
                <a:ea typeface="Aptos"/>
                <a:cs typeface="Aptos"/>
              </a:defRPr>
            </a:pPr>
            <a:r>
              <a:rPr sz="4575" b="1">
                <a:solidFill>
                  <a:srgbClr val="112F43"/>
                </a:solidFill>
                <a:latin typeface="Aptos"/>
                <a:ea typeface="Aptos"/>
                <a:cs typeface="Aptos"/>
              </a:rPr>
              <a:t>Public-key encryption</a:t>
            </a:r>
          </a:p>
          <a:p xmlns:a="http://schemas.openxmlformats.org/drawingml/2006/main">
            <a:pPr algn="l">
              <a:defRPr sz="4575" b="1">
                <a:solidFill>
                  <a:srgbClr val="112F43"/>
                </a:solidFill>
                <a:latin typeface="Aptos"/>
                <a:ea typeface="Aptos"/>
                <a:cs typeface="Aptos"/>
              </a:defRPr>
            </a:pPr>
            <a:r>
              <a:rPr sz="4575" b="1">
                <a:solidFill>
                  <a:srgbClr val="112F43"/>
                </a:solidFill>
                <a:latin typeface="Aptos"/>
                <a:ea typeface="Aptos"/>
                <a:cs typeface="Aptos"/>
              </a:rPr>
              <a:t>from sparse noisy</a:t>
            </a:r>
          </a:p>
          <a:p xmlns:a="http://schemas.openxmlformats.org/drawingml/2006/main">
            <a:pPr algn="l">
              <a:defRPr sz="4575" b="1">
                <a:solidFill>
                  <a:srgbClr val="112F43"/>
                </a:solidFill>
                <a:latin typeface="Aptos"/>
                <a:ea typeface="Aptos"/>
                <a:cs typeface="Aptos"/>
              </a:defRPr>
            </a:pPr>
            <a:r>
              <a:rPr sz="4575" b="1">
                <a:solidFill>
                  <a:srgbClr val="112F43"/>
                </a:solidFill>
                <a:latin typeface="Aptos"/>
                <a:ea typeface="Aptos"/>
                <a:cs typeface="Aptos"/>
              </a:rPr>
              <a:t>equations</a:t>
            </a:r>
          </a:p>
        </p:txBody>
      </p:sp>
      <p:sp>
        <p:nvSpPr>
          <p:cNvPr id="6" name="">
            <a:extLst xmlns:a="http://schemas.openxmlformats.org/drawingml/2006/main">
              <a:ext uri="{FF2B5EF4-FFF2-40B4-BE49-F238E27FC236}">
                <a16:creationId xmlns:a16="http://schemas.microsoft.com/office/drawing/2014/main" id="{BFBC2BF3-25EB-44BB-9FA0-42149B273E7D}"/>
              </a:ext>
            </a:extLst>
          </p:cNvPr>
          <p:cNvSpPr>
            <a:spLocks xmlns:a="http://schemas.openxmlformats.org/drawingml/2006/main" noGrp="1"/>
          </p:cNvSpPr>
          <p:nvPr/>
        </p:nvSpPr>
        <p:spPr>
          <a:xfrm xmlns:a="http://schemas.openxmlformats.org/drawingml/2006/main">
            <a:off x="647700" y="4067175"/>
            <a:ext cx="704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2F43"/>
                </a:solidFill>
                <a:latin typeface="Aptos"/>
                <a:ea typeface="Aptos"/>
                <a:cs typeface="Aptos"/>
              </a:defRPr>
            </a:pPr>
            <a:r>
              <a:rPr sz="2400" b="0">
                <a:solidFill>
                  <a:srgbClr val="112F43"/>
                </a:solidFill>
                <a:latin typeface="Aptos"/>
                <a:ea typeface="Aptos"/>
                <a:cs typeface="Aptos"/>
              </a:rPr>
              <a:t>An ABW research programme</a:t>
            </a:r>
          </a:p>
        </p:txBody>
      </p:sp>
      <p:sp>
        <p:nvSpPr>
          <p:cNvPr id="7" name="">
            <a:extLst xmlns:a="http://schemas.openxmlformats.org/drawingml/2006/main">
              <a:ext uri="{FF2B5EF4-FFF2-40B4-BE49-F238E27FC236}">
                <a16:creationId xmlns:a16="http://schemas.microsoft.com/office/drawing/2014/main" id="{B8A7B9B5-6BB5-4E7A-AADF-0B5C8FABC55B}"/>
              </a:ext>
            </a:extLst>
          </p:cNvPr>
          <p:cNvSpPr>
            <a:spLocks xmlns:a="http://schemas.openxmlformats.org/drawingml/2006/main" noGrp="1"/>
          </p:cNvSpPr>
          <p:nvPr/>
        </p:nvSpPr>
        <p:spPr>
          <a:xfrm xmlns:a="http://schemas.openxmlformats.org/drawingml/2006/main">
            <a:off x="647700" y="4876800"/>
            <a:ext cx="6286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56A74"/>
                </a:solidFill>
                <a:latin typeface="Aptos"/>
                <a:ea typeface="Aptos"/>
                <a:cs typeface="Aptos"/>
              </a:defRPr>
            </a:pPr>
            <a:r>
              <a:rPr sz="1875" b="0">
                <a:solidFill>
                  <a:srgbClr val="556A74"/>
                </a:solidFill>
                <a:latin typeface="Aptos"/>
                <a:ea typeface="Aptos"/>
                <a:cs typeface="Aptos"/>
              </a:rPr>
              <a:t>Assumptions, feasibility and a plan for the first year</a:t>
            </a:r>
          </a:p>
        </p:txBody>
      </p:sp>
      <p:sp>
        <p:nvSpPr>
          <p:cNvPr id="8" name="">
            <a:extLst xmlns:a="http://schemas.openxmlformats.org/drawingml/2006/main">
              <a:ext uri="{FF2B5EF4-FFF2-40B4-BE49-F238E27FC236}">
                <a16:creationId xmlns:a16="http://schemas.microsoft.com/office/drawing/2014/main" id="{FBEA4E58-549C-4E6A-B92F-EF53BC331DF2}"/>
              </a:ext>
            </a:extLst>
          </p:cNvPr>
          <p:cNvSpPr>
            <a:spLocks xmlns:a="http://schemas.openxmlformats.org/drawingml/2006/main" noGrp="1"/>
          </p:cNvSpPr>
          <p:nvPr/>
        </p:nvSpPr>
        <p:spPr>
          <a:xfrm xmlns:a="http://schemas.openxmlformats.org/drawingml/2006/main">
            <a:off x="647700" y="6048375"/>
            <a:ext cx="8286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Research discussion · 6 October 2026</a:t>
            </a:r>
          </a:p>
        </p:txBody>
      </p:sp>
    </p:spTree>
    <p:extLst>
      <p:ext uri="{BB962C8B-B14F-4D97-AF65-F5344CB8AC3E}">
        <p14:creationId xmlns:p14="http://schemas.microsoft.com/office/powerpoint/2010/main" val="935231758"/>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371CB01-FBFD-4128-9E97-BE79DD294653}"/>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The research objective</a:t>
            </a:r>
          </a:p>
        </p:txBody>
      </p:sp>
      <p:sp>
        <p:nvSpPr>
          <p:cNvPr id="2" name="">
            <a:extLst xmlns:a="http://schemas.openxmlformats.org/drawingml/2006/main">
              <a:ext uri="{FF2B5EF4-FFF2-40B4-BE49-F238E27FC236}">
                <a16:creationId xmlns:a16="http://schemas.microsoft.com/office/drawing/2014/main" id="{A30C5611-F7EA-4E1D-9A8C-1D4367FD5F47}"/>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ABW research proposal</a:t>
            </a:r>
          </a:p>
        </p:txBody>
      </p:sp>
      <p:sp>
        <p:nvSpPr>
          <p:cNvPr id="3" name="">
            <a:extLst xmlns:a="http://schemas.openxmlformats.org/drawingml/2006/main">
              <a:ext uri="{FF2B5EF4-FFF2-40B4-BE49-F238E27FC236}">
                <a16:creationId xmlns:a16="http://schemas.microsoft.com/office/drawing/2014/main" id="{FED50065-0C02-4268-9C9B-7AB70FA045AB}"/>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63B19E00-896E-4737-B6A2-033A7ED399A7}"/>
              </a:ext>
            </a:extLst>
          </p:cNvPr>
          <p:cNvSpPr>
            <a:spLocks xmlns:a="http://schemas.openxmlformats.org/drawingml/2006/main" noGrp="1"/>
          </p:cNvSpPr>
          <p:nvPr/>
        </p:nvSpPr>
        <p:spPr>
          <a:xfrm xmlns:a="http://schemas.openxmlformats.org/drawingml/2006/main">
            <a:off x="609600" y="1676400"/>
            <a:ext cx="108204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087F82"/>
                </a:solidFill>
                <a:latin typeface="Aptos"/>
                <a:ea typeface="Aptos"/>
                <a:cs typeface="Aptos"/>
              </a:defRPr>
            </a:pPr>
            <a:r>
              <a:rPr sz="3450" b="1">
                <a:solidFill>
                  <a:srgbClr val="087F82"/>
                </a:solidFill>
                <a:latin typeface="Aptos"/>
                <a:ea typeface="Aptos"/>
                <a:cs typeface="Aptos"/>
              </a:rPr>
              <a:t>Can a hidden sparse structure support</a:t>
            </a:r>
          </a:p>
          <a:p xmlns:a="http://schemas.openxmlformats.org/drawingml/2006/main">
            <a:pPr algn="l">
              <a:defRPr sz="3450" b="1">
                <a:solidFill>
                  <a:srgbClr val="087F82"/>
                </a:solidFill>
                <a:latin typeface="Aptos"/>
                <a:ea typeface="Aptos"/>
                <a:cs typeface="Aptos"/>
              </a:defRPr>
            </a:pPr>
            <a:r>
              <a:rPr sz="3450" b="1">
                <a:solidFill>
                  <a:srgbClr val="087F82"/>
                </a:solidFill>
                <a:latin typeface="Aptos"/>
                <a:ea typeface="Aptos"/>
                <a:cs typeface="Aptos"/>
              </a:rPr>
              <a:t>useful, concretely analysed encryption?</a:t>
            </a:r>
          </a:p>
        </p:txBody>
      </p:sp>
      <p:sp>
        <p:nvSpPr>
          <p:cNvPr id="5" name="">
            <a:extLst xmlns:a="http://schemas.openxmlformats.org/drawingml/2006/main">
              <a:ext uri="{FF2B5EF4-FFF2-40B4-BE49-F238E27FC236}">
                <a16:creationId xmlns:a16="http://schemas.microsoft.com/office/drawing/2014/main" id="{7CC882B7-EC9D-4A8A-9220-EA68CB245AED}"/>
              </a:ext>
            </a:extLst>
          </p:cNvPr>
          <p:cNvSpPr>
            <a:spLocks xmlns:a="http://schemas.openxmlformats.org/drawingml/2006/main" noGrp="1"/>
          </p:cNvSpPr>
          <p:nvPr/>
        </p:nvSpPr>
        <p:spPr>
          <a:xfrm xmlns:a="http://schemas.openxmlformats.org/drawingml/2006/main">
            <a:off x="609600" y="363855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tos"/>
                <a:ea typeface="Aptos"/>
                <a:cs typeface="Aptos"/>
              </a:defRPr>
            </a:pPr>
            <a:r>
              <a:rPr sz="2100" b="1">
                <a:solidFill>
                  <a:srgbClr val="087F82"/>
                </a:solidFill>
                <a:latin typeface="Aptos"/>
                <a:ea typeface="Aptos"/>
                <a:cs typeface="Aptos"/>
              </a:rPr>
              <a:t>Research value</a:t>
            </a:r>
          </a:p>
        </p:txBody>
      </p:sp>
      <p:sp>
        <p:nvSpPr>
          <p:cNvPr id="6" name="">
            <a:extLst xmlns:a="http://schemas.openxmlformats.org/drawingml/2006/main">
              <a:ext uri="{FF2B5EF4-FFF2-40B4-BE49-F238E27FC236}">
                <a16:creationId xmlns:a16="http://schemas.microsoft.com/office/drawing/2014/main" id="{6AF331A4-9FD4-4F34-BE0C-AE6A0502CBC9}"/>
              </a:ext>
            </a:extLst>
          </p:cNvPr>
          <p:cNvSpPr>
            <a:spLocks xmlns:a="http://schemas.openxmlformats.org/drawingml/2006/main" noGrp="1"/>
          </p:cNvSpPr>
          <p:nvPr/>
        </p:nvSpPr>
        <p:spPr>
          <a:xfrm xmlns:a="http://schemas.openxmlformats.org/drawingml/2006/main">
            <a:off x="609600" y="4267200"/>
            <a:ext cx="48577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Different average-case assumptions</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A clear algebraic trapdoor</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Room for sharper security analysis</a:t>
            </a:r>
          </a:p>
        </p:txBody>
      </p:sp>
      <p:sp>
        <p:nvSpPr>
          <p:cNvPr id="7" name="">
            <a:extLst xmlns:a="http://schemas.openxmlformats.org/drawingml/2006/main">
              <a:ext uri="{FF2B5EF4-FFF2-40B4-BE49-F238E27FC236}">
                <a16:creationId xmlns:a16="http://schemas.microsoft.com/office/drawing/2014/main" id="{C57A12C2-719C-44C0-8831-142AC9D88FF1}"/>
              </a:ext>
            </a:extLst>
          </p:cNvPr>
          <p:cNvSpPr>
            <a:spLocks xmlns:a="http://schemas.openxmlformats.org/drawingml/2006/main" noGrp="1"/>
          </p:cNvSpPr>
          <p:nvPr/>
        </p:nvSpPr>
        <p:spPr>
          <a:xfrm xmlns:a="http://schemas.openxmlformats.org/drawingml/2006/main">
            <a:off x="6553200" y="3638550"/>
            <a:ext cx="4895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45C48"/>
                </a:solidFill>
                <a:latin typeface="Aptos"/>
                <a:ea typeface="Aptos"/>
                <a:cs typeface="Aptos"/>
              </a:defRPr>
            </a:pPr>
            <a:r>
              <a:rPr sz="2100" b="1">
                <a:solidFill>
                  <a:srgbClr val="C45C48"/>
                </a:solidFill>
                <a:latin typeface="Aptos"/>
                <a:ea typeface="Aptos"/>
                <a:cs typeface="Aptos"/>
              </a:rPr>
              <a:t>Evidence still needed</a:t>
            </a:r>
          </a:p>
        </p:txBody>
      </p:sp>
      <p:sp>
        <p:nvSpPr>
          <p:cNvPr id="8" name="">
            <a:extLst xmlns:a="http://schemas.openxmlformats.org/drawingml/2006/main">
              <a:ext uri="{FF2B5EF4-FFF2-40B4-BE49-F238E27FC236}">
                <a16:creationId xmlns:a16="http://schemas.microsoft.com/office/drawing/2014/main" id="{F4A87DC9-2EAE-4FC2-B018-999B193193F2}"/>
              </a:ext>
            </a:extLst>
          </p:cNvPr>
          <p:cNvSpPr>
            <a:spLocks xmlns:a="http://schemas.openxmlformats.org/drawingml/2006/main" noGrp="1"/>
          </p:cNvSpPr>
          <p:nvPr/>
        </p:nvSpPr>
        <p:spPr>
          <a:xfrm xmlns:a="http://schemas.openxmlformats.org/drawingml/2006/main">
            <a:off x="6553200" y="4267200"/>
            <a:ext cx="48958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A defensible parameter set</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Acceptable full construction cost</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Security against active attackers</a:t>
            </a:r>
          </a:p>
        </p:txBody>
      </p:sp>
      <p:sp>
        <p:nvSpPr>
          <p:cNvPr id="9" name="">
            <a:extLst xmlns:a="http://schemas.openxmlformats.org/drawingml/2006/main">
              <a:ext uri="{FF2B5EF4-FFF2-40B4-BE49-F238E27FC236}">
                <a16:creationId xmlns:a16="http://schemas.microsoft.com/office/drawing/2014/main" id="{538B67E6-6D63-4F19-B32B-26F8784796FA}"/>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The initial commitment is a feasibility study with explicit decision points.</a:t>
            </a:r>
          </a:p>
        </p:txBody>
      </p:sp>
    </p:spTree>
    <p:extLst>
      <p:ext uri="{BB962C8B-B14F-4D97-AF65-F5344CB8AC3E}">
        <p14:creationId xmlns:p14="http://schemas.microsoft.com/office/powerpoint/2010/main" val="1587292886"/>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3C0EA52-8BD8-4D59-AF97-209F45149A98}"/>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Sparse noisy linear equations</a:t>
            </a:r>
          </a:p>
        </p:txBody>
      </p:sp>
      <p:sp>
        <p:nvSpPr>
          <p:cNvPr id="2" name="">
            <a:extLst xmlns:a="http://schemas.openxmlformats.org/drawingml/2006/main">
              <a:ext uri="{FF2B5EF4-FFF2-40B4-BE49-F238E27FC236}">
                <a16:creationId xmlns:a16="http://schemas.microsoft.com/office/drawing/2014/main" id="{C9D75BBC-53B1-4596-860E-7DC6AB4E955D}"/>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ABW research proposal</a:t>
            </a:r>
          </a:p>
        </p:txBody>
      </p:sp>
      <p:sp>
        <p:nvSpPr>
          <p:cNvPr id="3" name="">
            <a:extLst xmlns:a="http://schemas.openxmlformats.org/drawingml/2006/main">
              <a:ext uri="{FF2B5EF4-FFF2-40B4-BE49-F238E27FC236}">
                <a16:creationId xmlns:a16="http://schemas.microsoft.com/office/drawing/2014/main" id="{7F650EAC-4ADE-494B-92D7-C66DA8CD7687}"/>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5afe9ab77ab4471"/>
          <a:stretch xmlns:a="http://schemas.openxmlformats.org/drawingml/2006/main"/>
        </p:blipFill>
        <p:spPr>
          <a:xfrm xmlns:a="http://schemas.openxmlformats.org/drawingml/2006/main">
            <a:off x="688181" y="1743075"/>
            <a:ext cx="5843588" cy="38957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DC30281-8F6D-458E-90A1-73181147646E}"/>
              </a:ext>
            </a:extLst>
          </p:cNvPr>
          <p:cNvSpPr>
            <a:spLocks xmlns:a="http://schemas.openxmlformats.org/drawingml/2006/main" noGrp="1"/>
          </p:cNvSpPr>
          <p:nvPr/>
        </p:nvSpPr>
        <p:spPr>
          <a:xfrm xmlns:a="http://schemas.openxmlformats.org/drawingml/2006/main">
            <a:off x="7210425" y="1695450"/>
            <a:ext cx="43243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087F82"/>
                </a:solidFill>
                <a:latin typeface="Aptos"/>
                <a:ea typeface="Aptos"/>
                <a:cs typeface="Aptos"/>
              </a:defRPr>
            </a:pPr>
            <a:r>
              <a:rPr sz="4125" b="1">
                <a:solidFill>
                  <a:srgbClr val="087F82"/>
                </a:solidFill>
                <a:latin typeface="Aptos"/>
                <a:ea typeface="Aptos"/>
                <a:cs typeface="Aptos"/>
              </a:rPr>
              <a:t>b = Mx + e</a:t>
            </a:r>
          </a:p>
        </p:txBody>
      </p:sp>
      <p:sp>
        <p:nvSpPr>
          <p:cNvPr id="6" name="">
            <a:extLst xmlns:a="http://schemas.openxmlformats.org/drawingml/2006/main">
              <a:ext uri="{FF2B5EF4-FFF2-40B4-BE49-F238E27FC236}">
                <a16:creationId xmlns:a16="http://schemas.microsoft.com/office/drawing/2014/main" id="{97210DB8-8A49-4C57-8F1B-BCAAB5570317}"/>
              </a:ext>
            </a:extLst>
          </p:cNvPr>
          <p:cNvSpPr>
            <a:spLocks xmlns:a="http://schemas.openxmlformats.org/drawingml/2006/main" noGrp="1"/>
          </p:cNvSpPr>
          <p:nvPr/>
        </p:nvSpPr>
        <p:spPr>
          <a:xfrm xmlns:a="http://schemas.openxmlformats.org/drawingml/2006/main">
            <a:off x="7210425" y="3000375"/>
            <a:ext cx="4324350" cy="2200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M: m × n binary matrix</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Exactly d ones in each row</a:t>
            </a:r>
          </a:p>
          <a:p xmlns:a="http://schemas.openxmlformats.org/drawingml/2006/main">
            <a:r>
              <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x: uniform hidden assignment</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eᵢ: independent Ber(ε)</a:t>
            </a:r>
          </a:p>
        </p:txBody>
      </p:sp>
      <p:sp>
        <p:nvSpPr>
          <p:cNvPr id="7" name="">
            <a:extLst xmlns:a="http://schemas.openxmlformats.org/drawingml/2006/main">
              <a:ext uri="{FF2B5EF4-FFF2-40B4-BE49-F238E27FC236}">
                <a16:creationId xmlns:a16="http://schemas.microsoft.com/office/drawing/2014/main" id="{1BCE37D7-2C25-4F09-8C9E-9F439C5C6FEF}"/>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All arithmetic uses F₂. The diagram shows one noiseless row with d = 3.</a:t>
            </a:r>
          </a:p>
        </p:txBody>
      </p:sp>
    </p:spTree>
    <p:extLst>
      <p:ext uri="{BB962C8B-B14F-4D97-AF65-F5344CB8AC3E}">
        <p14:creationId xmlns:p14="http://schemas.microsoft.com/office/powerpoint/2010/main" val="880869306"/>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51C3C42-CF47-4CD4-86E0-5DBAA0B81002}"/>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The hardness task is part of the assumption</a:t>
            </a:r>
          </a:p>
        </p:txBody>
      </p:sp>
      <p:sp>
        <p:nvSpPr>
          <p:cNvPr id="2" name="">
            <a:extLst xmlns:a="http://schemas.openxmlformats.org/drawingml/2006/main">
              <a:ext uri="{FF2B5EF4-FFF2-40B4-BE49-F238E27FC236}">
                <a16:creationId xmlns:a16="http://schemas.microsoft.com/office/drawing/2014/main" id="{7D8AA035-572A-4830-98DF-7D0BAA5EDBF9}"/>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ABW research proposal</a:t>
            </a:r>
          </a:p>
        </p:txBody>
      </p:sp>
      <p:sp>
        <p:nvSpPr>
          <p:cNvPr id="3" name="">
            <a:extLst xmlns:a="http://schemas.openxmlformats.org/drawingml/2006/main">
              <a:ext uri="{FF2B5EF4-FFF2-40B4-BE49-F238E27FC236}">
                <a16:creationId xmlns:a16="http://schemas.microsoft.com/office/drawing/2014/main" id="{1F479F02-7A14-4A94-B5A4-177E0B42F69A}"/>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04</a:t>
            </a:r>
          </a:p>
        </p:txBody>
      </p:sp>
      <p:graphicFrame>
        <p:nvGraphicFramePr>
          <p:cNvPr id="9" name=""/>
          <p:cNvGraphicFramePr/>
          <p:nvPr/>
        </p:nvGraphicFramePr>
        <p:xfrm>
          <a:off xmlns:a="http://schemas.openxmlformats.org/drawingml/2006/main" x="609600" y="1657350"/>
          <a:ext xmlns:a="http://schemas.openxmlformats.org/drawingml/2006/main" cx="10972800" cy="3476625"/>
        </p:xfrm>
        <a:graphic xmlns:a="http://schemas.openxmlformats.org/drawingml/2006/main">
          <a:graphicData uri="http://schemas.openxmlformats.org/drawingml/2006/table">
            <a:tbl>
              <a:tblPr/>
              <a:tblGrid>
                <a:gridCol w="3000375"/>
                <a:gridCol w="7972425"/>
              </a:tblGrid>
              <a:tr h="695325">
                <a:tc>
                  <a:txBody>
                    <a:bodyPr/>
                    <a:lstStyle/>
                    <a:p>
                      <a:r>
                        <a:rPr sz="2025" b="1">
                          <a:solidFill>
                            <a:srgbClr val="FFFFFF"/>
                          </a:solidFill>
                          <a:latin typeface="Aptos"/>
                          <a:ea typeface="Aptos"/>
                          <a:cs typeface="Aptos"/>
                        </a:rPr>
                        <a:t>Task</a:t>
                      </a:r>
                    </a:p>
                  </a:txBody>
                  <a:tcPr marL="142875" marR="114300" marT="104775" marB="85725" anchor="ctr">
                    <a:solidFill>
                      <a:srgbClr val="112F43"/>
                    </a:solidFill>
                  </a:tcPr>
                </a:tc>
                <a:tc>
                  <a:txBody>
                    <a:bodyPr/>
                    <a:lstStyle/>
                    <a:p>
                      <a:r>
                        <a:rPr sz="2025" b="1">
                          <a:solidFill>
                            <a:srgbClr val="FFFFFF"/>
                          </a:solidFill>
                          <a:latin typeface="Aptos"/>
                          <a:ea typeface="Aptos"/>
                          <a:cs typeface="Aptos"/>
                        </a:rPr>
                        <a:t>Adversary’s goal</a:t>
                      </a:r>
                    </a:p>
                  </a:txBody>
                  <a:tcPr marL="142875" marR="114300" marT="104775" marB="85725" anchor="ctr">
                    <a:solidFill>
                      <a:srgbClr val="112F43"/>
                    </a:solidFill>
                  </a:tcPr>
                </a:tc>
              </a:tr>
              <a:tr h="695325">
                <a:tc>
                  <a:txBody>
                    <a:bodyPr/>
                    <a:lstStyle/>
                    <a:p>
                      <a:r>
                        <a:rPr sz="2025">
                          <a:solidFill>
                            <a:srgbClr val="112F43"/>
                          </a:solidFill>
                          <a:latin typeface="Aptos"/>
                          <a:ea typeface="Aptos"/>
                          <a:cs typeface="Aptos"/>
                        </a:rPr>
                        <a:t>Search</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Recover the sampled assignment x</a:t>
                      </a:r>
                    </a:p>
                  </a:txBody>
                  <a:tcPr marL="142875" marR="114300" marT="104775" marB="85725" anchor="ctr">
                    <a:solidFill>
                      <a:srgbClr val="F7F5F0"/>
                    </a:solidFill>
                  </a:tcPr>
                </a:tc>
              </a:tr>
              <a:tr h="695325">
                <a:tc>
                  <a:txBody>
                    <a:bodyPr/>
                    <a:lstStyle/>
                    <a:p>
                      <a:r>
                        <a:rPr sz="2025">
                          <a:solidFill>
                            <a:srgbClr val="112F43"/>
                          </a:solidFill>
                          <a:latin typeface="Aptos"/>
                          <a:ea typeface="Aptos"/>
                          <a:cs typeface="Aptos"/>
                        </a:rPr>
                        <a:t>Approximate search</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Recover an assignment close to the planted x</a:t>
                      </a:r>
                    </a:p>
                  </a:txBody>
                  <a:tcPr marL="142875" marR="114300" marT="104775" marB="85725" anchor="ctr">
                    <a:solidFill>
                      <a:srgbClr val="F7F5F0"/>
                    </a:solidFill>
                  </a:tcPr>
                </a:tc>
              </a:tr>
              <a:tr h="695325">
                <a:tc>
                  <a:txBody>
                    <a:bodyPr/>
                    <a:lstStyle/>
                    <a:p>
                      <a:r>
                        <a:rPr sz="2025">
                          <a:solidFill>
                            <a:srgbClr val="112F43"/>
                          </a:solidFill>
                          <a:latin typeface="Aptos"/>
                          <a:ea typeface="Aptos"/>
                          <a:cs typeface="Aptos"/>
                        </a:rPr>
                        <a:t>Decision</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Distinguish (M, Mx + e) from (M, uniform)</a:t>
                      </a:r>
                    </a:p>
                  </a:txBody>
                  <a:tcPr marL="142875" marR="114300" marT="104775" marB="85725" anchor="ctr">
                    <a:solidFill>
                      <a:srgbClr val="F7F5F0"/>
                    </a:solidFill>
                  </a:tcPr>
                </a:tc>
              </a:tr>
              <a:tr h="695325">
                <a:tc>
                  <a:txBody>
                    <a:bodyPr/>
                    <a:lstStyle/>
                    <a:p>
                      <a:r>
                        <a:rPr sz="2025">
                          <a:solidFill>
                            <a:srgbClr val="112F43"/>
                          </a:solidFill>
                          <a:latin typeface="Aptos"/>
                          <a:ea typeface="Aptos"/>
                          <a:cs typeface="Aptos"/>
                        </a:rPr>
                        <a:t>Prediction</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Predict a specified additional parity of x</a:t>
                      </a:r>
                    </a:p>
                  </a:txBody>
                  <a:tcPr marL="142875" marR="114300" marT="104775" marB="85725" anchor="ctr">
                    <a:solidFill>
                      <a:srgbClr val="F7F5F0"/>
                    </a:solidFill>
                  </a:tcPr>
                </a:tc>
              </a:tr>
            </a:tbl>
          </a:graphicData>
        </a:graphic>
      </p:graphicFrame>
      <p:sp>
        <p:nvSpPr>
          <p:cNvPr id="5" name="">
            <a:extLst xmlns:a="http://schemas.openxmlformats.org/drawingml/2006/main">
              <a:ext uri="{FF2B5EF4-FFF2-40B4-BE49-F238E27FC236}">
                <a16:creationId xmlns:a16="http://schemas.microsoft.com/office/drawing/2014/main" id="{0F0BFB7A-A970-4B84-8251-5CD392EA271C}"/>
              </a:ext>
            </a:extLst>
          </p:cNvPr>
          <p:cNvSpPr>
            <a:spLocks xmlns:a="http://schemas.openxmlformats.org/drawingml/2006/main" noGrp="1"/>
          </p:cNvSpPr>
          <p:nvPr/>
        </p:nvSpPr>
        <p:spPr>
          <a:xfrm xmlns:a="http://schemas.openxmlformats.org/drawingml/2006/main">
            <a:off x="609600" y="5410200"/>
            <a:ext cx="108299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Every claim needs the distribution, parameter growth,</a:t>
            </a:r>
          </a:p>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adversary model and success threshold.</a:t>
            </a:r>
          </a:p>
        </p:txBody>
      </p:sp>
    </p:spTree>
    <p:extLst>
      <p:ext uri="{BB962C8B-B14F-4D97-AF65-F5344CB8AC3E}">
        <p14:creationId xmlns:p14="http://schemas.microsoft.com/office/powerpoint/2010/main" val="860857778"/>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A81379-9622-41B5-BEF8-491EEA72B752}"/>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Three routes in ABW</a:t>
            </a:r>
          </a:p>
        </p:txBody>
      </p:sp>
      <p:sp>
        <p:nvSpPr>
          <p:cNvPr id="2" name="">
            <a:extLst xmlns:a="http://schemas.openxmlformats.org/drawingml/2006/main">
              <a:ext uri="{FF2B5EF4-FFF2-40B4-BE49-F238E27FC236}">
                <a16:creationId xmlns:a16="http://schemas.microsoft.com/office/drawing/2014/main" id="{1DC3B544-53BD-4B5F-B0E1-0A1FC8845CD7}"/>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ABW research proposal</a:t>
            </a:r>
          </a:p>
        </p:txBody>
      </p:sp>
      <p:sp>
        <p:nvSpPr>
          <p:cNvPr id="3" name="">
            <a:extLst xmlns:a="http://schemas.openxmlformats.org/drawingml/2006/main">
              <a:ext uri="{FF2B5EF4-FFF2-40B4-BE49-F238E27FC236}">
                <a16:creationId xmlns:a16="http://schemas.microsoft.com/office/drawing/2014/main" id="{19517216-A688-4893-8FA1-9D54FEA1CCB4}"/>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05</a:t>
            </a:r>
          </a:p>
        </p:txBody>
      </p:sp>
      <p:graphicFrame>
        <p:nvGraphicFramePr>
          <p:cNvPr id="9" name=""/>
          <p:cNvGraphicFramePr/>
          <p:nvPr/>
        </p:nvGraphicFramePr>
        <p:xfrm>
          <a:off xmlns:a="http://schemas.openxmlformats.org/drawingml/2006/main" x="609600" y="1657350"/>
          <a:ext xmlns:a="http://schemas.openxmlformats.org/drawingml/2006/main" cx="10972800" cy="3429000"/>
        </p:xfrm>
        <a:graphic xmlns:a="http://schemas.openxmlformats.org/drawingml/2006/main">
          <a:graphicData uri="http://schemas.openxmlformats.org/drawingml/2006/table">
            <a:tbl>
              <a:tblPr/>
              <a:tblGrid>
                <a:gridCol w="2466975"/>
                <a:gridCol w="3867150"/>
                <a:gridCol w="4638675"/>
              </a:tblGrid>
              <a:tr h="857250">
                <a:tc>
                  <a:txBody>
                    <a:bodyPr/>
                    <a:lstStyle/>
                    <a:p>
                      <a:r>
                        <a:rPr sz="1950" b="1">
                          <a:solidFill>
                            <a:srgbClr val="FFFFFF"/>
                          </a:solidFill>
                          <a:latin typeface="Aptos"/>
                          <a:ea typeface="Aptos"/>
                          <a:cs typeface="Aptos"/>
                        </a:rPr>
                        <a:t>Route</a:t>
                      </a:r>
                    </a:p>
                  </a:txBody>
                  <a:tcPr marL="142875" marR="114300" marT="104775" marB="85725" anchor="ctr">
                    <a:solidFill>
                      <a:srgbClr val="112F43"/>
                    </a:solidFill>
                  </a:tcPr>
                </a:tc>
                <a:tc>
                  <a:txBody>
                    <a:bodyPr/>
                    <a:lstStyle/>
                    <a:p>
                      <a:r>
                        <a:rPr sz="1950" b="1">
                          <a:solidFill>
                            <a:srgbClr val="FFFFFF"/>
                          </a:solidFill>
                          <a:latin typeface="Aptos"/>
                          <a:ea typeface="Aptos"/>
                          <a:cs typeface="Aptos"/>
                        </a:rPr>
                        <a:t>Attraction</a:t>
                      </a:r>
                    </a:p>
                  </a:txBody>
                  <a:tcPr marL="142875" marR="114300" marT="104775" marB="85725" anchor="ctr">
                    <a:solidFill>
                      <a:srgbClr val="112F43"/>
                    </a:solidFill>
                  </a:tcPr>
                </a:tc>
                <a:tc>
                  <a:txBody>
                    <a:bodyPr/>
                    <a:lstStyle/>
                    <a:p>
                      <a:r>
                        <a:rPr sz="1950" b="1">
                          <a:solidFill>
                            <a:srgbClr val="FFFFFF"/>
                          </a:solidFill>
                          <a:latin typeface="Aptos"/>
                          <a:ea typeface="Aptos"/>
                          <a:cs typeface="Aptos"/>
                        </a:rPr>
                        <a:t>Main obstacle</a:t>
                      </a:r>
                    </a:p>
                  </a:txBody>
                  <a:tcPr marL="142875" marR="114300" marT="104775" marB="85725" anchor="ctr">
                    <a:solidFill>
                      <a:srgbClr val="112F43"/>
                    </a:solidFill>
                  </a:tcPr>
                </a:tc>
              </a:tr>
              <a:tr h="857250">
                <a:tc>
                  <a:txBody>
                    <a:bodyPr/>
                    <a:lstStyle/>
                    <a:p>
                      <a:r>
                        <a:rPr sz="1950">
                          <a:solidFill>
                            <a:srgbClr val="112F43"/>
                          </a:solidFill>
                          <a:latin typeface="Aptos"/>
                          <a:ea typeface="Aptos"/>
                          <a:cs typeface="Aptos"/>
                        </a:rPr>
                        <a:t>3-LIN alone</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Fewest named assumptions</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Sampler and amplification cost</a:t>
                      </a:r>
                    </a:p>
                  </a:txBody>
                  <a:tcPr marL="142875" marR="114300" marT="104775" marB="85725" anchor="ctr">
                    <a:solidFill>
                      <a:srgbClr val="F7F5F0"/>
                    </a:solidFill>
                  </a:tcPr>
                </a:tc>
              </a:tr>
              <a:tr h="857250">
                <a:tc>
                  <a:txBody>
                    <a:bodyPr/>
                    <a:lstStyle/>
                    <a:p>
                      <a:r>
                        <a:rPr sz="1950">
                          <a:solidFill>
                            <a:srgbClr val="112F43"/>
                          </a:solidFill>
                          <a:latin typeface="Aptos"/>
                          <a:ea typeface="Aptos"/>
                          <a:cs typeface="Aptos"/>
                        </a:rPr>
                        <a:t>d-LIN + DUE</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Flexible trapdoor parameters</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Additional planted-expansion assumption</a:t>
                      </a:r>
                    </a:p>
                  </a:txBody>
                  <a:tcPr marL="142875" marR="114300" marT="104775" marB="85725" anchor="ctr">
                    <a:solidFill>
                      <a:srgbClr val="F7F5F0"/>
                    </a:solidFill>
                  </a:tcPr>
                </a:tc>
              </a:tr>
              <a:tr h="857250">
                <a:tc>
                  <a:txBody>
                    <a:bodyPr/>
                    <a:lstStyle/>
                    <a:p>
                      <a:r>
                        <a:rPr sz="1950">
                          <a:solidFill>
                            <a:srgbClr val="112F43"/>
                          </a:solidFill>
                          <a:latin typeface="Aptos"/>
                          <a:ea typeface="Aptos"/>
                          <a:cs typeface="Aptos"/>
                        </a:rPr>
                        <a:t>DSF + DUE</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Nonlinear local construction</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Predicate attacks and decoding cost</a:t>
                      </a:r>
                    </a:p>
                  </a:txBody>
                  <a:tcPr marL="142875" marR="114300" marT="104775" marB="85725" anchor="ctr">
                    <a:solidFill>
                      <a:srgbClr val="F7F5F0"/>
                    </a:solidFill>
                  </a:tcPr>
                </a:tc>
              </a:tr>
            </a:tbl>
          </a:graphicData>
        </a:graphic>
      </p:graphicFrame>
      <p:sp>
        <p:nvSpPr>
          <p:cNvPr id="5" name="">
            <a:extLst xmlns:a="http://schemas.openxmlformats.org/drawingml/2006/main">
              <a:ext uri="{FF2B5EF4-FFF2-40B4-BE49-F238E27FC236}">
                <a16:creationId xmlns:a16="http://schemas.microsoft.com/office/drawing/2014/main" id="{B1EA18FE-F142-4996-B265-694AC43551B5}"/>
              </a:ext>
            </a:extLst>
          </p:cNvPr>
          <p:cNvSpPr>
            <a:spLocks xmlns:a="http://schemas.openxmlformats.org/drawingml/2006/main" noGrp="1"/>
          </p:cNvSpPr>
          <p:nvPr/>
        </p:nvSpPr>
        <p:spPr>
          <a:xfrm xmlns:a="http://schemas.openxmlformats.org/drawingml/2006/main">
            <a:off x="609600" y="5476875"/>
            <a:ext cx="10820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12F43"/>
                </a:solidFill>
                <a:latin typeface="Aptos"/>
                <a:ea typeface="Aptos"/>
                <a:cs typeface="Aptos"/>
              </a:defRPr>
            </a:pPr>
            <a:r>
              <a:rPr sz="2100" b="0">
                <a:solidFill>
                  <a:srgbClr val="112F43"/>
                </a:solidFill>
                <a:latin typeface="Aptos"/>
                <a:ea typeface="Aptos"/>
                <a:cs typeface="Aptos"/>
              </a:rPr>
              <a:t>Proposed starting point: the 3-LIN route, with a separate</a:t>
            </a:r>
          </a:p>
          <a:p xmlns:a="http://schemas.openxmlformats.org/drawingml/2006/main">
            <a:pPr algn="l">
              <a:defRPr sz="2100" b="0">
                <a:solidFill>
                  <a:srgbClr val="112F43"/>
                </a:solidFill>
                <a:latin typeface="Aptos"/>
                <a:ea typeface="Aptos"/>
                <a:cs typeface="Aptos"/>
              </a:defRPr>
            </a:pPr>
            <a:r>
              <a:rPr sz="2100" b="0">
                <a:solidFill>
                  <a:srgbClr val="112F43"/>
                </a:solidFill>
                <a:latin typeface="Aptos"/>
                <a:ea typeface="Aptos"/>
                <a:cs typeface="Aptos"/>
              </a:rPr>
              <a:t>d-LIN + DUE prototype for comparison.</a:t>
            </a:r>
          </a:p>
        </p:txBody>
      </p:sp>
    </p:spTree>
    <p:extLst>
      <p:ext uri="{BB962C8B-B14F-4D97-AF65-F5344CB8AC3E}">
        <p14:creationId xmlns:p14="http://schemas.microsoft.com/office/powerpoint/2010/main" val="1645875402"/>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8BA3030-FC07-4C0A-9388-40ED828BB37C}"/>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A short dependency is the trapdoor</a:t>
            </a:r>
          </a:p>
        </p:txBody>
      </p:sp>
      <p:sp>
        <p:nvSpPr>
          <p:cNvPr id="2" name="">
            <a:extLst xmlns:a="http://schemas.openxmlformats.org/drawingml/2006/main">
              <a:ext uri="{FF2B5EF4-FFF2-40B4-BE49-F238E27FC236}">
                <a16:creationId xmlns:a16="http://schemas.microsoft.com/office/drawing/2014/main" id="{178EBBF4-751F-4952-AE22-B20A44A7D628}"/>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ABW research proposal</a:t>
            </a:r>
          </a:p>
        </p:txBody>
      </p:sp>
      <p:sp>
        <p:nvSpPr>
          <p:cNvPr id="3" name="">
            <a:extLst xmlns:a="http://schemas.openxmlformats.org/drawingml/2006/main">
              <a:ext uri="{FF2B5EF4-FFF2-40B4-BE49-F238E27FC236}">
                <a16:creationId xmlns:a16="http://schemas.microsoft.com/office/drawing/2014/main" id="{6DBE07E5-CD98-4C3E-ABB5-43154FEBC3FD}"/>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06</a:t>
            </a:r>
          </a:p>
        </p:txBody>
      </p:sp>
      <p:sp>
        <p:nvSpPr>
          <p:cNvPr id="4" name="">
            <a:extLst xmlns:a="http://schemas.openxmlformats.org/drawingml/2006/main">
              <a:ext uri="{FF2B5EF4-FFF2-40B4-BE49-F238E27FC236}">
                <a16:creationId xmlns:a16="http://schemas.microsoft.com/office/drawing/2014/main" id="{9F3AE8C0-1EF8-457B-9556-D5620701F293}"/>
              </a:ext>
            </a:extLst>
          </p:cNvPr>
          <p:cNvSpPr>
            <a:spLocks xmlns:a="http://schemas.openxmlformats.org/drawingml/2006/main" noGrp="1"/>
          </p:cNvSpPr>
          <p:nvPr/>
        </p:nvSpPr>
        <p:spPr>
          <a:xfrm xmlns:a="http://schemas.openxmlformats.org/drawingml/2006/main">
            <a:off x="609600" y="1619250"/>
            <a:ext cx="571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tos"/>
                <a:ea typeface="Aptos"/>
                <a:cs typeface="Aptos"/>
              </a:defRPr>
            </a:pPr>
            <a:r>
              <a:rPr sz="2100" b="1">
                <a:solidFill>
                  <a:srgbClr val="087F82"/>
                </a:solidFill>
                <a:latin typeface="Aptos"/>
                <a:ea typeface="Aptos"/>
                <a:cs typeface="Aptos"/>
              </a:rPr>
              <a:t>Four illustrative 3-sparse rows</a:t>
            </a:r>
          </a:p>
        </p:txBody>
      </p:sp>
      <p:graphicFrame>
        <p:nvGraphicFramePr>
          <p:cNvPr id="14" name=""/>
          <p:cNvGraphicFramePr/>
          <p:nvPr/>
        </p:nvGraphicFramePr>
        <p:xfrm>
          <a:off xmlns:a="http://schemas.openxmlformats.org/drawingml/2006/main" x="609600" y="2324100"/>
          <a:ext xmlns:a="http://schemas.openxmlformats.org/drawingml/2006/main" cx="5829300" cy="2552700"/>
        </p:xfrm>
        <a:graphic xmlns:a="http://schemas.openxmlformats.org/drawingml/2006/main">
          <a:graphicData uri="http://schemas.openxmlformats.org/drawingml/2006/table">
            <a:tbl>
              <a:tblPr/>
              <a:tblGrid>
                <a:gridCol w="971550"/>
                <a:gridCol w="971550"/>
                <a:gridCol w="971550"/>
                <a:gridCol w="971550"/>
                <a:gridCol w="971550"/>
                <a:gridCol w="971550"/>
              </a:tblGrid>
              <a:tr h="638175">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c>
                  <a:txBody>
                    <a:bodyPr/>
                    <a:lstStyle/>
                    <a:p>
                      <a:pPr algn="ctr"/>
                      <a:r>
                        <a:rPr sz="2625" b="0">
                          <a:solidFill>
                            <a:srgbClr val="556A74"/>
                          </a:solidFill>
                          <a:latin typeface="Aptos"/>
                          <a:ea typeface="Aptos"/>
                          <a:cs typeface="Aptos"/>
                        </a:rPr>
                        <a:t>0</a:t>
                      </a:r>
                    </a:p>
                  </a:txBody>
                  <a:tcPr marL="142875" marR="114300" marT="104775" marB="85725" anchor="ctr">
                    <a:solidFill>
                      <a:srgbClr val="F7F5F0"/>
                    </a:solidFill>
                  </a:tcPr>
                </a:tc>
                <a:tc>
                  <a:txBody>
                    <a:bodyPr/>
                    <a:lstStyle/>
                    <a:p>
                      <a:pPr algn="ctr"/>
                      <a:r>
                        <a:rPr sz="2625" b="0">
                          <a:solidFill>
                            <a:srgbClr val="556A74"/>
                          </a:solidFill>
                          <a:latin typeface="Aptos"/>
                          <a:ea typeface="Aptos"/>
                          <a:cs typeface="Aptos"/>
                        </a:rPr>
                        <a:t>0</a:t>
                      </a:r>
                    </a:p>
                  </a:txBody>
                  <a:tcPr marL="142875" marR="114300" marT="104775" marB="85725" anchor="ctr">
                    <a:solidFill>
                      <a:srgbClr val="F7F5F0"/>
                    </a:solidFill>
                  </a:tcPr>
                </a:tc>
                <a:tc>
                  <a:txBody>
                    <a:bodyPr/>
                    <a:lstStyle/>
                    <a:p>
                      <a:pPr algn="ctr"/>
                      <a:r>
                        <a:rPr sz="2625" b="0">
                          <a:solidFill>
                            <a:srgbClr val="556A74"/>
                          </a:solidFill>
                          <a:latin typeface="Aptos"/>
                          <a:ea typeface="Aptos"/>
                          <a:cs typeface="Aptos"/>
                        </a:rPr>
                        <a:t>0</a:t>
                      </a:r>
                    </a:p>
                  </a:txBody>
                  <a:tcPr marL="142875" marR="114300" marT="104775" marB="85725" anchor="ctr">
                    <a:solidFill>
                      <a:srgbClr val="F7F5F0"/>
                    </a:solidFill>
                  </a:tcPr>
                </a:tc>
              </a:tr>
              <a:tr h="638175">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c>
                  <a:txBody>
                    <a:bodyPr/>
                    <a:lstStyle/>
                    <a:p>
                      <a:pPr algn="ctr"/>
                      <a:r>
                        <a:rPr sz="2625" b="0">
                          <a:solidFill>
                            <a:srgbClr val="556A74"/>
                          </a:solidFill>
                          <a:latin typeface="Aptos"/>
                          <a:ea typeface="Aptos"/>
                          <a:cs typeface="Aptos"/>
                        </a:rPr>
                        <a:t>0</a:t>
                      </a:r>
                    </a:p>
                  </a:txBody>
                  <a:tcPr marL="142875" marR="114300" marT="104775" marB="85725" anchor="ctr">
                    <a:solidFill>
                      <a:srgbClr val="F7F5F0"/>
                    </a:solidFill>
                  </a:tcPr>
                </a:tc>
                <a:tc>
                  <a:txBody>
                    <a:bodyPr/>
                    <a:lstStyle/>
                    <a:p>
                      <a:pPr algn="ctr"/>
                      <a:r>
                        <a:rPr sz="2625" b="0">
                          <a:solidFill>
                            <a:srgbClr val="556A74"/>
                          </a:solidFill>
                          <a:latin typeface="Aptos"/>
                          <a:ea typeface="Aptos"/>
                          <a:cs typeface="Aptos"/>
                        </a:rPr>
                        <a:t>0</a:t>
                      </a:r>
                    </a:p>
                  </a:txBody>
                  <a:tcPr marL="142875" marR="114300" marT="104775" marB="85725" anchor="ctr">
                    <a:solidFill>
                      <a:srgbClr val="F7F5F0"/>
                    </a:solidFill>
                  </a:tcPr>
                </a:tc>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c>
                  <a:txBody>
                    <a:bodyPr/>
                    <a:lstStyle/>
                    <a:p>
                      <a:pPr algn="ctr"/>
                      <a:r>
                        <a:rPr sz="2625" b="0">
                          <a:solidFill>
                            <a:srgbClr val="556A74"/>
                          </a:solidFill>
                          <a:latin typeface="Aptos"/>
                          <a:ea typeface="Aptos"/>
                          <a:cs typeface="Aptos"/>
                        </a:rPr>
                        <a:t>0</a:t>
                      </a:r>
                    </a:p>
                  </a:txBody>
                  <a:tcPr marL="142875" marR="114300" marT="104775" marB="85725" anchor="ctr">
                    <a:solidFill>
                      <a:srgbClr val="F7F5F0"/>
                    </a:solidFill>
                  </a:tcPr>
                </a:tc>
              </a:tr>
              <a:tr h="638175">
                <a:tc>
                  <a:txBody>
                    <a:bodyPr/>
                    <a:lstStyle/>
                    <a:p>
                      <a:pPr algn="ctr"/>
                      <a:r>
                        <a:rPr sz="2625" b="0">
                          <a:solidFill>
                            <a:srgbClr val="556A74"/>
                          </a:solidFill>
                          <a:latin typeface="Aptos"/>
                          <a:ea typeface="Aptos"/>
                          <a:cs typeface="Aptos"/>
                        </a:rPr>
                        <a:t>0</a:t>
                      </a:r>
                    </a:p>
                  </a:txBody>
                  <a:tcPr marL="142875" marR="114300" marT="104775" marB="85725" anchor="ctr">
                    <a:solidFill>
                      <a:srgbClr val="F7F5F0"/>
                    </a:solidFill>
                  </a:tcPr>
                </a:tc>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c>
                  <a:txBody>
                    <a:bodyPr/>
                    <a:lstStyle/>
                    <a:p>
                      <a:pPr algn="ctr"/>
                      <a:r>
                        <a:rPr sz="2625" b="0">
                          <a:solidFill>
                            <a:srgbClr val="556A74"/>
                          </a:solidFill>
                          <a:latin typeface="Aptos"/>
                          <a:ea typeface="Aptos"/>
                          <a:cs typeface="Aptos"/>
                        </a:rPr>
                        <a:t>0</a:t>
                      </a:r>
                    </a:p>
                  </a:txBody>
                  <a:tcPr marL="142875" marR="114300" marT="104775" marB="85725" anchor="ctr">
                    <a:solidFill>
                      <a:srgbClr val="F7F5F0"/>
                    </a:solidFill>
                  </a:tcPr>
                </a:tc>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c>
                  <a:txBody>
                    <a:bodyPr/>
                    <a:lstStyle/>
                    <a:p>
                      <a:pPr algn="ctr"/>
                      <a:r>
                        <a:rPr sz="2625" b="0">
                          <a:solidFill>
                            <a:srgbClr val="556A74"/>
                          </a:solidFill>
                          <a:latin typeface="Aptos"/>
                          <a:ea typeface="Aptos"/>
                          <a:cs typeface="Aptos"/>
                        </a:rPr>
                        <a:t>0</a:t>
                      </a:r>
                    </a:p>
                  </a:txBody>
                  <a:tcPr marL="142875" marR="114300" marT="104775" marB="85725" anchor="ctr">
                    <a:solidFill>
                      <a:srgbClr val="F7F5F0"/>
                    </a:solidFill>
                  </a:tcPr>
                </a:tc>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r>
              <a:tr h="638175">
                <a:tc>
                  <a:txBody>
                    <a:bodyPr/>
                    <a:lstStyle/>
                    <a:p>
                      <a:pPr algn="ctr"/>
                      <a:r>
                        <a:rPr sz="2625" b="0">
                          <a:solidFill>
                            <a:srgbClr val="556A74"/>
                          </a:solidFill>
                          <a:latin typeface="Aptos"/>
                          <a:ea typeface="Aptos"/>
                          <a:cs typeface="Aptos"/>
                        </a:rPr>
                        <a:t>0</a:t>
                      </a:r>
                    </a:p>
                  </a:txBody>
                  <a:tcPr marL="142875" marR="114300" marT="104775" marB="85725" anchor="ctr">
                    <a:solidFill>
                      <a:srgbClr val="F7F5F0"/>
                    </a:solidFill>
                  </a:tcPr>
                </a:tc>
                <a:tc>
                  <a:txBody>
                    <a:bodyPr/>
                    <a:lstStyle/>
                    <a:p>
                      <a:pPr algn="ctr"/>
                      <a:r>
                        <a:rPr sz="2625" b="0">
                          <a:solidFill>
                            <a:srgbClr val="556A74"/>
                          </a:solidFill>
                          <a:latin typeface="Aptos"/>
                          <a:ea typeface="Aptos"/>
                          <a:cs typeface="Aptos"/>
                        </a:rPr>
                        <a:t>0</a:t>
                      </a:r>
                    </a:p>
                  </a:txBody>
                  <a:tcPr marL="142875" marR="114300" marT="104775" marB="85725" anchor="ctr">
                    <a:solidFill>
                      <a:srgbClr val="F7F5F0"/>
                    </a:solidFill>
                  </a:tcPr>
                </a:tc>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c>
                  <a:txBody>
                    <a:bodyPr/>
                    <a:lstStyle/>
                    <a:p>
                      <a:pPr algn="ctr"/>
                      <a:r>
                        <a:rPr sz="2625" b="0">
                          <a:solidFill>
                            <a:srgbClr val="556A74"/>
                          </a:solidFill>
                          <a:latin typeface="Aptos"/>
                          <a:ea typeface="Aptos"/>
                          <a:cs typeface="Aptos"/>
                        </a:rPr>
                        <a:t>0</a:t>
                      </a:r>
                    </a:p>
                  </a:txBody>
                  <a:tcPr marL="142875" marR="114300" marT="104775" marB="85725" anchor="ctr">
                    <a:solidFill>
                      <a:srgbClr val="F7F5F0"/>
                    </a:solidFill>
                  </a:tcPr>
                </a:tc>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r>
            </a:tbl>
          </a:graphicData>
        </a:graphic>
      </p:graphicFrame>
      <p:sp>
        <p:nvSpPr>
          <p:cNvPr id="6" name="">
            <a:extLst xmlns:a="http://schemas.openxmlformats.org/drawingml/2006/main">
              <a:ext uri="{FF2B5EF4-FFF2-40B4-BE49-F238E27FC236}">
                <a16:creationId xmlns:a16="http://schemas.microsoft.com/office/drawing/2014/main" id="{6D126185-38E4-4A16-AA31-134974C639E2}"/>
              </a:ext>
            </a:extLst>
          </p:cNvPr>
          <p:cNvSpPr>
            <a:spLocks xmlns:a="http://schemas.openxmlformats.org/drawingml/2006/main" noGrp="1"/>
          </p:cNvSpPr>
          <p:nvPr/>
        </p:nvSpPr>
        <p:spPr>
          <a:xfrm xmlns:a="http://schemas.openxmlformats.org/drawingml/2006/main">
            <a:off x="7239000" y="1866900"/>
            <a:ext cx="419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087F82"/>
                </a:solidFill>
                <a:latin typeface="Aptos"/>
                <a:ea typeface="Aptos"/>
                <a:cs typeface="Aptos"/>
              </a:defRPr>
            </a:pPr>
            <a:r>
              <a:rPr sz="3975" b="1">
                <a:solidFill>
                  <a:srgbClr val="087F82"/>
                </a:solidFill>
                <a:latin typeface="Aptos"/>
                <a:ea typeface="Aptos"/>
                <a:cs typeface="Aptos"/>
              </a:rPr>
              <a:t>sᵀM = 0</a:t>
            </a:r>
          </a:p>
        </p:txBody>
      </p:sp>
      <p:sp>
        <p:nvSpPr>
          <p:cNvPr id="7" name="">
            <a:extLst xmlns:a="http://schemas.openxmlformats.org/drawingml/2006/main">
              <a:ext uri="{FF2B5EF4-FFF2-40B4-BE49-F238E27FC236}">
                <a16:creationId xmlns:a16="http://schemas.microsoft.com/office/drawing/2014/main" id="{05CFFA13-C20F-4F31-BA70-FB9979866507}"/>
              </a:ext>
            </a:extLst>
          </p:cNvPr>
          <p:cNvSpPr>
            <a:spLocks xmlns:a="http://schemas.openxmlformats.org/drawingml/2006/main" noGrp="1"/>
          </p:cNvSpPr>
          <p:nvPr/>
        </p:nvSpPr>
        <p:spPr>
          <a:xfrm xmlns:a="http://schemas.openxmlformats.org/drawingml/2006/main">
            <a:off x="7239000" y="3048000"/>
            <a:ext cx="419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87F82"/>
                </a:solidFill>
                <a:latin typeface="Aptos"/>
                <a:ea typeface="Aptos"/>
                <a:cs typeface="Aptos"/>
              </a:defRPr>
            </a:pPr>
            <a:r>
              <a:rPr sz="3375" b="1">
                <a:solidFill>
                  <a:srgbClr val="087F82"/>
                </a:solidFill>
                <a:latin typeface="Aptos"/>
                <a:ea typeface="Aptos"/>
                <a:cs typeface="Aptos"/>
              </a:rPr>
              <a:t>sᵀb = sᵀe</a:t>
            </a:r>
          </a:p>
        </p:txBody>
      </p:sp>
      <p:sp>
        <p:nvSpPr>
          <p:cNvPr id="8" name="">
            <a:extLst xmlns:a="http://schemas.openxmlformats.org/drawingml/2006/main">
              <a:ext uri="{FF2B5EF4-FFF2-40B4-BE49-F238E27FC236}">
                <a16:creationId xmlns:a16="http://schemas.microsoft.com/office/drawing/2014/main" id="{87C1FEB8-860A-48F9-BE4C-1728EEC49E47}"/>
              </a:ext>
            </a:extLst>
          </p:cNvPr>
          <p:cNvSpPr>
            <a:spLocks xmlns:a="http://schemas.openxmlformats.org/drawingml/2006/main" noGrp="1"/>
          </p:cNvSpPr>
          <p:nvPr/>
        </p:nvSpPr>
        <p:spPr>
          <a:xfrm xmlns:a="http://schemas.openxmlformats.org/drawingml/2006/main">
            <a:off x="7239000" y="4410075"/>
            <a:ext cx="4238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Each column appears twice.</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The assignment x cancels.</a:t>
            </a:r>
          </a:p>
        </p:txBody>
      </p:sp>
      <p:sp>
        <p:nvSpPr>
          <p:cNvPr id="9" name="">
            <a:extLst xmlns:a="http://schemas.openxmlformats.org/drawingml/2006/main">
              <a:ext uri="{FF2B5EF4-FFF2-40B4-BE49-F238E27FC236}">
                <a16:creationId xmlns:a16="http://schemas.microsoft.com/office/drawing/2014/main" id="{2DE47BE4-9CF2-4DE5-9058-72FE397CBC0C}"/>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Toy algebra only. Security requires a much larger, precisely sampled public key.</a:t>
            </a:r>
          </a:p>
        </p:txBody>
      </p:sp>
    </p:spTree>
    <p:extLst>
      <p:ext uri="{BB962C8B-B14F-4D97-AF65-F5344CB8AC3E}">
        <p14:creationId xmlns:p14="http://schemas.microsoft.com/office/powerpoint/2010/main" val="718299638"/>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9768658-1DF8-4D47-BABA-49381A301EAA}"/>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The basic ABW bit encryption</a:t>
            </a:r>
          </a:p>
        </p:txBody>
      </p:sp>
      <p:sp>
        <p:nvSpPr>
          <p:cNvPr id="2" name="">
            <a:extLst xmlns:a="http://schemas.openxmlformats.org/drawingml/2006/main">
              <a:ext uri="{FF2B5EF4-FFF2-40B4-BE49-F238E27FC236}">
                <a16:creationId xmlns:a16="http://schemas.microsoft.com/office/drawing/2014/main" id="{D6853852-6AEB-4A16-BA57-B1B0019AD486}"/>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ABW research proposal</a:t>
            </a:r>
          </a:p>
        </p:txBody>
      </p:sp>
      <p:sp>
        <p:nvSpPr>
          <p:cNvPr id="3" name="">
            <a:extLst xmlns:a="http://schemas.openxmlformats.org/drawingml/2006/main">
              <a:ext uri="{FF2B5EF4-FFF2-40B4-BE49-F238E27FC236}">
                <a16:creationId xmlns:a16="http://schemas.microsoft.com/office/drawing/2014/main" id="{7089DCDF-0F0A-4473-889E-72CA92247E2E}"/>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07</a:t>
            </a:r>
          </a:p>
        </p:txBody>
      </p:sp>
      <p:sp>
        <p:nvSpPr>
          <p:cNvPr id="4" name="">
            <a:extLst xmlns:a="http://schemas.openxmlformats.org/drawingml/2006/main">
              <a:ext uri="{FF2B5EF4-FFF2-40B4-BE49-F238E27FC236}">
                <a16:creationId xmlns:a16="http://schemas.microsoft.com/office/drawing/2014/main" id="{6D8561F2-B139-4E54-868F-474319397FFE}"/>
              </a:ext>
            </a:extLst>
          </p:cNvPr>
          <p:cNvSpPr>
            <a:spLocks xmlns:a="http://schemas.openxmlformats.org/drawingml/2006/main" noGrp="1"/>
          </p:cNvSpPr>
          <p:nvPr/>
        </p:nvSpPr>
        <p:spPr>
          <a:xfrm xmlns:a="http://schemas.openxmlformats.org/drawingml/2006/main">
            <a:off x="609600" y="16002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tos"/>
                <a:ea typeface="Aptos"/>
                <a:cs typeface="Aptos"/>
              </a:defRPr>
            </a:pPr>
            <a:r>
              <a:rPr sz="2100" b="1">
                <a:solidFill>
                  <a:srgbClr val="087F82"/>
                </a:solidFill>
                <a:latin typeface="Aptos"/>
                <a:ea typeface="Aptos"/>
                <a:cs typeface="Aptos"/>
              </a:rPr>
              <a:t>Public key: M</a:t>
            </a:r>
          </a:p>
        </p:txBody>
      </p:sp>
      <p:sp>
        <p:nvSpPr>
          <p:cNvPr id="5" name="">
            <a:extLst xmlns:a="http://schemas.openxmlformats.org/drawingml/2006/main">
              <a:ext uri="{FF2B5EF4-FFF2-40B4-BE49-F238E27FC236}">
                <a16:creationId xmlns:a16="http://schemas.microsoft.com/office/drawing/2014/main" id="{F2BE3FF8-EDD4-43F9-AAA6-8273A436EAF2}"/>
              </a:ext>
            </a:extLst>
          </p:cNvPr>
          <p:cNvSpPr>
            <a:spLocks xmlns:a="http://schemas.openxmlformats.org/drawingml/2006/main" noGrp="1"/>
          </p:cNvSpPr>
          <p:nvPr/>
        </p:nvSpPr>
        <p:spPr>
          <a:xfrm xmlns:a="http://schemas.openxmlformats.org/drawingml/2006/main">
            <a:off x="6543675" y="1600200"/>
            <a:ext cx="499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tos"/>
                <a:ea typeface="Aptos"/>
                <a:cs typeface="Aptos"/>
              </a:defRPr>
            </a:pPr>
            <a:r>
              <a:rPr sz="2100" b="1">
                <a:solidFill>
                  <a:srgbClr val="087F82"/>
                </a:solidFill>
                <a:latin typeface="Aptos"/>
                <a:ea typeface="Aptos"/>
                <a:cs typeface="Aptos"/>
              </a:rPr>
              <a:t>Secret: short s, with sₘ = 1</a:t>
            </a:r>
          </a:p>
        </p:txBody>
      </p:sp>
      <p:sp>
        <p:nvSpPr>
          <p:cNvPr id="6" name="">
            <a:extLst xmlns:a="http://schemas.openxmlformats.org/drawingml/2006/main">
              <a:ext uri="{FF2B5EF4-FFF2-40B4-BE49-F238E27FC236}">
                <a16:creationId xmlns:a16="http://schemas.microsoft.com/office/drawing/2014/main" id="{B59FA505-5A23-4410-8FFC-F57752AF49BA}"/>
              </a:ext>
            </a:extLst>
          </p:cNvPr>
          <p:cNvSpPr>
            <a:spLocks xmlns:a="http://schemas.openxmlformats.org/drawingml/2006/main" noGrp="1"/>
          </p:cNvSpPr>
          <p:nvPr/>
        </p:nvSpPr>
        <p:spPr>
          <a:xfrm xmlns:a="http://schemas.openxmlformats.org/drawingml/2006/main">
            <a:off x="609600" y="2686050"/>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12F43"/>
                </a:solidFill>
                <a:latin typeface="Aptos"/>
                <a:ea typeface="Aptos"/>
                <a:cs typeface="Aptos"/>
              </a:defRPr>
            </a:pPr>
            <a:r>
              <a:rPr sz="2250" b="1">
                <a:solidFill>
                  <a:srgbClr val="112F43"/>
                </a:solidFill>
                <a:latin typeface="Aptos"/>
                <a:ea typeface="Aptos"/>
                <a:cs typeface="Aptos"/>
              </a:rPr>
              <a:t>Encryption</a:t>
            </a:r>
          </a:p>
        </p:txBody>
      </p:sp>
      <p:sp>
        <p:nvSpPr>
          <p:cNvPr id="7" name="">
            <a:extLst xmlns:a="http://schemas.openxmlformats.org/drawingml/2006/main">
              <a:ext uri="{FF2B5EF4-FFF2-40B4-BE49-F238E27FC236}">
                <a16:creationId xmlns:a16="http://schemas.microsoft.com/office/drawing/2014/main" id="{0263D27B-7A8C-48D1-97D6-88DF575F223F}"/>
              </a:ext>
            </a:extLst>
          </p:cNvPr>
          <p:cNvSpPr>
            <a:spLocks xmlns:a="http://schemas.openxmlformats.org/drawingml/2006/main" noGrp="1"/>
          </p:cNvSpPr>
          <p:nvPr/>
        </p:nvSpPr>
        <p:spPr>
          <a:xfrm xmlns:a="http://schemas.openxmlformats.org/drawingml/2006/main">
            <a:off x="3857625" y="2466975"/>
            <a:ext cx="75533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087F82"/>
                </a:solidFill>
                <a:latin typeface="Aptos"/>
                <a:ea typeface="Aptos"/>
                <a:cs typeface="Aptos"/>
              </a:defRPr>
            </a:pPr>
            <a:r>
              <a:rPr sz="4200" b="1">
                <a:solidFill>
                  <a:srgbClr val="087F82"/>
                </a:solidFill>
                <a:latin typeface="Aptos"/>
                <a:ea typeface="Aptos"/>
                <a:cs typeface="Aptos"/>
              </a:rPr>
              <a:t>c = Mx + e + μuₘ</a:t>
            </a:r>
          </a:p>
        </p:txBody>
      </p:sp>
      <p:sp>
        <p:nvSpPr>
          <p:cNvPr id="8" name="">
            <a:extLst xmlns:a="http://schemas.openxmlformats.org/drawingml/2006/main">
              <a:ext uri="{FF2B5EF4-FFF2-40B4-BE49-F238E27FC236}">
                <a16:creationId xmlns:a16="http://schemas.microsoft.com/office/drawing/2014/main" id="{EF7FEA6A-206B-4A4B-9D25-21C56EE2A6B7}"/>
              </a:ext>
            </a:extLst>
          </p:cNvPr>
          <p:cNvSpPr>
            <a:spLocks xmlns:a="http://schemas.openxmlformats.org/drawingml/2006/main" noGrp="1"/>
          </p:cNvSpPr>
          <p:nvPr/>
        </p:nvSpPr>
        <p:spPr>
          <a:xfrm xmlns:a="http://schemas.openxmlformats.org/drawingml/2006/main">
            <a:off x="609600" y="4114800"/>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12F43"/>
                </a:solidFill>
                <a:latin typeface="Aptos"/>
                <a:ea typeface="Aptos"/>
                <a:cs typeface="Aptos"/>
              </a:defRPr>
            </a:pPr>
            <a:r>
              <a:rPr sz="2250" b="1">
                <a:solidFill>
                  <a:srgbClr val="112F43"/>
                </a:solidFill>
                <a:latin typeface="Aptos"/>
                <a:ea typeface="Aptos"/>
                <a:cs typeface="Aptos"/>
              </a:rPr>
              <a:t>Decryption</a:t>
            </a:r>
          </a:p>
        </p:txBody>
      </p:sp>
      <p:sp>
        <p:nvSpPr>
          <p:cNvPr id="9" name="">
            <a:extLst xmlns:a="http://schemas.openxmlformats.org/drawingml/2006/main">
              <a:ext uri="{FF2B5EF4-FFF2-40B4-BE49-F238E27FC236}">
                <a16:creationId xmlns:a16="http://schemas.microsoft.com/office/drawing/2014/main" id="{1E599461-125C-48D6-BEDD-683A1C1554ED}"/>
              </a:ext>
            </a:extLst>
          </p:cNvPr>
          <p:cNvSpPr>
            <a:spLocks xmlns:a="http://schemas.openxmlformats.org/drawingml/2006/main" noGrp="1"/>
          </p:cNvSpPr>
          <p:nvPr/>
        </p:nvSpPr>
        <p:spPr>
          <a:xfrm xmlns:a="http://schemas.openxmlformats.org/drawingml/2006/main">
            <a:off x="3857625" y="3895725"/>
            <a:ext cx="75533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087F82"/>
                </a:solidFill>
                <a:latin typeface="Aptos"/>
                <a:ea typeface="Aptos"/>
                <a:cs typeface="Aptos"/>
              </a:defRPr>
            </a:pPr>
            <a:r>
              <a:rPr sz="4050" b="1">
                <a:solidFill>
                  <a:srgbClr val="087F82"/>
                </a:solidFill>
                <a:latin typeface="Aptos"/>
                <a:ea typeface="Aptos"/>
                <a:cs typeface="Aptos"/>
              </a:rPr>
              <a:t>sᵀc = μ + sᵀe</a:t>
            </a:r>
          </a:p>
        </p:txBody>
      </p:sp>
      <p:sp>
        <p:nvSpPr>
          <p:cNvPr id="10" name="">
            <a:extLst xmlns:a="http://schemas.openxmlformats.org/drawingml/2006/main">
              <a:ext uri="{FF2B5EF4-FFF2-40B4-BE49-F238E27FC236}">
                <a16:creationId xmlns:a16="http://schemas.microsoft.com/office/drawing/2014/main" id="{AC5FFBD0-65A7-466A-900C-70BFE9D84979}"/>
              </a:ext>
            </a:extLst>
          </p:cNvPr>
          <p:cNvSpPr>
            <a:spLocks xmlns:a="http://schemas.openxmlformats.org/drawingml/2006/main" noGrp="1"/>
          </p:cNvSpPr>
          <p:nvPr/>
        </p:nvSpPr>
        <p:spPr>
          <a:xfrm xmlns:a="http://schemas.openxmlformats.org/drawingml/2006/main">
            <a:off x="609600" y="5381625"/>
            <a:ext cx="108299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μ is one message bit. Fresh randomness hides it.</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The secret relation cancels Mx.</a:t>
            </a:r>
          </a:p>
        </p:txBody>
      </p:sp>
    </p:spTree>
    <p:extLst>
      <p:ext uri="{BB962C8B-B14F-4D97-AF65-F5344CB8AC3E}">
        <p14:creationId xmlns:p14="http://schemas.microsoft.com/office/powerpoint/2010/main" val="325212343"/>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515D68-459B-4C06-91EA-2E0360F2501C}"/>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Noise and dependency length control correctness</a:t>
            </a:r>
          </a:p>
        </p:txBody>
      </p:sp>
      <p:sp>
        <p:nvSpPr>
          <p:cNvPr id="2" name="">
            <a:extLst xmlns:a="http://schemas.openxmlformats.org/drawingml/2006/main">
              <a:ext uri="{FF2B5EF4-FFF2-40B4-BE49-F238E27FC236}">
                <a16:creationId xmlns:a16="http://schemas.microsoft.com/office/drawing/2014/main" id="{C4EBEE1A-D8A8-4315-A3D9-0D8F49131032}"/>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ABW research proposal</a:t>
            </a:r>
          </a:p>
        </p:txBody>
      </p:sp>
      <p:sp>
        <p:nvSpPr>
          <p:cNvPr id="3" name="">
            <a:extLst xmlns:a="http://schemas.openxmlformats.org/drawingml/2006/main">
              <a:ext uri="{FF2B5EF4-FFF2-40B4-BE49-F238E27FC236}">
                <a16:creationId xmlns:a16="http://schemas.microsoft.com/office/drawing/2014/main" id="{BFD3087A-5A42-4107-8A7F-399438165E77}"/>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08</a:t>
            </a:r>
          </a:p>
        </p:txBody>
      </p:sp>
      <p:graphicFrame>
        <p:nvGraphicFramePr>
          <p:cNvPr id="12" name="Chart"/>
          <p:cNvGraphicFramePr/>
          <p:nvPr/>
        </p:nvGraphicFramePr>
        <p:xfrm>
          <a:off xmlns:a="http://schemas.openxmlformats.org/drawingml/2006/main" x="400050" y="1628775"/>
          <a:ext xmlns:a="http://schemas.openxmlformats.org/drawingml/2006/main" cx="7705725" cy="4057650"/>
        </p:xfrm>
        <a:graphic xmlns:a="http://schemas.openxmlformats.org/drawingml/2006/main">
          <a:graphicData uri="http://schemas.openxmlformats.org/drawingml/2006/chart">
            <c:chart xmlns:r="http://schemas.openxmlformats.org/officeDocument/2006/relationships" xmlns:c="http://schemas.openxmlformats.org/drawingml/2006/chart" r:id="R966a55bc4214492a"/>
          </a:graphicData>
        </a:graphic>
      </p:graphicFrame>
      <p:sp>
        <p:nvSpPr>
          <p:cNvPr id="5" name="">
            <a:extLst xmlns:a="http://schemas.openxmlformats.org/drawingml/2006/main">
              <a:ext uri="{FF2B5EF4-FFF2-40B4-BE49-F238E27FC236}">
                <a16:creationId xmlns:a16="http://schemas.microsoft.com/office/drawing/2014/main" id="{43614128-26EC-42E3-9637-67DD3A4FEA51}"/>
              </a:ext>
            </a:extLst>
          </p:cNvPr>
          <p:cNvSpPr>
            <a:spLocks xmlns:a="http://schemas.openxmlformats.org/drawingml/2006/main" noGrp="1"/>
          </p:cNvSpPr>
          <p:nvPr/>
        </p:nvSpPr>
        <p:spPr>
          <a:xfrm xmlns:a="http://schemas.openxmlformats.org/drawingml/2006/main">
            <a:off x="8172450" y="20574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tos"/>
                <a:ea typeface="Aptos"/>
                <a:cs typeface="Aptos"/>
              </a:defRPr>
            </a:pPr>
            <a:r>
              <a:rPr sz="2100" b="1">
                <a:solidFill>
                  <a:srgbClr val="087F82"/>
                </a:solidFill>
                <a:latin typeface="Aptos"/>
                <a:ea typeface="Aptos"/>
                <a:cs typeface="Aptos"/>
              </a:rPr>
              <a:t>p = [1 − (1 − 2ε)ʳ] / 2</a:t>
            </a:r>
          </a:p>
        </p:txBody>
      </p:sp>
      <p:sp>
        <p:nvSpPr>
          <p:cNvPr id="6" name="">
            <a:extLst xmlns:a="http://schemas.openxmlformats.org/drawingml/2006/main">
              <a:ext uri="{FF2B5EF4-FFF2-40B4-BE49-F238E27FC236}">
                <a16:creationId xmlns:a16="http://schemas.microsoft.com/office/drawing/2014/main" id="{33BC428D-A636-4B29-84E6-EDE655621AF7}"/>
              </a:ext>
            </a:extLst>
          </p:cNvPr>
          <p:cNvSpPr>
            <a:spLocks xmlns:a="http://schemas.openxmlformats.org/drawingml/2006/main" noGrp="1"/>
          </p:cNvSpPr>
          <p:nvPr/>
        </p:nvSpPr>
        <p:spPr>
          <a:xfrm xmlns:a="http://schemas.openxmlformats.org/drawingml/2006/main">
            <a:off x="8172450" y="3333750"/>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087F82"/>
                </a:solidFill>
                <a:latin typeface="Aptos"/>
                <a:ea typeface="Aptos"/>
                <a:cs typeface="Aptos"/>
              </a:defRPr>
            </a:pPr>
            <a:r>
              <a:rPr sz="3450" b="1">
                <a:solidFill>
                  <a:srgbClr val="087F82"/>
                </a:solidFill>
                <a:latin typeface="Aptos"/>
                <a:ea typeface="Aptos"/>
                <a:cs typeface="Aptos"/>
              </a:rPr>
              <a:t>p ≤ rε</a:t>
            </a:r>
          </a:p>
        </p:txBody>
      </p:sp>
      <p:sp>
        <p:nvSpPr>
          <p:cNvPr id="7" name="">
            <a:extLst xmlns:a="http://schemas.openxmlformats.org/drawingml/2006/main">
              <a:ext uri="{FF2B5EF4-FFF2-40B4-BE49-F238E27FC236}">
                <a16:creationId xmlns:a16="http://schemas.microsoft.com/office/drawing/2014/main" id="{0B03E7E1-3A21-4956-B2BD-F66A1B04A63D}"/>
              </a:ext>
            </a:extLst>
          </p:cNvPr>
          <p:cNvSpPr>
            <a:spLocks xmlns:a="http://schemas.openxmlformats.org/drawingml/2006/main" noGrp="1"/>
          </p:cNvSpPr>
          <p:nvPr/>
        </p:nvSpPr>
        <p:spPr>
          <a:xfrm xmlns:a="http://schemas.openxmlformats.org/drawingml/2006/main">
            <a:off x="8172450" y="4495800"/>
            <a:ext cx="33051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12F43"/>
                </a:solidFill>
                <a:latin typeface="Aptos"/>
                <a:ea typeface="Aptos"/>
                <a:cs typeface="Aptos"/>
              </a:defRPr>
            </a:pPr>
            <a:r>
              <a:rPr sz="2025" b="0">
                <a:solidFill>
                  <a:srgbClr val="112F43"/>
                </a:solidFill>
                <a:latin typeface="Aptos"/>
                <a:ea typeface="Aptos"/>
                <a:cs typeface="Aptos"/>
              </a:rPr>
              <a:t>Reliable decoding needs</a:t>
            </a:r>
          </a:p>
          <a:p xmlns:a="http://schemas.openxmlformats.org/drawingml/2006/main">
            <a:pPr algn="l">
              <a:defRPr sz="2025" b="0">
                <a:solidFill>
                  <a:srgbClr val="112F43"/>
                </a:solidFill>
                <a:latin typeface="Aptos"/>
                <a:ea typeface="Aptos"/>
                <a:cs typeface="Aptos"/>
              </a:defRPr>
            </a:pPr>
            <a:r>
              <a:rPr sz="2025" b="0">
                <a:solidFill>
                  <a:srgbClr val="112F43"/>
                </a:solidFill>
                <a:latin typeface="Aptos"/>
                <a:ea typeface="Aptos"/>
                <a:cs typeface="Aptos"/>
              </a:rPr>
              <a:t>a controlled noise parity.</a:t>
            </a:r>
          </a:p>
        </p:txBody>
      </p:sp>
      <p:sp>
        <p:nvSpPr>
          <p:cNvPr id="8" name="">
            <a:extLst xmlns:a="http://schemas.openxmlformats.org/drawingml/2006/main">
              <a:ext uri="{FF2B5EF4-FFF2-40B4-BE49-F238E27FC236}">
                <a16:creationId xmlns:a16="http://schemas.microsoft.com/office/drawing/2014/main" id="{355B0057-1201-4BA7-A3CE-FB127120AF62}"/>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Illustrative calculations. A useful cryptographic parameter choice also needs an attack analysis.</a:t>
            </a:r>
          </a:p>
        </p:txBody>
      </p:sp>
    </p:spTree>
    <p:extLst>
      <p:ext uri="{BB962C8B-B14F-4D97-AF65-F5344CB8AC3E}">
        <p14:creationId xmlns:p14="http://schemas.microsoft.com/office/powerpoint/2010/main" val="573093942"/>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B28A6A-6C22-422C-B55D-928E35C34D44}"/>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d-LIN, LPN, LWE and Module-LWE</a:t>
            </a:r>
          </a:p>
        </p:txBody>
      </p:sp>
      <p:sp>
        <p:nvSpPr>
          <p:cNvPr id="2" name="">
            <a:extLst xmlns:a="http://schemas.openxmlformats.org/drawingml/2006/main">
              <a:ext uri="{FF2B5EF4-FFF2-40B4-BE49-F238E27FC236}">
                <a16:creationId xmlns:a16="http://schemas.microsoft.com/office/drawing/2014/main" id="{2B7B183B-87AF-442F-9643-7423C6B0746A}"/>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ABW research proposal</a:t>
            </a:r>
          </a:p>
        </p:txBody>
      </p:sp>
      <p:sp>
        <p:nvSpPr>
          <p:cNvPr id="3" name="">
            <a:extLst xmlns:a="http://schemas.openxmlformats.org/drawingml/2006/main">
              <a:ext uri="{FF2B5EF4-FFF2-40B4-BE49-F238E27FC236}">
                <a16:creationId xmlns:a16="http://schemas.microsoft.com/office/drawing/2014/main" id="{B33F37F9-BAB0-40CE-8B31-4648E37DF378}"/>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09</a:t>
            </a:r>
          </a:p>
        </p:txBody>
      </p:sp>
      <p:graphicFrame>
        <p:nvGraphicFramePr>
          <p:cNvPr id="9" name=""/>
          <p:cNvGraphicFramePr/>
          <p:nvPr/>
        </p:nvGraphicFramePr>
        <p:xfrm>
          <a:off xmlns:a="http://schemas.openxmlformats.org/drawingml/2006/main" x="609600" y="1657350"/>
          <a:ext xmlns:a="http://schemas.openxmlformats.org/drawingml/2006/main" cx="10972800" cy="3933825"/>
        </p:xfrm>
        <a:graphic xmlns:a="http://schemas.openxmlformats.org/drawingml/2006/main">
          <a:graphicData uri="http://schemas.openxmlformats.org/drawingml/2006/table">
            <a:tbl>
              <a:tblPr/>
              <a:tblGrid>
                <a:gridCol w="2133600"/>
                <a:gridCol w="4438650"/>
                <a:gridCol w="4400550"/>
              </a:tblGrid>
              <a:tr h="786765">
                <a:tc>
                  <a:txBody>
                    <a:bodyPr/>
                    <a:lstStyle/>
                    <a:p>
                      <a:r>
                        <a:rPr sz="1800" b="1">
                          <a:solidFill>
                            <a:srgbClr val="FFFFFF"/>
                          </a:solidFill>
                          <a:latin typeface="Aptos"/>
                          <a:ea typeface="Aptos"/>
                          <a:cs typeface="Aptos"/>
                        </a:rPr>
                        <a:t>Problem</a:t>
                      </a:r>
                    </a:p>
                  </a:txBody>
                  <a:tcPr marL="142875" marR="114300" marT="104775" marB="85725" anchor="ctr">
                    <a:solidFill>
                      <a:srgbClr val="112F43"/>
                    </a:solidFill>
                  </a:tcPr>
                </a:tc>
                <a:tc>
                  <a:txBody>
                    <a:bodyPr/>
                    <a:lstStyle/>
                    <a:p>
                      <a:r>
                        <a:rPr sz="1800" b="1">
                          <a:solidFill>
                            <a:srgbClr val="FFFFFF"/>
                          </a:solidFill>
                          <a:latin typeface="Aptos"/>
                          <a:ea typeface="Aptos"/>
                          <a:cs typeface="Aptos"/>
                        </a:rPr>
                        <a:t>Coefficients and noise</a:t>
                      </a:r>
                    </a:p>
                  </a:txBody>
                  <a:tcPr marL="142875" marR="114300" marT="104775" marB="85725" anchor="ctr">
                    <a:solidFill>
                      <a:srgbClr val="112F43"/>
                    </a:solidFill>
                  </a:tcPr>
                </a:tc>
                <a:tc>
                  <a:txBody>
                    <a:bodyPr/>
                    <a:lstStyle/>
                    <a:p>
                      <a:r>
                        <a:rPr sz="1800" b="1">
                          <a:solidFill>
                            <a:srgbClr val="FFFFFF"/>
                          </a:solidFill>
                          <a:latin typeface="Aptos"/>
                          <a:ea typeface="Aptos"/>
                          <a:cs typeface="Aptos"/>
                        </a:rPr>
                        <a:t>Security context</a:t>
                      </a:r>
                    </a:p>
                  </a:txBody>
                  <a:tcPr marL="142875" marR="114300" marT="104775" marB="85725" anchor="ctr">
                    <a:solidFill>
                      <a:srgbClr val="112F43"/>
                    </a:solidFill>
                  </a:tcPr>
                </a:tc>
              </a:tr>
              <a:tr h="786765">
                <a:tc>
                  <a:txBody>
                    <a:bodyPr/>
                    <a:lstStyle/>
                    <a:p>
                      <a:r>
                        <a:rPr sz="1800">
                          <a:solidFill>
                            <a:srgbClr val="112F43"/>
                          </a:solidFill>
                          <a:latin typeface="Aptos"/>
                          <a:ea typeface="Aptos"/>
                          <a:cs typeface="Aptos"/>
                        </a:rPr>
                        <a:t>Sparse d-LIN</a:t>
                      </a:r>
                    </a:p>
                  </a:txBody>
                  <a:tcPr marL="142875" marR="114300" marT="104775" marB="85725" anchor="ctr">
                    <a:solidFill>
                      <a:srgbClr val="F7F5F0"/>
                    </a:solidFill>
                  </a:tcPr>
                </a:tc>
                <a:tc>
                  <a:txBody>
                    <a:bodyPr/>
                    <a:lstStyle/>
                    <a:p>
                      <a:r>
                        <a:rPr sz="1800">
                          <a:solidFill>
                            <a:srgbClr val="112F43"/>
                          </a:solidFill>
                          <a:latin typeface="Aptos"/>
                          <a:ea typeface="Aptos"/>
                          <a:cs typeface="Aptos"/>
                        </a:rPr>
                        <a:t>Fixed sparse binary rows</a:t>
                      </a:r>
                    </a:p>
                    <a:p>
                      <a:r>
                        <a:rPr sz="1800">
                          <a:solidFill>
                            <a:srgbClr val="112F43"/>
                          </a:solidFill>
                          <a:latin typeface="Aptos"/>
                          <a:ea typeface="Aptos"/>
                          <a:cs typeface="Aptos"/>
                        </a:rPr>
                        <a:t>Bernoulli output flips</a:t>
                      </a:r>
                    </a:p>
                  </a:txBody>
                  <a:tcPr marL="142875" marR="114300" marT="104775" marB="85725" anchor="ctr">
                    <a:solidFill>
                      <a:srgbClr val="F7F5F0"/>
                    </a:solidFill>
                  </a:tcPr>
                </a:tc>
                <a:tc>
                  <a:txBody>
                    <a:bodyPr/>
                    <a:lstStyle/>
                    <a:p>
                      <a:r>
                        <a:rPr sz="1800">
                          <a:solidFill>
                            <a:srgbClr val="112F43"/>
                          </a:solidFill>
                          <a:latin typeface="Aptos"/>
                          <a:ea typeface="Aptos"/>
                          <a:cs typeface="Aptos"/>
                        </a:rPr>
                        <a:t>Exact average-case regime matters</a:t>
                      </a:r>
                    </a:p>
                  </a:txBody>
                  <a:tcPr marL="142875" marR="114300" marT="104775" marB="85725" anchor="ctr">
                    <a:solidFill>
                      <a:srgbClr val="F7F5F0"/>
                    </a:solidFill>
                  </a:tcPr>
                </a:tc>
              </a:tr>
              <a:tr h="786765">
                <a:tc>
                  <a:txBody>
                    <a:bodyPr/>
                    <a:lstStyle/>
                    <a:p>
                      <a:r>
                        <a:rPr sz="1800">
                          <a:solidFill>
                            <a:srgbClr val="112F43"/>
                          </a:solidFill>
                          <a:latin typeface="Aptos"/>
                          <a:ea typeface="Aptos"/>
                          <a:cs typeface="Aptos"/>
                        </a:rPr>
                        <a:t>Dense LPN</a:t>
                      </a:r>
                    </a:p>
                  </a:txBody>
                  <a:tcPr marL="142875" marR="114300" marT="104775" marB="85725" anchor="ctr">
                    <a:solidFill>
                      <a:srgbClr val="F7F5F0"/>
                    </a:solidFill>
                  </a:tcPr>
                </a:tc>
                <a:tc>
                  <a:txBody>
                    <a:bodyPr/>
                    <a:lstStyle/>
                    <a:p>
                      <a:r>
                        <a:rPr sz="1800">
                          <a:solidFill>
                            <a:srgbClr val="112F43"/>
                          </a:solidFill>
                          <a:latin typeface="Aptos"/>
                          <a:ea typeface="Aptos"/>
                          <a:cs typeface="Aptos"/>
                        </a:rPr>
                        <a:t>Uniform binary rows</a:t>
                      </a:r>
                    </a:p>
                    <a:p>
                      <a:r>
                        <a:rPr sz="1800">
                          <a:solidFill>
                            <a:srgbClr val="112F43"/>
                          </a:solidFill>
                          <a:latin typeface="Aptos"/>
                          <a:ea typeface="Aptos"/>
                          <a:cs typeface="Aptos"/>
                        </a:rPr>
                        <a:t>Bernoulli output flips</a:t>
                      </a:r>
                    </a:p>
                  </a:txBody>
                  <a:tcPr marL="142875" marR="114300" marT="104775" marB="85725" anchor="ctr">
                    <a:solidFill>
                      <a:srgbClr val="F7F5F0"/>
                    </a:solidFill>
                  </a:tcPr>
                </a:tc>
                <a:tc>
                  <a:txBody>
                    <a:bodyPr/>
                    <a:lstStyle/>
                    <a:p>
                      <a:r>
                        <a:rPr sz="1800">
                          <a:solidFill>
                            <a:srgbClr val="112F43"/>
                          </a:solidFill>
                          <a:latin typeface="Aptos"/>
                          <a:ea typeface="Aptos"/>
                          <a:cs typeface="Aptos"/>
                        </a:rPr>
                        <a:t>PKE constructions already exist</a:t>
                      </a:r>
                    </a:p>
                  </a:txBody>
                  <a:tcPr marL="142875" marR="114300" marT="104775" marB="85725" anchor="ctr">
                    <a:solidFill>
                      <a:srgbClr val="F7F5F0"/>
                    </a:solidFill>
                  </a:tcPr>
                </a:tc>
              </a:tr>
              <a:tr h="786765">
                <a:tc>
                  <a:txBody>
                    <a:bodyPr/>
                    <a:lstStyle/>
                    <a:p>
                      <a:r>
                        <a:rPr sz="1800">
                          <a:solidFill>
                            <a:srgbClr val="112F43"/>
                          </a:solidFill>
                          <a:latin typeface="Aptos"/>
                          <a:ea typeface="Aptos"/>
                          <a:cs typeface="Aptos"/>
                        </a:rPr>
                        <a:t>LWE</a:t>
                      </a:r>
                    </a:p>
                  </a:txBody>
                  <a:tcPr marL="142875" marR="114300" marT="104775" marB="85725" anchor="ctr">
                    <a:solidFill>
                      <a:srgbClr val="F7F5F0"/>
                    </a:solidFill>
                  </a:tcPr>
                </a:tc>
                <a:tc>
                  <a:txBody>
                    <a:bodyPr/>
                    <a:lstStyle/>
                    <a:p>
                      <a:r>
                        <a:rPr sz="1800">
                          <a:solidFill>
                            <a:srgbClr val="112F43"/>
                          </a:solidFill>
                          <a:latin typeface="Aptos"/>
                          <a:ea typeface="Aptos"/>
                          <a:cs typeface="Aptos"/>
                        </a:rPr>
                        <a:t>Modular coefficients</a:t>
                      </a:r>
                    </a:p>
                    <a:p>
                      <a:r>
                        <a:rPr sz="1800">
                          <a:solidFill>
                            <a:srgbClr val="112F43"/>
                          </a:solidFill>
                          <a:latin typeface="Aptos"/>
                          <a:ea typeface="Aptos"/>
                          <a:cs typeface="Aptos"/>
                        </a:rPr>
                        <a:t>Small modular errors</a:t>
                      </a:r>
                    </a:p>
                  </a:txBody>
                  <a:tcPr marL="142875" marR="114300" marT="104775" marB="85725" anchor="ctr">
                    <a:solidFill>
                      <a:srgbClr val="F7F5F0"/>
                    </a:solidFill>
                  </a:tcPr>
                </a:tc>
                <a:tc>
                  <a:txBody>
                    <a:bodyPr/>
                    <a:lstStyle/>
                    <a:p>
                      <a:r>
                        <a:rPr sz="1800">
                          <a:solidFill>
                            <a:srgbClr val="112F43"/>
                          </a:solidFill>
                          <a:latin typeface="Aptos"/>
                          <a:ea typeface="Aptos"/>
                          <a:cs typeface="Aptos"/>
                        </a:rPr>
                        <a:t>Lattice reductions in suitable regimes</a:t>
                      </a:r>
                    </a:p>
                  </a:txBody>
                  <a:tcPr marL="142875" marR="114300" marT="104775" marB="85725" anchor="ctr">
                    <a:solidFill>
                      <a:srgbClr val="F7F5F0"/>
                    </a:solidFill>
                  </a:tcPr>
                </a:tc>
              </a:tr>
              <a:tr h="786765">
                <a:tc>
                  <a:txBody>
                    <a:bodyPr/>
                    <a:lstStyle/>
                    <a:p>
                      <a:r>
                        <a:rPr sz="1800">
                          <a:solidFill>
                            <a:srgbClr val="112F43"/>
                          </a:solidFill>
                          <a:latin typeface="Aptos"/>
                          <a:ea typeface="Aptos"/>
                          <a:cs typeface="Aptos"/>
                        </a:rPr>
                        <a:t>Module-LWE</a:t>
                      </a:r>
                    </a:p>
                  </a:txBody>
                  <a:tcPr marL="142875" marR="114300" marT="104775" marB="85725" anchor="ctr">
                    <a:solidFill>
                      <a:srgbClr val="F7F5F0"/>
                    </a:solidFill>
                  </a:tcPr>
                </a:tc>
                <a:tc>
                  <a:txBody>
                    <a:bodyPr/>
                    <a:lstStyle/>
                    <a:p>
                      <a:r>
                        <a:rPr sz="1800">
                          <a:solidFill>
                            <a:srgbClr val="112F43"/>
                          </a:solidFill>
                          <a:latin typeface="Aptos"/>
                          <a:ea typeface="Aptos"/>
                          <a:cs typeface="Aptos"/>
                        </a:rPr>
                        <a:t>Polynomial/module structure</a:t>
                      </a:r>
                    </a:p>
                    <a:p>
                      <a:r>
                        <a:rPr sz="1800">
                          <a:solidFill>
                            <a:srgbClr val="112F43"/>
                          </a:solidFill>
                          <a:latin typeface="Aptos"/>
                          <a:ea typeface="Aptos"/>
                          <a:cs typeface="Aptos"/>
                        </a:rPr>
                        <a:t>Small coefficient errors</a:t>
                      </a:r>
                    </a:p>
                  </a:txBody>
                  <a:tcPr marL="142875" marR="114300" marT="104775" marB="85725" anchor="ctr">
                    <a:solidFill>
                      <a:srgbClr val="F7F5F0"/>
                    </a:solidFill>
                  </a:tcPr>
                </a:tc>
                <a:tc>
                  <a:txBody>
                    <a:bodyPr/>
                    <a:lstStyle/>
                    <a:p>
                      <a:r>
                        <a:rPr sz="1800">
                          <a:solidFill>
                            <a:srgbClr val="112F43"/>
                          </a:solidFill>
                          <a:latin typeface="Aptos"/>
                          <a:ea typeface="Aptos"/>
                          <a:cs typeface="Aptos"/>
                        </a:rPr>
                        <a:t>Compact structured constructions</a:t>
                      </a:r>
                    </a:p>
                  </a:txBody>
                  <a:tcPr marL="142875" marR="114300" marT="104775" marB="85725" anchor="ctr">
                    <a:solidFill>
                      <a:srgbClr val="F7F5F0"/>
                    </a:solidFill>
                  </a:tcPr>
                </a:tc>
              </a:tr>
            </a:tbl>
          </a:graphicData>
        </a:graphic>
      </p:graphicFrame>
      <p:sp>
        <p:nvSpPr>
          <p:cNvPr id="5" name="">
            <a:extLst xmlns:a="http://schemas.openxmlformats.org/drawingml/2006/main">
              <a:ext uri="{FF2B5EF4-FFF2-40B4-BE49-F238E27FC236}">
                <a16:creationId xmlns:a16="http://schemas.microsoft.com/office/drawing/2014/main" id="{BAF2F362-3CFF-471B-AD82-CEE423313004}"/>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Shared equation syntax does not establish a reduction or a security ranking.</a:t>
            </a:r>
          </a:p>
        </p:txBody>
      </p:sp>
    </p:spTree>
    <p:extLst>
      <p:ext uri="{BB962C8B-B14F-4D97-AF65-F5344CB8AC3E}">
        <p14:creationId xmlns:p14="http://schemas.microsoft.com/office/powerpoint/2010/main" val="838243329"/>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9794F3-CB2C-4A72-B791-FA81963F355D}"/>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Existing KEMs set concrete benchmarks</a:t>
            </a:r>
          </a:p>
        </p:txBody>
      </p:sp>
      <p:sp>
        <p:nvSpPr>
          <p:cNvPr id="2" name="">
            <a:extLst xmlns:a="http://schemas.openxmlformats.org/drawingml/2006/main">
              <a:ext uri="{FF2B5EF4-FFF2-40B4-BE49-F238E27FC236}">
                <a16:creationId xmlns:a16="http://schemas.microsoft.com/office/drawing/2014/main" id="{56BF5C7F-7B7C-4B64-8942-369163F51933}"/>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ABW research proposal</a:t>
            </a:r>
          </a:p>
        </p:txBody>
      </p:sp>
      <p:sp>
        <p:nvSpPr>
          <p:cNvPr id="3" name="">
            <a:extLst xmlns:a="http://schemas.openxmlformats.org/drawingml/2006/main">
              <a:ext uri="{FF2B5EF4-FFF2-40B4-BE49-F238E27FC236}">
                <a16:creationId xmlns:a16="http://schemas.microsoft.com/office/drawing/2014/main" id="{BCB9CC42-C67C-46B6-BEA5-809958D4C0D8}"/>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10</a:t>
            </a:r>
          </a:p>
        </p:txBody>
      </p:sp>
      <p:graphicFrame>
        <p:nvGraphicFramePr>
          <p:cNvPr id="11" name="Chart"/>
          <p:cNvGraphicFramePr/>
          <p:nvPr/>
        </p:nvGraphicFramePr>
        <p:xfrm>
          <a:off xmlns:a="http://schemas.openxmlformats.org/drawingml/2006/main" x="457200" y="1676400"/>
          <a:ext xmlns:a="http://schemas.openxmlformats.org/drawingml/2006/main" cx="7448550" cy="3990975"/>
        </p:xfrm>
        <a:graphic xmlns:a="http://schemas.openxmlformats.org/drawingml/2006/main">
          <a:graphicData uri="http://schemas.openxmlformats.org/drawingml/2006/chart">
            <c:chart xmlns:r="http://schemas.openxmlformats.org/officeDocument/2006/relationships" xmlns:c="http://schemas.openxmlformats.org/drawingml/2006/chart" r:id="Rb10f8a64d1ca4c01"/>
          </a:graphicData>
        </a:graphic>
      </p:graphicFrame>
      <p:sp>
        <p:nvSpPr>
          <p:cNvPr id="5" name="">
            <a:extLst xmlns:a="http://schemas.openxmlformats.org/drawingml/2006/main">
              <a:ext uri="{FF2B5EF4-FFF2-40B4-BE49-F238E27FC236}">
                <a16:creationId xmlns:a16="http://schemas.microsoft.com/office/drawing/2014/main" id="{B96E1CB3-53DB-440F-B22E-0B0F15BC0654}"/>
              </a:ext>
            </a:extLst>
          </p:cNvPr>
          <p:cNvSpPr>
            <a:spLocks xmlns:a="http://schemas.openxmlformats.org/drawingml/2006/main" noGrp="1"/>
          </p:cNvSpPr>
          <p:nvPr/>
        </p:nvSpPr>
        <p:spPr>
          <a:xfrm xmlns:a="http://schemas.openxmlformats.org/drawingml/2006/main">
            <a:off x="8296275" y="1847850"/>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F82"/>
                </a:solidFill>
                <a:latin typeface="Aptos"/>
                <a:ea typeface="Aptos"/>
                <a:cs typeface="Aptos"/>
              </a:defRPr>
            </a:pPr>
            <a:r>
              <a:rPr sz="2025" b="1">
                <a:solidFill>
                  <a:srgbClr val="087F82"/>
                </a:solidFill>
                <a:latin typeface="Aptos"/>
                <a:ea typeface="Aptos"/>
                <a:cs typeface="Aptos"/>
              </a:rPr>
              <a:t>ABW-derived candidate</a:t>
            </a:r>
          </a:p>
        </p:txBody>
      </p:sp>
      <p:sp>
        <p:nvSpPr>
          <p:cNvPr id="6" name="">
            <a:extLst xmlns:a="http://schemas.openxmlformats.org/drawingml/2006/main">
              <a:ext uri="{FF2B5EF4-FFF2-40B4-BE49-F238E27FC236}">
                <a16:creationId xmlns:a16="http://schemas.microsoft.com/office/drawing/2014/main" id="{178CD4EE-B4B9-46A3-A9F1-FE863118C2D7}"/>
              </a:ext>
            </a:extLst>
          </p:cNvPr>
          <p:cNvSpPr>
            <a:spLocks xmlns:a="http://schemas.openxmlformats.org/drawingml/2006/main" noGrp="1"/>
          </p:cNvSpPr>
          <p:nvPr/>
        </p:nvSpPr>
        <p:spPr>
          <a:xfrm xmlns:a="http://schemas.openxmlformats.org/drawingml/2006/main">
            <a:off x="8296275" y="2571750"/>
            <a:ext cx="32385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12F43"/>
                </a:solidFill>
                <a:latin typeface="Aptos"/>
                <a:ea typeface="Aptos"/>
                <a:cs typeface="Aptos"/>
              </a:defRPr>
            </a:pPr>
            <a:r>
              <a:rPr sz="2100" b="0">
                <a:solidFill>
                  <a:srgbClr val="112F43"/>
                </a:solidFill>
                <a:latin typeface="Aptos"/>
                <a:ea typeface="Aptos"/>
                <a:cs typeface="Aptos"/>
              </a:rPr>
              <a:t>Key size: to establish</a:t>
            </a:r>
          </a:p>
          <a:p xmlns:a="http://schemas.openxmlformats.org/drawingml/2006/main">
            <a:pPr algn="l">
              <a:defRPr sz="2100" b="0">
                <a:solidFill>
                  <a:srgbClr val="112F43"/>
                </a:solidFill>
                <a:latin typeface="Aptos"/>
                <a:ea typeface="Aptos"/>
                <a:cs typeface="Aptos"/>
              </a:defRPr>
            </a:pPr>
            <a:r>
              <a:rPr sz="2100" b="0">
                <a:solidFill>
                  <a:srgbClr val="112F43"/>
                </a:solidFill>
                <a:latin typeface="Aptos"/>
                <a:ea typeface="Aptos"/>
                <a:cs typeface="Aptos"/>
              </a:rPr>
              <a:t>Ciphertext: to establish</a:t>
            </a:r>
          </a:p>
          <a:p xmlns:a="http://schemas.openxmlformats.org/drawingml/2006/main">
            <a:r>
              <a:t/>
            </a:r>
          </a:p>
          <a:p xmlns:a="http://schemas.openxmlformats.org/drawingml/2006/main">
            <a:pPr algn="l">
              <a:defRPr sz="2100" b="0">
                <a:solidFill>
                  <a:srgbClr val="112F43"/>
                </a:solidFill>
                <a:latin typeface="Aptos"/>
                <a:ea typeface="Aptos"/>
                <a:cs typeface="Aptos"/>
              </a:defRPr>
            </a:pPr>
            <a:r>
              <a:rPr sz="2100" b="0">
                <a:solidFill>
                  <a:srgbClr val="112F43"/>
                </a:solidFill>
                <a:latin typeface="Aptos"/>
                <a:ea typeface="Aptos"/>
                <a:cs typeface="Aptos"/>
              </a:rPr>
              <a:t>Measure full amplification</a:t>
            </a:r>
          </a:p>
          <a:p xmlns:a="http://schemas.openxmlformats.org/drawingml/2006/main">
            <a:pPr algn="l">
              <a:defRPr sz="2100" b="0">
                <a:solidFill>
                  <a:srgbClr val="112F43"/>
                </a:solidFill>
                <a:latin typeface="Aptos"/>
                <a:ea typeface="Aptos"/>
                <a:cs typeface="Aptos"/>
              </a:defRPr>
            </a:pPr>
            <a:r>
              <a:rPr sz="2100" b="0">
                <a:solidFill>
                  <a:srgbClr val="112F43"/>
                </a:solidFill>
                <a:latin typeface="Aptos"/>
                <a:ea typeface="Aptos"/>
                <a:cs typeface="Aptos"/>
              </a:rPr>
              <a:t>and CCA conversion.</a:t>
            </a:r>
          </a:p>
        </p:txBody>
      </p:sp>
      <p:sp>
        <p:nvSpPr>
          <p:cNvPr id="7" name="">
            <a:extLst xmlns:a="http://schemas.openxmlformats.org/drawingml/2006/main">
              <a:ext uri="{FF2B5EF4-FFF2-40B4-BE49-F238E27FC236}">
                <a16:creationId xmlns:a16="http://schemas.microsoft.com/office/drawing/2014/main" id="{1971A508-EF28-4761-885F-126AD10739E8}"/>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Category 1 targets. ML-KEM is standardized. HQC is selected for standardization (specification: 22 Aug 2025).</a:t>
            </a:r>
          </a:p>
        </p:txBody>
      </p:sp>
    </p:spTree>
    <p:extLst>
      <p:ext uri="{BB962C8B-B14F-4D97-AF65-F5344CB8AC3E}">
        <p14:creationId xmlns:p14="http://schemas.microsoft.com/office/powerpoint/2010/main" val="1579864987"/>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BFD8739-C0D1-4B9B-AF4D-585664C4AF50}"/>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Attractions and costs of an ABW foundation</a:t>
            </a:r>
          </a:p>
        </p:txBody>
      </p:sp>
      <p:sp>
        <p:nvSpPr>
          <p:cNvPr id="2" name="">
            <a:extLst xmlns:a="http://schemas.openxmlformats.org/drawingml/2006/main">
              <a:ext uri="{FF2B5EF4-FFF2-40B4-BE49-F238E27FC236}">
                <a16:creationId xmlns:a16="http://schemas.microsoft.com/office/drawing/2014/main" id="{8C0F464A-544C-4785-A070-D312234A5ABD}"/>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ABW research proposal</a:t>
            </a:r>
          </a:p>
        </p:txBody>
      </p:sp>
      <p:sp>
        <p:nvSpPr>
          <p:cNvPr id="3" name="">
            <a:extLst xmlns:a="http://schemas.openxmlformats.org/drawingml/2006/main">
              <a:ext uri="{FF2B5EF4-FFF2-40B4-BE49-F238E27FC236}">
                <a16:creationId xmlns:a16="http://schemas.microsoft.com/office/drawing/2014/main" id="{7EF98E3F-2969-439E-9921-54543DC962DD}"/>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11</a:t>
            </a:r>
          </a:p>
        </p:txBody>
      </p:sp>
      <p:sp>
        <p:nvSpPr>
          <p:cNvPr id="4" name="">
            <a:extLst xmlns:a="http://schemas.openxmlformats.org/drawingml/2006/main">
              <a:ext uri="{FF2B5EF4-FFF2-40B4-BE49-F238E27FC236}">
                <a16:creationId xmlns:a16="http://schemas.microsoft.com/office/drawing/2014/main" id="{8DCAFC31-A2E0-40CA-A4DA-92F0A77E6479}"/>
              </a:ext>
            </a:extLst>
          </p:cNvPr>
          <p:cNvSpPr>
            <a:spLocks xmlns:a="http://schemas.openxmlformats.org/drawingml/2006/main" noGrp="1"/>
          </p:cNvSpPr>
          <p:nvPr/>
        </p:nvSpPr>
        <p:spPr>
          <a:xfrm xmlns:a="http://schemas.openxmlformats.org/drawingml/2006/main">
            <a:off x="609600" y="166687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tos"/>
                <a:ea typeface="Aptos"/>
                <a:cs typeface="Aptos"/>
              </a:defRPr>
            </a:pPr>
            <a:r>
              <a:rPr sz="2100" b="1">
                <a:solidFill>
                  <a:srgbClr val="087F82"/>
                </a:solidFill>
                <a:latin typeface="Aptos"/>
                <a:ea typeface="Aptos"/>
                <a:cs typeface="Aptos"/>
              </a:rPr>
              <a:t>Reasons to investigate</a:t>
            </a:r>
          </a:p>
        </p:txBody>
      </p:sp>
      <p:sp>
        <p:nvSpPr>
          <p:cNvPr id="5" name="">
            <a:extLst xmlns:a="http://schemas.openxmlformats.org/drawingml/2006/main">
              <a:ext uri="{FF2B5EF4-FFF2-40B4-BE49-F238E27FC236}">
                <a16:creationId xmlns:a16="http://schemas.microsoft.com/office/drawing/2014/main" id="{AADA4AED-3364-4920-A70B-897666706D2D}"/>
              </a:ext>
            </a:extLst>
          </p:cNvPr>
          <p:cNvSpPr>
            <a:spLocks xmlns:a="http://schemas.openxmlformats.org/drawingml/2006/main" noGrp="1"/>
          </p:cNvSpPr>
          <p:nvPr/>
        </p:nvSpPr>
        <p:spPr>
          <a:xfrm xmlns:a="http://schemas.openxmlformats.org/drawingml/2006/main">
            <a:off x="6553200" y="1666875"/>
            <a:ext cx="499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45C48"/>
                </a:solidFill>
                <a:latin typeface="Aptos"/>
                <a:ea typeface="Aptos"/>
                <a:cs typeface="Aptos"/>
              </a:defRPr>
            </a:pPr>
            <a:r>
              <a:rPr sz="2100" b="1">
                <a:solidFill>
                  <a:srgbClr val="C45C48"/>
                </a:solidFill>
                <a:latin typeface="Aptos"/>
                <a:ea typeface="Aptos"/>
                <a:cs typeface="Aptos"/>
              </a:rPr>
              <a:t>Costs to quantify</a:t>
            </a:r>
          </a:p>
        </p:txBody>
      </p:sp>
      <p:sp>
        <p:nvSpPr>
          <p:cNvPr id="6" name="">
            <a:extLst xmlns:a="http://schemas.openxmlformats.org/drawingml/2006/main">
              <a:ext uri="{FF2B5EF4-FFF2-40B4-BE49-F238E27FC236}">
                <a16:creationId xmlns:a16="http://schemas.microsoft.com/office/drawing/2014/main" id="{99D3FFA2-C524-47DF-8A6C-2182B1E2204C}"/>
              </a:ext>
            </a:extLst>
          </p:cNvPr>
          <p:cNvSpPr>
            <a:spLocks xmlns:a="http://schemas.openxmlformats.org/drawingml/2006/main" noGrp="1"/>
          </p:cNvSpPr>
          <p:nvPr/>
        </p:nvSpPr>
        <p:spPr>
          <a:xfrm xmlns:a="http://schemas.openxmlformats.org/drawingml/2006/main">
            <a:off x="609600" y="2371725"/>
            <a:ext cx="501967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Assumption diversification</a:t>
            </a:r>
          </a:p>
          <a:p xmlns:a="http://schemas.openxmlformats.org/drawingml/2006/main">
            <a:r>
              <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Simple sparse arithmetic</a:t>
            </a:r>
          </a:p>
          <a:p xmlns:a="http://schemas.openxmlformats.org/drawingml/2006/main">
            <a:r>
              <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A trapdoor with clear algebra</a:t>
            </a:r>
          </a:p>
          <a:p xmlns:a="http://schemas.openxmlformats.org/drawingml/2006/main">
            <a:r>
              <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Several proof bottlenecks to improve</a:t>
            </a:r>
          </a:p>
        </p:txBody>
      </p:sp>
      <p:sp>
        <p:nvSpPr>
          <p:cNvPr id="7" name="">
            <a:extLst xmlns:a="http://schemas.openxmlformats.org/drawingml/2006/main">
              <a:ext uri="{FF2B5EF4-FFF2-40B4-BE49-F238E27FC236}">
                <a16:creationId xmlns:a16="http://schemas.microsoft.com/office/drawing/2014/main" id="{F8158203-1E21-490D-AF64-AD85862D71E5}"/>
              </a:ext>
            </a:extLst>
          </p:cNvPr>
          <p:cNvSpPr>
            <a:spLocks xmlns:a="http://schemas.openxmlformats.org/drawingml/2006/main" noGrp="1"/>
          </p:cNvSpPr>
          <p:nvPr/>
        </p:nvSpPr>
        <p:spPr>
          <a:xfrm xmlns:a="http://schemas.openxmlformats.org/drawingml/2006/main">
            <a:off x="6553200" y="2371725"/>
            <a:ext cx="49911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Limited concrete calibration</a:t>
            </a:r>
          </a:p>
          <a:p xmlns:a="http://schemas.openxmlformats.org/drawingml/2006/main">
            <a:r>
              <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Large raw bit ciphertexts</a:t>
            </a:r>
          </a:p>
          <a:p xmlns:a="http://schemas.openxmlformats.org/drawingml/2006/main">
            <a:r>
              <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Key and ciphertext amplification</a:t>
            </a:r>
          </a:p>
          <a:p xmlns:a="http://schemas.openxmlformats.org/drawingml/2006/main">
            <a:r>
              <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CCA and quantum proof obligations</a:t>
            </a:r>
          </a:p>
        </p:txBody>
      </p:sp>
      <p:sp>
        <p:nvSpPr>
          <p:cNvPr id="8" name="">
            <a:extLst xmlns:a="http://schemas.openxmlformats.org/drawingml/2006/main">
              <a:ext uri="{FF2B5EF4-FFF2-40B4-BE49-F238E27FC236}">
                <a16:creationId xmlns:a16="http://schemas.microsoft.com/office/drawing/2014/main" id="{422BD28B-B2AD-40F0-97BF-CDD74DA0201B}"/>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The project needs a measurable advantage: a stronger theorem or a useful concrete trade-off.</a:t>
            </a:r>
          </a:p>
        </p:txBody>
      </p:sp>
    </p:spTree>
    <p:extLst>
      <p:ext uri="{BB962C8B-B14F-4D97-AF65-F5344CB8AC3E}">
        <p14:creationId xmlns:p14="http://schemas.microsoft.com/office/powerpoint/2010/main" val="848644282"/>
      </p:ext>
    </p:extLst>
  </p:cSld>
</p:sld>
</file>

<file path=ppt/slides/slide1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3AD628F-3EA1-4EBB-91F8-6C4FEE008615}"/>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Recent work changes the research agenda</a:t>
            </a:r>
          </a:p>
        </p:txBody>
      </p:sp>
      <p:sp>
        <p:nvSpPr>
          <p:cNvPr id="2" name="">
            <a:extLst xmlns:a="http://schemas.openxmlformats.org/drawingml/2006/main">
              <a:ext uri="{FF2B5EF4-FFF2-40B4-BE49-F238E27FC236}">
                <a16:creationId xmlns:a16="http://schemas.microsoft.com/office/drawing/2014/main" id="{8F0EB62F-A6BF-45E9-886D-547365871F85}"/>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ABW research proposal</a:t>
            </a:r>
          </a:p>
        </p:txBody>
      </p:sp>
      <p:sp>
        <p:nvSpPr>
          <p:cNvPr id="3" name="">
            <a:extLst xmlns:a="http://schemas.openxmlformats.org/drawingml/2006/main">
              <a:ext uri="{FF2B5EF4-FFF2-40B4-BE49-F238E27FC236}">
                <a16:creationId xmlns:a16="http://schemas.microsoft.com/office/drawing/2014/main" id="{CC03C127-3C27-4DE6-9B83-144AA2A94CE7}"/>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12</a:t>
            </a:r>
          </a:p>
        </p:txBody>
      </p:sp>
      <p:sp>
        <p:nvSpPr>
          <p:cNvPr id="4" name="">
            <a:extLst xmlns:a="http://schemas.openxmlformats.org/drawingml/2006/main">
              <a:ext uri="{FF2B5EF4-FFF2-40B4-BE49-F238E27FC236}">
                <a16:creationId xmlns:a16="http://schemas.microsoft.com/office/drawing/2014/main" id="{37FE77B6-4E06-430F-9336-59FE65F3DBD2}"/>
              </a:ext>
            </a:extLst>
          </p:cNvPr>
          <p:cNvSpPr>
            <a:spLocks xmlns:a="http://schemas.openxmlformats.org/drawingml/2006/main" noGrp="1"/>
          </p:cNvSpPr>
          <p:nvPr/>
        </p:nvSpPr>
        <p:spPr>
          <a:xfrm xmlns:a="http://schemas.openxmlformats.org/drawingml/2006/main">
            <a:off x="609600" y="165735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087F82"/>
                </a:solidFill>
                <a:latin typeface="Aptos"/>
                <a:ea typeface="Aptos"/>
                <a:cs typeface="Aptos"/>
              </a:defRPr>
            </a:pPr>
            <a:r>
              <a:rPr sz="3450" b="1">
                <a:solidFill>
                  <a:srgbClr val="087F82"/>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12A15604-D6EB-4F1D-AA36-BFC16C7816CE}"/>
              </a:ext>
            </a:extLst>
          </p:cNvPr>
          <p:cNvSpPr>
            <a:spLocks xmlns:a="http://schemas.openxmlformats.org/drawingml/2006/main" noGrp="1"/>
          </p:cNvSpPr>
          <p:nvPr/>
        </p:nvSpPr>
        <p:spPr>
          <a:xfrm xmlns:a="http://schemas.openxmlformats.org/drawingml/2006/main">
            <a:off x="1714500" y="166687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12F43"/>
                </a:solidFill>
                <a:latin typeface="Aptos"/>
                <a:ea typeface="Aptos"/>
                <a:cs typeface="Aptos"/>
              </a:defRPr>
            </a:pPr>
            <a:r>
              <a:rPr sz="2325" b="1">
                <a:solidFill>
                  <a:srgbClr val="112F43"/>
                </a:solidFill>
                <a:latin typeface="Aptos"/>
                <a:ea typeface="Aptos"/>
                <a:cs typeface="Aptos"/>
              </a:rPr>
              <a:t>BKR 2023: public-key sampling matters</a:t>
            </a:r>
          </a:p>
        </p:txBody>
      </p:sp>
      <p:sp>
        <p:nvSpPr>
          <p:cNvPr id="6" name="">
            <a:extLst xmlns:a="http://schemas.openxmlformats.org/drawingml/2006/main">
              <a:ext uri="{FF2B5EF4-FFF2-40B4-BE49-F238E27FC236}">
                <a16:creationId xmlns:a16="http://schemas.microsoft.com/office/drawing/2014/main" id="{6361FB72-49AA-43BE-9ADB-B0EA71B19CCB}"/>
              </a:ext>
            </a:extLst>
          </p:cNvPr>
          <p:cNvSpPr>
            <a:spLocks xmlns:a="http://schemas.openxmlformats.org/drawingml/2006/main" noGrp="1"/>
          </p:cNvSpPr>
          <p:nvPr/>
        </p:nvSpPr>
        <p:spPr>
          <a:xfrm xmlns:a="http://schemas.openxmlformats.org/drawingml/2006/main">
            <a:off x="1714500" y="2162175"/>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Small-subgraph statistics break an alternative planting design.</a:t>
            </a:r>
          </a:p>
        </p:txBody>
      </p:sp>
      <p:sp>
        <p:nvSpPr>
          <p:cNvPr id="7" name="">
            <a:extLst xmlns:a="http://schemas.openxmlformats.org/drawingml/2006/main">
              <a:ext uri="{FF2B5EF4-FFF2-40B4-BE49-F238E27FC236}">
                <a16:creationId xmlns:a16="http://schemas.microsoft.com/office/drawing/2014/main" id="{5F40D7DA-C08F-4FED-84E9-CFE464A45450}"/>
              </a:ext>
            </a:extLst>
          </p:cNvPr>
          <p:cNvSpPr>
            <a:spLocks xmlns:a="http://schemas.openxmlformats.org/drawingml/2006/main" noGrp="1"/>
          </p:cNvSpPr>
          <p:nvPr/>
        </p:nvSpPr>
        <p:spPr>
          <a:xfrm xmlns:a="http://schemas.openxmlformats.org/drawingml/2006/main">
            <a:off x="609600" y="3095625"/>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087F82"/>
                </a:solidFill>
                <a:latin typeface="Aptos"/>
                <a:ea typeface="Aptos"/>
                <a:cs typeface="Aptos"/>
              </a:defRPr>
            </a:pPr>
            <a:r>
              <a:rPr sz="3450" b="1">
                <a:solidFill>
                  <a:srgbClr val="087F82"/>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A0B88608-1D79-4F0B-ABF7-FE50269CE0D9}"/>
              </a:ext>
            </a:extLst>
          </p:cNvPr>
          <p:cNvSpPr>
            <a:spLocks xmlns:a="http://schemas.openxmlformats.org/drawingml/2006/main" noGrp="1"/>
          </p:cNvSpPr>
          <p:nvPr/>
        </p:nvSpPr>
        <p:spPr>
          <a:xfrm xmlns:a="http://schemas.openxmlformats.org/drawingml/2006/main">
            <a:off x="1714500" y="3105150"/>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12F43"/>
                </a:solidFill>
                <a:latin typeface="Aptos"/>
                <a:ea typeface="Aptos"/>
                <a:cs typeface="Aptos"/>
              </a:defRPr>
            </a:pPr>
            <a:r>
              <a:rPr sz="2325" b="1">
                <a:solidFill>
                  <a:srgbClr val="112F43"/>
                </a:solidFill>
                <a:latin typeface="Aptos"/>
                <a:ea typeface="Aptos"/>
                <a:cs typeface="Aptos"/>
              </a:rPr>
              <a:t>Dao–Jain 2025: parameter boundaries matter</a:t>
            </a:r>
          </a:p>
        </p:txBody>
      </p:sp>
      <p:sp>
        <p:nvSpPr>
          <p:cNvPr id="9" name="">
            <a:extLst xmlns:a="http://schemas.openxmlformats.org/drawingml/2006/main">
              <a:ext uri="{FF2B5EF4-FFF2-40B4-BE49-F238E27FC236}">
                <a16:creationId xmlns:a16="http://schemas.microsoft.com/office/drawing/2014/main" id="{D2DF66E0-5FF5-4239-A38E-B8659E45E2D5}"/>
              </a:ext>
            </a:extLst>
          </p:cNvPr>
          <p:cNvSpPr>
            <a:spLocks xmlns:a="http://schemas.openxmlformats.org/drawingml/2006/main" noGrp="1"/>
          </p:cNvSpPr>
          <p:nvPr/>
        </p:nvSpPr>
        <p:spPr>
          <a:xfrm xmlns:a="http://schemas.openxmlformats.org/drawingml/2006/main">
            <a:off x="1714500" y="3600450"/>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Sparse-LPN attacks apply in particular sample and noise regimes.</a:t>
            </a:r>
          </a:p>
        </p:txBody>
      </p:sp>
      <p:sp>
        <p:nvSpPr>
          <p:cNvPr id="10" name="">
            <a:extLst xmlns:a="http://schemas.openxmlformats.org/drawingml/2006/main">
              <a:ext uri="{FF2B5EF4-FFF2-40B4-BE49-F238E27FC236}">
                <a16:creationId xmlns:a16="http://schemas.microsoft.com/office/drawing/2014/main" id="{4D5E537E-A450-4EB9-B57A-9ED55B5EA272}"/>
              </a:ext>
            </a:extLst>
          </p:cNvPr>
          <p:cNvSpPr>
            <a:spLocks xmlns:a="http://schemas.openxmlformats.org/drawingml/2006/main" noGrp="1"/>
          </p:cNvSpPr>
          <p:nvPr/>
        </p:nvSpPr>
        <p:spPr>
          <a:xfrm xmlns:a="http://schemas.openxmlformats.org/drawingml/2006/main">
            <a:off x="609600" y="45339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087F82"/>
                </a:solidFill>
                <a:latin typeface="Aptos"/>
                <a:ea typeface="Aptos"/>
                <a:cs typeface="Aptos"/>
              </a:defRPr>
            </a:pPr>
            <a:r>
              <a:rPr sz="3450" b="1">
                <a:solidFill>
                  <a:srgbClr val="087F82"/>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25A76A9D-111F-4F2A-8A2E-D77DFB6612D1}"/>
              </a:ext>
            </a:extLst>
          </p:cNvPr>
          <p:cNvSpPr>
            <a:spLocks xmlns:a="http://schemas.openxmlformats.org/drawingml/2006/main" noGrp="1"/>
          </p:cNvSpPr>
          <p:nvPr/>
        </p:nvSpPr>
        <p:spPr>
          <a:xfrm xmlns:a="http://schemas.openxmlformats.org/drawingml/2006/main">
            <a:off x="1714500" y="45434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12F43"/>
                </a:solidFill>
                <a:latin typeface="Aptos"/>
                <a:ea typeface="Aptos"/>
                <a:cs typeface="Aptos"/>
              </a:defRPr>
            </a:pPr>
            <a:r>
              <a:rPr sz="2325" b="1">
                <a:solidFill>
                  <a:srgbClr val="112F43"/>
                </a:solidFill>
                <a:latin typeface="Aptos"/>
                <a:ea typeface="Aptos"/>
                <a:cs typeface="Aptos"/>
              </a:rPr>
              <a:t>Hair–Sahai 2026 preprint: new CSP routes</a:t>
            </a:r>
          </a:p>
        </p:txBody>
      </p:sp>
      <p:sp>
        <p:nvSpPr>
          <p:cNvPr id="12" name="">
            <a:extLst xmlns:a="http://schemas.openxmlformats.org/drawingml/2006/main">
              <a:ext uri="{FF2B5EF4-FFF2-40B4-BE49-F238E27FC236}">
                <a16:creationId xmlns:a16="http://schemas.microsoft.com/office/drawing/2014/main" id="{0791FB3D-57FF-4764-B4FC-DFCA84442B94}"/>
              </a:ext>
            </a:extLst>
          </p:cNvPr>
          <p:cNvSpPr>
            <a:spLocks xmlns:a="http://schemas.openxmlformats.org/drawingml/2006/main" noGrp="1"/>
          </p:cNvSpPr>
          <p:nvPr/>
        </p:nvSpPr>
        <p:spPr>
          <a:xfrm xmlns:a="http://schemas.openxmlformats.org/drawingml/2006/main">
            <a:off x="1714500" y="5038725"/>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New conjectures and parameters broaden the theoretical programme.</a:t>
            </a:r>
          </a:p>
        </p:txBody>
      </p:sp>
    </p:spTree>
    <p:extLst>
      <p:ext uri="{BB962C8B-B14F-4D97-AF65-F5344CB8AC3E}">
        <p14:creationId xmlns:p14="http://schemas.microsoft.com/office/powerpoint/2010/main" val="1419851375"/>
      </p:ext>
    </p:extLst>
  </p:cSld>
</p:sld>
</file>

<file path=ppt/slides/slide1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D0FCFE-DEE5-4550-BA40-19022866049C}"/>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The attacker has two separate targets</a:t>
            </a:r>
          </a:p>
        </p:txBody>
      </p:sp>
      <p:sp>
        <p:nvSpPr>
          <p:cNvPr id="2" name="">
            <a:extLst xmlns:a="http://schemas.openxmlformats.org/drawingml/2006/main">
              <a:ext uri="{FF2B5EF4-FFF2-40B4-BE49-F238E27FC236}">
                <a16:creationId xmlns:a16="http://schemas.microsoft.com/office/drawing/2014/main" id="{4218E4A1-07EB-429C-8B2C-C458D6E71D34}"/>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ABW research proposal</a:t>
            </a:r>
          </a:p>
        </p:txBody>
      </p:sp>
      <p:sp>
        <p:nvSpPr>
          <p:cNvPr id="3" name="">
            <a:extLst xmlns:a="http://schemas.openxmlformats.org/drawingml/2006/main">
              <a:ext uri="{FF2B5EF4-FFF2-40B4-BE49-F238E27FC236}">
                <a16:creationId xmlns:a16="http://schemas.microsoft.com/office/drawing/2014/main" id="{47393B32-660C-451E-BBF8-79F0F564D486}"/>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13</a:t>
            </a:r>
          </a:p>
        </p:txBody>
      </p:sp>
      <p:sp>
        <p:nvSpPr>
          <p:cNvPr id="4" name="">
            <a:extLst xmlns:a="http://schemas.openxmlformats.org/drawingml/2006/main">
              <a:ext uri="{FF2B5EF4-FFF2-40B4-BE49-F238E27FC236}">
                <a16:creationId xmlns:a16="http://schemas.microsoft.com/office/drawing/2014/main" id="{427204AB-9D64-4561-BA5F-91E4A597B2DA}"/>
              </a:ext>
            </a:extLst>
          </p:cNvPr>
          <p:cNvSpPr>
            <a:spLocks xmlns:a="http://schemas.openxmlformats.org/drawingml/2006/main" noGrp="1"/>
          </p:cNvSpPr>
          <p:nvPr/>
        </p:nvSpPr>
        <p:spPr>
          <a:xfrm xmlns:a="http://schemas.openxmlformats.org/drawingml/2006/main">
            <a:off x="609600" y="167640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tos"/>
                <a:ea typeface="Aptos"/>
                <a:cs typeface="Aptos"/>
              </a:defRPr>
            </a:pPr>
            <a:r>
              <a:rPr sz="2100" b="1">
                <a:solidFill>
                  <a:srgbClr val="087F82"/>
                </a:solidFill>
                <a:latin typeface="Aptos"/>
                <a:ea typeface="Aptos"/>
                <a:cs typeface="Aptos"/>
              </a:rPr>
              <a:t>Target A: the public matrix</a:t>
            </a:r>
          </a:p>
        </p:txBody>
      </p:sp>
      <p:sp>
        <p:nvSpPr>
          <p:cNvPr id="5" name="">
            <a:extLst xmlns:a="http://schemas.openxmlformats.org/drawingml/2006/main">
              <a:ext uri="{FF2B5EF4-FFF2-40B4-BE49-F238E27FC236}">
                <a16:creationId xmlns:a16="http://schemas.microsoft.com/office/drawing/2014/main" id="{604F1E74-6D95-49FF-BDAB-4CE0303B597F}"/>
              </a:ext>
            </a:extLst>
          </p:cNvPr>
          <p:cNvSpPr>
            <a:spLocks xmlns:a="http://schemas.openxmlformats.org/drawingml/2006/main" noGrp="1"/>
          </p:cNvSpPr>
          <p:nvPr/>
        </p:nvSpPr>
        <p:spPr>
          <a:xfrm xmlns:a="http://schemas.openxmlformats.org/drawingml/2006/main">
            <a:off x="609600" y="2390775"/>
            <a:ext cx="50292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Detect the planted structure.</a:t>
            </a:r>
          </a:p>
          <a:p xmlns:a="http://schemas.openxmlformats.org/drawingml/2006/main">
            <a:r>
              <a:t/>
            </a:r>
          </a:p>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Find any useful short relation.</a:t>
            </a:r>
          </a:p>
          <a:p xmlns:a="http://schemas.openxmlformats.org/drawingml/2006/main">
            <a:r>
              <a:t/>
            </a:r>
          </a:p>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Exploit the designated message row.</a:t>
            </a:r>
          </a:p>
        </p:txBody>
      </p:sp>
      <p:sp>
        <p:nvSpPr>
          <p:cNvPr id="6" name="">
            <a:extLst xmlns:a="http://schemas.openxmlformats.org/drawingml/2006/main">
              <a:ext uri="{FF2B5EF4-FFF2-40B4-BE49-F238E27FC236}">
                <a16:creationId xmlns:a16="http://schemas.microsoft.com/office/drawing/2014/main" id="{12EBD6A4-C09D-478F-883F-667A8E861BC5}"/>
              </a:ext>
            </a:extLst>
          </p:cNvPr>
          <p:cNvSpPr>
            <a:spLocks xmlns:a="http://schemas.openxmlformats.org/drawingml/2006/main" noGrp="1"/>
          </p:cNvSpPr>
          <p:nvPr/>
        </p:nvSpPr>
        <p:spPr>
          <a:xfrm xmlns:a="http://schemas.openxmlformats.org/drawingml/2006/main">
            <a:off x="6553200" y="1676400"/>
            <a:ext cx="499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45C48"/>
                </a:solidFill>
                <a:latin typeface="Aptos"/>
                <a:ea typeface="Aptos"/>
                <a:cs typeface="Aptos"/>
              </a:defRPr>
            </a:pPr>
            <a:r>
              <a:rPr sz="2100" b="1">
                <a:solidFill>
                  <a:srgbClr val="C45C48"/>
                </a:solidFill>
                <a:latin typeface="Aptos"/>
                <a:ea typeface="Aptos"/>
                <a:cs typeface="Aptos"/>
              </a:rPr>
              <a:t>Target B: noisy ciphertexts</a:t>
            </a:r>
          </a:p>
        </p:txBody>
      </p:sp>
      <p:sp>
        <p:nvSpPr>
          <p:cNvPr id="7" name="">
            <a:extLst xmlns:a="http://schemas.openxmlformats.org/drawingml/2006/main">
              <a:ext uri="{FF2B5EF4-FFF2-40B4-BE49-F238E27FC236}">
                <a16:creationId xmlns:a16="http://schemas.microsoft.com/office/drawing/2014/main" id="{A23C93E1-01E5-43A3-82D9-450753532045}"/>
              </a:ext>
            </a:extLst>
          </p:cNvPr>
          <p:cNvSpPr>
            <a:spLocks xmlns:a="http://schemas.openxmlformats.org/drawingml/2006/main" noGrp="1"/>
          </p:cNvSpPr>
          <p:nvPr/>
        </p:nvSpPr>
        <p:spPr>
          <a:xfrm xmlns:a="http://schemas.openxmlformats.org/drawingml/2006/main">
            <a:off x="6553200" y="2390775"/>
            <a:ext cx="49911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Predict the hidden message bit.</a:t>
            </a:r>
          </a:p>
          <a:p xmlns:a="http://schemas.openxmlformats.org/drawingml/2006/main">
            <a:r>
              <a:t/>
            </a:r>
          </a:p>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Solve or distinguish noisy equations.</a:t>
            </a:r>
          </a:p>
          <a:p xmlns:a="http://schemas.openxmlformats.org/drawingml/2006/main">
            <a:r>
              <a:t/>
            </a:r>
          </a:p>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Exploit repeated use of a public key.</a:t>
            </a:r>
          </a:p>
        </p:txBody>
      </p:sp>
      <p:sp>
        <p:nvSpPr>
          <p:cNvPr id="8" name="">
            <a:extLst xmlns:a="http://schemas.openxmlformats.org/drawingml/2006/main">
              <a:ext uri="{FF2B5EF4-FFF2-40B4-BE49-F238E27FC236}">
                <a16:creationId xmlns:a16="http://schemas.microsoft.com/office/drawing/2014/main" id="{3B6570A3-CD77-4D7C-B5B2-AEE95BF2F0B4}"/>
              </a:ext>
            </a:extLst>
          </p:cNvPr>
          <p:cNvSpPr>
            <a:spLocks xmlns:a="http://schemas.openxmlformats.org/drawingml/2006/main" noGrp="1"/>
          </p:cNvSpPr>
          <p:nvPr/>
        </p:nvSpPr>
        <p:spPr>
          <a:xfrm xmlns:a="http://schemas.openxmlformats.org/drawingml/2006/main">
            <a:off x="609600" y="5410200"/>
            <a:ext cx="10839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ptos"/>
                <a:ea typeface="Aptos"/>
                <a:cs typeface="Aptos"/>
              </a:defRPr>
            </a:pPr>
            <a:r>
              <a:rPr sz="2400" b="1">
                <a:solidFill>
                  <a:srgbClr val="087F82"/>
                </a:solidFill>
                <a:latin typeface="Aptos"/>
                <a:ea typeface="Aptos"/>
                <a:cs typeface="Aptos"/>
              </a:rPr>
              <a:t>Hard random equations do not by themselves hide a planted key.</a:t>
            </a:r>
          </a:p>
        </p:txBody>
      </p:sp>
    </p:spTree>
    <p:extLst>
      <p:ext uri="{BB962C8B-B14F-4D97-AF65-F5344CB8AC3E}">
        <p14:creationId xmlns:p14="http://schemas.microsoft.com/office/powerpoint/2010/main" val="974666167"/>
      </p:ext>
    </p:extLst>
  </p:cSld>
</p:sld>
</file>

<file path=ppt/slides/slide1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221419-1C0F-42C2-8EE0-9D2F97B5B8C6}"/>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The first attack suite</a:t>
            </a:r>
          </a:p>
        </p:txBody>
      </p:sp>
      <p:sp>
        <p:nvSpPr>
          <p:cNvPr id="2" name="">
            <a:extLst xmlns:a="http://schemas.openxmlformats.org/drawingml/2006/main">
              <a:ext uri="{FF2B5EF4-FFF2-40B4-BE49-F238E27FC236}">
                <a16:creationId xmlns:a16="http://schemas.microsoft.com/office/drawing/2014/main" id="{2D28E3B9-B0F4-4AB5-90B6-401DCC384058}"/>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ABW research proposal</a:t>
            </a:r>
          </a:p>
        </p:txBody>
      </p:sp>
      <p:sp>
        <p:nvSpPr>
          <p:cNvPr id="3" name="">
            <a:extLst xmlns:a="http://schemas.openxmlformats.org/drawingml/2006/main">
              <a:ext uri="{FF2B5EF4-FFF2-40B4-BE49-F238E27FC236}">
                <a16:creationId xmlns:a16="http://schemas.microsoft.com/office/drawing/2014/main" id="{38627917-16B3-4EC8-89B9-EBCC79333A03}"/>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14</a:t>
            </a:r>
          </a:p>
        </p:txBody>
      </p:sp>
      <p:graphicFrame>
        <p:nvGraphicFramePr>
          <p:cNvPr id="9" name=""/>
          <p:cNvGraphicFramePr/>
          <p:nvPr/>
        </p:nvGraphicFramePr>
        <p:xfrm>
          <a:off xmlns:a="http://schemas.openxmlformats.org/drawingml/2006/main" x="609600" y="1657350"/>
          <a:ext xmlns:a="http://schemas.openxmlformats.org/drawingml/2006/main" cx="10972800" cy="3667125"/>
        </p:xfrm>
        <a:graphic xmlns:a="http://schemas.openxmlformats.org/drawingml/2006/main">
          <a:graphicData uri="http://schemas.openxmlformats.org/drawingml/2006/table">
            <a:tbl>
              <a:tblPr/>
              <a:tblGrid>
                <a:gridCol w="3114675"/>
                <a:gridCol w="7858125"/>
              </a:tblGrid>
              <a:tr h="733425">
                <a:tc>
                  <a:txBody>
                    <a:bodyPr/>
                    <a:lstStyle/>
                    <a:p>
                      <a:r>
                        <a:rPr sz="1950" b="1">
                          <a:solidFill>
                            <a:srgbClr val="FFFFFF"/>
                          </a:solidFill>
                          <a:latin typeface="Aptos"/>
                          <a:ea typeface="Aptos"/>
                          <a:cs typeface="Aptos"/>
                        </a:rPr>
                        <a:t>Attack family</a:t>
                      </a:r>
                    </a:p>
                  </a:txBody>
                  <a:tcPr marL="142875" marR="114300" marT="104775" marB="85725" anchor="ctr">
                    <a:solidFill>
                      <a:srgbClr val="112F43"/>
                    </a:solidFill>
                  </a:tcPr>
                </a:tc>
                <a:tc>
                  <a:txBody>
                    <a:bodyPr/>
                    <a:lstStyle/>
                    <a:p>
                      <a:r>
                        <a:rPr sz="1950" b="1">
                          <a:solidFill>
                            <a:srgbClr val="FFFFFF"/>
                          </a:solidFill>
                          <a:latin typeface="Aptos"/>
                          <a:ea typeface="Aptos"/>
                          <a:cs typeface="Aptos"/>
                        </a:rPr>
                        <a:t>Question to answer</a:t>
                      </a:r>
                    </a:p>
                  </a:txBody>
                  <a:tcPr marL="142875" marR="114300" marT="104775" marB="85725" anchor="ctr">
                    <a:solidFill>
                      <a:srgbClr val="112F43"/>
                    </a:solidFill>
                  </a:tcPr>
                </a:tc>
              </a:tr>
              <a:tr h="733425">
                <a:tc>
                  <a:txBody>
                    <a:bodyPr/>
                    <a:lstStyle/>
                    <a:p>
                      <a:r>
                        <a:rPr sz="1950">
                          <a:solidFill>
                            <a:srgbClr val="112F43"/>
                          </a:solidFill>
                          <a:latin typeface="Aptos"/>
                          <a:ea typeface="Aptos"/>
                          <a:cs typeface="Aptos"/>
                        </a:rPr>
                        <a:t>Short dependencies</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Can an attacker find a relation with useful parity bias?</a:t>
                      </a:r>
                    </a:p>
                  </a:txBody>
                  <a:tcPr marL="142875" marR="114300" marT="104775" marB="85725" anchor="ctr">
                    <a:solidFill>
                      <a:srgbClr val="F7F5F0"/>
                    </a:solidFill>
                  </a:tcPr>
                </a:tc>
              </a:tr>
              <a:tr h="733425">
                <a:tc>
                  <a:txBody>
                    <a:bodyPr/>
                    <a:lstStyle/>
                    <a:p>
                      <a:r>
                        <a:rPr sz="1950">
                          <a:solidFill>
                            <a:srgbClr val="112F43"/>
                          </a:solidFill>
                          <a:latin typeface="Aptos"/>
                          <a:ea typeface="Aptos"/>
                          <a:cs typeface="Aptos"/>
                        </a:rPr>
                        <a:t>Graph statistics</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Do degrees, cycles or small subgraphs expose planting?</a:t>
                      </a:r>
                    </a:p>
                  </a:txBody>
                  <a:tcPr marL="142875" marR="114300" marT="104775" marB="85725" anchor="ctr">
                    <a:solidFill>
                      <a:srgbClr val="F7F5F0"/>
                    </a:solidFill>
                  </a:tcPr>
                </a:tc>
              </a:tr>
              <a:tr h="733425">
                <a:tc>
                  <a:txBody>
                    <a:bodyPr/>
                    <a:lstStyle/>
                    <a:p>
                      <a:r>
                        <a:rPr sz="1950">
                          <a:solidFill>
                            <a:srgbClr val="112F43"/>
                          </a:solidFill>
                          <a:latin typeface="Aptos"/>
                          <a:ea typeface="Aptos"/>
                          <a:cs typeface="Aptos"/>
                        </a:rPr>
                        <a:t>Decoding and algebra</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Do tailored decoding, SAT or noisy-equation solvers help?</a:t>
                      </a:r>
                    </a:p>
                  </a:txBody>
                  <a:tcPr marL="142875" marR="114300" marT="104775" marB="85725" anchor="ctr">
                    <a:solidFill>
                      <a:srgbClr val="F7F5F0"/>
                    </a:solidFill>
                  </a:tcPr>
                </a:tc>
              </a:tr>
              <a:tr h="733425">
                <a:tc>
                  <a:txBody>
                    <a:bodyPr/>
                    <a:lstStyle/>
                    <a:p>
                      <a:r>
                        <a:rPr sz="1950">
                          <a:solidFill>
                            <a:srgbClr val="112F43"/>
                          </a:solidFill>
                          <a:latin typeface="Aptos"/>
                          <a:ea typeface="Aptos"/>
                          <a:cs typeface="Aptos"/>
                        </a:rPr>
                        <a:t>Repeated-key attacks</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Does reuse reveal structure absent from a single sample?</a:t>
                      </a:r>
                    </a:p>
                  </a:txBody>
                  <a:tcPr marL="142875" marR="114300" marT="104775" marB="85725" anchor="ctr">
                    <a:solidFill>
                      <a:srgbClr val="F7F5F0"/>
                    </a:solidFill>
                  </a:tcPr>
                </a:tc>
              </a:tr>
            </a:tbl>
          </a:graphicData>
        </a:graphic>
      </p:graphicFrame>
      <p:sp>
        <p:nvSpPr>
          <p:cNvPr id="5" name="">
            <a:extLst xmlns:a="http://schemas.openxmlformats.org/drawingml/2006/main">
              <a:ext uri="{FF2B5EF4-FFF2-40B4-BE49-F238E27FC236}">
                <a16:creationId xmlns:a16="http://schemas.microsoft.com/office/drawing/2014/main" id="{E18E8F71-02C1-44FB-A953-8320755ABD7B}"/>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Report successful attacks and their limits. Failed experiments do not prove hardness.</a:t>
            </a:r>
          </a:p>
        </p:txBody>
      </p:sp>
    </p:spTree>
    <p:extLst>
      <p:ext uri="{BB962C8B-B14F-4D97-AF65-F5344CB8AC3E}">
        <p14:creationId xmlns:p14="http://schemas.microsoft.com/office/powerpoint/2010/main" val="1209464396"/>
      </p:ext>
    </p:extLst>
  </p:cSld>
</p:sld>
</file>

<file path=ppt/slides/slide1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E8B482-E8A1-4B24-8AEB-D8887A4093FB}"/>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Concrete feasibility includes the whole construction</a:t>
            </a:r>
          </a:p>
        </p:txBody>
      </p:sp>
      <p:sp>
        <p:nvSpPr>
          <p:cNvPr id="2" name="">
            <a:extLst xmlns:a="http://schemas.openxmlformats.org/drawingml/2006/main">
              <a:ext uri="{FF2B5EF4-FFF2-40B4-BE49-F238E27FC236}">
                <a16:creationId xmlns:a16="http://schemas.microsoft.com/office/drawing/2014/main" id="{04D0CFF5-5DC7-4E36-8E1A-8B12EBE4835E}"/>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ABW research proposal</a:t>
            </a:r>
          </a:p>
        </p:txBody>
      </p:sp>
      <p:sp>
        <p:nvSpPr>
          <p:cNvPr id="3" name="">
            <a:extLst xmlns:a="http://schemas.openxmlformats.org/drawingml/2006/main">
              <a:ext uri="{FF2B5EF4-FFF2-40B4-BE49-F238E27FC236}">
                <a16:creationId xmlns:a16="http://schemas.microsoft.com/office/drawing/2014/main" id="{2AB36D9E-3AE9-4DB5-A4CB-B5A14B4CA4F5}"/>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15</a:t>
            </a:r>
          </a:p>
        </p:txBody>
      </p:sp>
      <p:graphicFrame>
        <p:nvGraphicFramePr>
          <p:cNvPr id="9" name=""/>
          <p:cNvGraphicFramePr/>
          <p:nvPr/>
        </p:nvGraphicFramePr>
        <p:xfrm>
          <a:off xmlns:a="http://schemas.openxmlformats.org/drawingml/2006/main" x="609600" y="1657350"/>
          <a:ext xmlns:a="http://schemas.openxmlformats.org/drawingml/2006/main" cx="10972800" cy="3571875"/>
        </p:xfrm>
        <a:graphic xmlns:a="http://schemas.openxmlformats.org/drawingml/2006/main">
          <a:graphicData uri="http://schemas.openxmlformats.org/drawingml/2006/table">
            <a:tbl>
              <a:tblPr/>
              <a:tblGrid>
                <a:gridCol w="2838450"/>
                <a:gridCol w="8134350"/>
              </a:tblGrid>
              <a:tr h="714375">
                <a:tc>
                  <a:txBody>
                    <a:bodyPr/>
                    <a:lstStyle/>
                    <a:p>
                      <a:r>
                        <a:rPr sz="2025" b="1">
                          <a:solidFill>
                            <a:srgbClr val="FFFFFF"/>
                          </a:solidFill>
                          <a:latin typeface="Aptos"/>
                          <a:ea typeface="Aptos"/>
                          <a:cs typeface="Aptos"/>
                        </a:rPr>
                        <a:t>Quantity</a:t>
                      </a:r>
                    </a:p>
                  </a:txBody>
                  <a:tcPr marL="142875" marR="114300" marT="104775" marB="85725" anchor="ctr">
                    <a:solidFill>
                      <a:srgbClr val="112F43"/>
                    </a:solidFill>
                  </a:tcPr>
                </a:tc>
                <a:tc>
                  <a:txBody>
                    <a:bodyPr/>
                    <a:lstStyle/>
                    <a:p>
                      <a:r>
                        <a:rPr sz="2025" b="1">
                          <a:solidFill>
                            <a:srgbClr val="FFFFFF"/>
                          </a:solidFill>
                          <a:latin typeface="Aptos"/>
                          <a:ea typeface="Aptos"/>
                          <a:cs typeface="Aptos"/>
                        </a:rPr>
                        <a:t>Required accounting</a:t>
                      </a:r>
                    </a:p>
                  </a:txBody>
                  <a:tcPr marL="142875" marR="114300" marT="104775" marB="85725" anchor="ctr">
                    <a:solidFill>
                      <a:srgbClr val="112F43"/>
                    </a:solidFill>
                  </a:tcPr>
                </a:tc>
              </a:tr>
              <a:tr h="714375">
                <a:tc>
                  <a:txBody>
                    <a:bodyPr/>
                    <a:lstStyle/>
                    <a:p>
                      <a:r>
                        <a:rPr sz="2025">
                          <a:solidFill>
                            <a:srgbClr val="112F43"/>
                          </a:solidFill>
                          <a:latin typeface="Aptos"/>
                          <a:ea typeface="Aptos"/>
                          <a:cs typeface="Aptos"/>
                        </a:rPr>
                        <a:t>Security</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Best attacks, success probabilities and reduction losses</a:t>
                      </a:r>
                    </a:p>
                  </a:txBody>
                  <a:tcPr marL="142875" marR="114300" marT="104775" marB="85725" anchor="ctr">
                    <a:solidFill>
                      <a:srgbClr val="F7F5F0"/>
                    </a:solidFill>
                  </a:tcPr>
                </a:tc>
              </a:tr>
              <a:tr h="714375">
                <a:tc>
                  <a:txBody>
                    <a:bodyPr/>
                    <a:lstStyle/>
                    <a:p>
                      <a:r>
                        <a:rPr sz="2025">
                          <a:solidFill>
                            <a:srgbClr val="112F43"/>
                          </a:solidFill>
                          <a:latin typeface="Aptos"/>
                          <a:ea typeface="Aptos"/>
                          <a:cs typeface="Aptos"/>
                        </a:rPr>
                        <a:t>Communication</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All public keys and ciphertexts after amplification</a:t>
                      </a:r>
                    </a:p>
                  </a:txBody>
                  <a:tcPr marL="142875" marR="114300" marT="104775" marB="85725" anchor="ctr">
                    <a:solidFill>
                      <a:srgbClr val="F7F5F0"/>
                    </a:solidFill>
                  </a:tcPr>
                </a:tc>
              </a:tr>
              <a:tr h="714375">
                <a:tc>
                  <a:txBody>
                    <a:bodyPr/>
                    <a:lstStyle/>
                    <a:p>
                      <a:r>
                        <a:rPr sz="2025">
                          <a:solidFill>
                            <a:srgbClr val="112F43"/>
                          </a:solidFill>
                          <a:latin typeface="Aptos"/>
                          <a:ea typeface="Aptos"/>
                          <a:cs typeface="Aptos"/>
                        </a:rPr>
                        <a:t>Correctness</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Proved failure bounds, including exceptional keys</a:t>
                      </a:r>
                    </a:p>
                  </a:txBody>
                  <a:tcPr marL="142875" marR="114300" marT="104775" marB="85725" anchor="ctr">
                    <a:solidFill>
                      <a:srgbClr val="F7F5F0"/>
                    </a:solidFill>
                  </a:tcPr>
                </a:tc>
              </a:tr>
              <a:tr h="714375">
                <a:tc>
                  <a:txBody>
                    <a:bodyPr/>
                    <a:lstStyle/>
                    <a:p>
                      <a:r>
                        <a:rPr sz="2025">
                          <a:solidFill>
                            <a:srgbClr val="112F43"/>
                          </a:solidFill>
                          <a:latin typeface="Aptos"/>
                          <a:ea typeface="Aptos"/>
                          <a:cs typeface="Aptos"/>
                        </a:rPr>
                        <a:t>Runtime and memory</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Sampling, encryption, decoding and rejection costs</a:t>
                      </a:r>
                    </a:p>
                  </a:txBody>
                  <a:tcPr marL="142875" marR="114300" marT="104775" marB="85725" anchor="ctr">
                    <a:solidFill>
                      <a:srgbClr val="F7F5F0"/>
                    </a:solidFill>
                  </a:tcPr>
                </a:tc>
              </a:tr>
            </a:tbl>
          </a:graphicData>
        </a:graphic>
      </p:graphicFrame>
      <p:sp>
        <p:nvSpPr>
          <p:cNvPr id="5" name="">
            <a:extLst xmlns:a="http://schemas.openxmlformats.org/drawingml/2006/main">
              <a:ext uri="{FF2B5EF4-FFF2-40B4-BE49-F238E27FC236}">
                <a16:creationId xmlns:a16="http://schemas.microsoft.com/office/drawing/2014/main" id="{BD371CC1-996C-4EDE-A1D1-9E5F6259770A}"/>
              </a:ext>
            </a:extLst>
          </p:cNvPr>
          <p:cNvSpPr>
            <a:spLocks xmlns:a="http://schemas.openxmlformats.org/drawingml/2006/main" noGrp="1"/>
          </p:cNvSpPr>
          <p:nvPr/>
        </p:nvSpPr>
        <p:spPr>
          <a:xfrm xmlns:a="http://schemas.openxmlformats.org/drawingml/2006/main">
            <a:off x="609600" y="5581650"/>
            <a:ext cx="108489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ptos"/>
                <a:ea typeface="Aptos"/>
                <a:cs typeface="Aptos"/>
              </a:defRPr>
            </a:pPr>
            <a:r>
              <a:rPr sz="2400" b="1">
                <a:solidFill>
                  <a:srgbClr val="087F82"/>
                </a:solidFill>
                <a:latin typeface="Aptos"/>
                <a:ea typeface="Aptos"/>
                <a:cs typeface="Aptos"/>
              </a:rPr>
              <a:t>First decision point: does a useful parameter window exist?</a:t>
            </a:r>
          </a:p>
        </p:txBody>
      </p:sp>
    </p:spTree>
    <p:extLst>
      <p:ext uri="{BB962C8B-B14F-4D97-AF65-F5344CB8AC3E}">
        <p14:creationId xmlns:p14="http://schemas.microsoft.com/office/powerpoint/2010/main" val="1018972828"/>
      </p:ext>
    </p:extLst>
  </p:cSld>
</p:sld>
</file>

<file path=ppt/slides/slide1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44E6908-8611-459F-A3EE-B709C4B3A9EB}"/>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A staged first-year programme</a:t>
            </a:r>
          </a:p>
        </p:txBody>
      </p:sp>
      <p:sp>
        <p:nvSpPr>
          <p:cNvPr id="2" name="">
            <a:extLst xmlns:a="http://schemas.openxmlformats.org/drawingml/2006/main">
              <a:ext uri="{FF2B5EF4-FFF2-40B4-BE49-F238E27FC236}">
                <a16:creationId xmlns:a16="http://schemas.microsoft.com/office/drawing/2014/main" id="{851F2359-B00A-4AC6-9A8E-C78D3AD67A9E}"/>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ABW research proposal</a:t>
            </a:r>
          </a:p>
        </p:txBody>
      </p:sp>
      <p:sp>
        <p:nvSpPr>
          <p:cNvPr id="3" name="">
            <a:extLst xmlns:a="http://schemas.openxmlformats.org/drawingml/2006/main">
              <a:ext uri="{FF2B5EF4-FFF2-40B4-BE49-F238E27FC236}">
                <a16:creationId xmlns:a16="http://schemas.microsoft.com/office/drawing/2014/main" id="{3FB22C76-7509-4A51-9CA5-E49FDD243E89}"/>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16</a:t>
            </a:r>
          </a:p>
        </p:txBody>
      </p:sp>
      <p:graphicFrame>
        <p:nvGraphicFramePr>
          <p:cNvPr id="9" name="Chart"/>
          <p:cNvGraphicFramePr/>
          <p:nvPr/>
        </p:nvGraphicFramePr>
        <p:xfrm>
          <a:off xmlns:a="http://schemas.openxmlformats.org/drawingml/2006/main" x="542925" y="1638300"/>
          <a:ext xmlns:a="http://schemas.openxmlformats.org/drawingml/2006/main" cx="10906125" cy="3895725"/>
        </p:xfrm>
        <a:graphic xmlns:a="http://schemas.openxmlformats.org/drawingml/2006/main">
          <a:graphicData uri="http://schemas.openxmlformats.org/drawingml/2006/chart">
            <c:chart xmlns:r="http://schemas.openxmlformats.org/officeDocument/2006/relationships" xmlns:c="http://schemas.openxmlformats.org/drawingml/2006/chart" r:id="R2c1d151f27ff470e"/>
          </a:graphicData>
        </a:graphic>
      </p:graphicFrame>
      <p:sp>
        <p:nvSpPr>
          <p:cNvPr id="5" name="">
            <a:extLst xmlns:a="http://schemas.openxmlformats.org/drawingml/2006/main">
              <a:ext uri="{FF2B5EF4-FFF2-40B4-BE49-F238E27FC236}">
                <a16:creationId xmlns:a16="http://schemas.microsoft.com/office/drawing/2014/main" id="{A354B71E-E739-4606-A753-A00407B51F5F}"/>
              </a:ext>
            </a:extLst>
          </p:cNvPr>
          <p:cNvSpPr>
            <a:spLocks xmlns:a="http://schemas.openxmlformats.org/drawingml/2006/main" noGrp="1"/>
          </p:cNvSpPr>
          <p:nvPr/>
        </p:nvSpPr>
        <p:spPr>
          <a:xfrm xmlns:a="http://schemas.openxmlformats.org/drawingml/2006/main">
            <a:off x="609600" y="5934075"/>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Planning estimate. Review feasibility near month 3. Later stages depend on the evidence.</a:t>
            </a:r>
          </a:p>
        </p:txBody>
      </p:sp>
    </p:spTree>
    <p:extLst>
      <p:ext uri="{BB962C8B-B14F-4D97-AF65-F5344CB8AC3E}">
        <p14:creationId xmlns:p14="http://schemas.microsoft.com/office/powerpoint/2010/main" val="2056329894"/>
      </p:ext>
    </p:extLst>
  </p:cSld>
</p:sld>
</file>

<file path=ppt/slides/slide1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B596AC5-B9C9-425E-80B6-BDF959E4ADBE}"/>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First-quarter deliverables</a:t>
            </a:r>
          </a:p>
        </p:txBody>
      </p:sp>
      <p:sp>
        <p:nvSpPr>
          <p:cNvPr id="2" name="">
            <a:extLst xmlns:a="http://schemas.openxmlformats.org/drawingml/2006/main">
              <a:ext uri="{FF2B5EF4-FFF2-40B4-BE49-F238E27FC236}">
                <a16:creationId xmlns:a16="http://schemas.microsoft.com/office/drawing/2014/main" id="{1A224DD8-310B-4BDA-84EB-37E208BC173B}"/>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ABW research proposal</a:t>
            </a:r>
          </a:p>
        </p:txBody>
      </p:sp>
      <p:sp>
        <p:nvSpPr>
          <p:cNvPr id="3" name="">
            <a:extLst xmlns:a="http://schemas.openxmlformats.org/drawingml/2006/main">
              <a:ext uri="{FF2B5EF4-FFF2-40B4-BE49-F238E27FC236}">
                <a16:creationId xmlns:a16="http://schemas.microsoft.com/office/drawing/2014/main" id="{D1335E35-039D-4DE4-8A4B-249FD2E2A1EC}"/>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17</a:t>
            </a:r>
          </a:p>
        </p:txBody>
      </p:sp>
      <p:sp>
        <p:nvSpPr>
          <p:cNvPr id="4" name="">
            <a:extLst xmlns:a="http://schemas.openxmlformats.org/drawingml/2006/main">
              <a:ext uri="{FF2B5EF4-FFF2-40B4-BE49-F238E27FC236}">
                <a16:creationId xmlns:a16="http://schemas.microsoft.com/office/drawing/2014/main" id="{A6B106BA-1FA1-45EB-A546-8F31DD06B612}"/>
              </a:ext>
            </a:extLst>
          </p:cNvPr>
          <p:cNvSpPr>
            <a:spLocks xmlns:a="http://schemas.openxmlformats.org/drawingml/2006/main" noGrp="1"/>
          </p:cNvSpPr>
          <p:nvPr/>
        </p:nvSpPr>
        <p:spPr>
          <a:xfrm xmlns:a="http://schemas.openxmlformats.org/drawingml/2006/main">
            <a:off x="609600" y="165735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087F82"/>
                </a:solidFill>
                <a:latin typeface="Aptos"/>
                <a:ea typeface="Aptos"/>
                <a:cs typeface="Aptos"/>
              </a:defRPr>
            </a:pPr>
            <a:r>
              <a:rPr sz="3450" b="1">
                <a:solidFill>
                  <a:srgbClr val="087F82"/>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8EEEC74B-AA7D-4137-B87D-15E14C79C5FA}"/>
              </a:ext>
            </a:extLst>
          </p:cNvPr>
          <p:cNvSpPr>
            <a:spLocks xmlns:a="http://schemas.openxmlformats.org/drawingml/2006/main" noGrp="1"/>
          </p:cNvSpPr>
          <p:nvPr/>
        </p:nvSpPr>
        <p:spPr>
          <a:xfrm xmlns:a="http://schemas.openxmlformats.org/drawingml/2006/main">
            <a:off x="1714500" y="166687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12F43"/>
                </a:solidFill>
                <a:latin typeface="Aptos"/>
                <a:ea typeface="Aptos"/>
                <a:cs typeface="Aptos"/>
              </a:defRPr>
            </a:pPr>
            <a:r>
              <a:rPr sz="2325" b="1">
                <a:solidFill>
                  <a:srgbClr val="112F43"/>
                </a:solidFill>
                <a:latin typeface="Aptos"/>
                <a:ea typeface="Aptos"/>
                <a:cs typeface="Aptos"/>
              </a:rPr>
              <a:t>An assumption and reduction ledger</a:t>
            </a:r>
          </a:p>
        </p:txBody>
      </p:sp>
      <p:sp>
        <p:nvSpPr>
          <p:cNvPr id="6" name="">
            <a:extLst xmlns:a="http://schemas.openxmlformats.org/drawingml/2006/main">
              <a:ext uri="{FF2B5EF4-FFF2-40B4-BE49-F238E27FC236}">
                <a16:creationId xmlns:a16="http://schemas.microsoft.com/office/drawing/2014/main" id="{7C1820AF-5362-445B-B471-53E961928540}"/>
              </a:ext>
            </a:extLst>
          </p:cNvPr>
          <p:cNvSpPr>
            <a:spLocks xmlns:a="http://schemas.openxmlformats.org/drawingml/2006/main" noGrp="1"/>
          </p:cNvSpPr>
          <p:nvPr/>
        </p:nvSpPr>
        <p:spPr>
          <a:xfrm xmlns:a="http://schemas.openxmlformats.org/drawingml/2006/main">
            <a:off x="1714500" y="2162175"/>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Every sampler, task, parameter conversion and security claim.</a:t>
            </a:r>
          </a:p>
        </p:txBody>
      </p:sp>
      <p:sp>
        <p:nvSpPr>
          <p:cNvPr id="7" name="">
            <a:extLst xmlns:a="http://schemas.openxmlformats.org/drawingml/2006/main">
              <a:ext uri="{FF2B5EF4-FFF2-40B4-BE49-F238E27FC236}">
                <a16:creationId xmlns:a16="http://schemas.microsoft.com/office/drawing/2014/main" id="{80D031F9-ED2D-495F-8EB4-498A27D280D9}"/>
              </a:ext>
            </a:extLst>
          </p:cNvPr>
          <p:cNvSpPr>
            <a:spLocks xmlns:a="http://schemas.openxmlformats.org/drawingml/2006/main" noGrp="1"/>
          </p:cNvSpPr>
          <p:nvPr/>
        </p:nvSpPr>
        <p:spPr>
          <a:xfrm xmlns:a="http://schemas.openxmlformats.org/drawingml/2006/main">
            <a:off x="609600" y="3095625"/>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087F82"/>
                </a:solidFill>
                <a:latin typeface="Aptos"/>
                <a:ea typeface="Aptos"/>
                <a:cs typeface="Aptos"/>
              </a:defRPr>
            </a:pPr>
            <a:r>
              <a:rPr sz="3450" b="1">
                <a:solidFill>
                  <a:srgbClr val="087F82"/>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59EF09BE-1085-4940-ADFD-48B985F77F2B}"/>
              </a:ext>
            </a:extLst>
          </p:cNvPr>
          <p:cNvSpPr>
            <a:spLocks xmlns:a="http://schemas.openxmlformats.org/drawingml/2006/main" noGrp="1"/>
          </p:cNvSpPr>
          <p:nvPr/>
        </p:nvSpPr>
        <p:spPr>
          <a:xfrm xmlns:a="http://schemas.openxmlformats.org/drawingml/2006/main">
            <a:off x="1714500" y="3105150"/>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12F43"/>
                </a:solidFill>
                <a:latin typeface="Aptos"/>
                <a:ea typeface="Aptos"/>
                <a:cs typeface="Aptos"/>
              </a:defRPr>
            </a:pPr>
            <a:r>
              <a:rPr sz="2325" b="1">
                <a:solidFill>
                  <a:srgbClr val="112F43"/>
                </a:solidFill>
                <a:latin typeface="Aptos"/>
                <a:ea typeface="Aptos"/>
                <a:cs typeface="Aptos"/>
              </a:rPr>
              <a:t>A reproducible baseline and attack suite</a:t>
            </a:r>
          </a:p>
        </p:txBody>
      </p:sp>
      <p:sp>
        <p:nvSpPr>
          <p:cNvPr id="9" name="">
            <a:extLst xmlns:a="http://schemas.openxmlformats.org/drawingml/2006/main">
              <a:ext uri="{FF2B5EF4-FFF2-40B4-BE49-F238E27FC236}">
                <a16:creationId xmlns:a16="http://schemas.microsoft.com/office/drawing/2014/main" id="{E39C0501-05F3-4963-A6EC-5F1F9AC38181}"/>
              </a:ext>
            </a:extLst>
          </p:cNvPr>
          <p:cNvSpPr>
            <a:spLocks xmlns:a="http://schemas.openxmlformats.org/drawingml/2006/main" noGrp="1"/>
          </p:cNvSpPr>
          <p:nvPr/>
        </p:nvSpPr>
        <p:spPr>
          <a:xfrm xmlns:a="http://schemas.openxmlformats.org/drawingml/2006/main">
            <a:off x="1714500" y="3600450"/>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Exact small-instance checks, benchmarks and attack outcomes.</a:t>
            </a:r>
          </a:p>
        </p:txBody>
      </p:sp>
      <p:sp>
        <p:nvSpPr>
          <p:cNvPr id="10" name="">
            <a:extLst xmlns:a="http://schemas.openxmlformats.org/drawingml/2006/main">
              <a:ext uri="{FF2B5EF4-FFF2-40B4-BE49-F238E27FC236}">
                <a16:creationId xmlns:a16="http://schemas.microsoft.com/office/drawing/2014/main" id="{E9BA6479-D7E1-4F87-89FF-B76E398E3FC1}"/>
              </a:ext>
            </a:extLst>
          </p:cNvPr>
          <p:cNvSpPr>
            <a:spLocks xmlns:a="http://schemas.openxmlformats.org/drawingml/2006/main" noGrp="1"/>
          </p:cNvSpPr>
          <p:nvPr/>
        </p:nvSpPr>
        <p:spPr>
          <a:xfrm xmlns:a="http://schemas.openxmlformats.org/drawingml/2006/main">
            <a:off x="609600" y="45339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087F82"/>
                </a:solidFill>
                <a:latin typeface="Aptos"/>
                <a:ea typeface="Aptos"/>
                <a:cs typeface="Aptos"/>
              </a:defRPr>
            </a:pPr>
            <a:r>
              <a:rPr sz="3450" b="1">
                <a:solidFill>
                  <a:srgbClr val="087F82"/>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CE9E1EEF-22BE-412F-BB2F-CBCE75FFCCD4}"/>
              </a:ext>
            </a:extLst>
          </p:cNvPr>
          <p:cNvSpPr>
            <a:spLocks xmlns:a="http://schemas.openxmlformats.org/drawingml/2006/main" noGrp="1"/>
          </p:cNvSpPr>
          <p:nvPr/>
        </p:nvSpPr>
        <p:spPr>
          <a:xfrm xmlns:a="http://schemas.openxmlformats.org/drawingml/2006/main">
            <a:off x="1714500" y="45434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12F43"/>
                </a:solidFill>
                <a:latin typeface="Aptos"/>
                <a:ea typeface="Aptos"/>
                <a:cs typeface="Aptos"/>
              </a:defRPr>
            </a:pPr>
            <a:r>
              <a:rPr sz="2325" b="1">
                <a:solidFill>
                  <a:srgbClr val="112F43"/>
                </a:solidFill>
                <a:latin typeface="Aptos"/>
                <a:ea typeface="Aptos"/>
                <a:cs typeface="Aptos"/>
              </a:rPr>
              <a:t>A parameter report and continuation decision</a:t>
            </a:r>
          </a:p>
        </p:txBody>
      </p:sp>
      <p:sp>
        <p:nvSpPr>
          <p:cNvPr id="12" name="">
            <a:extLst xmlns:a="http://schemas.openxmlformats.org/drawingml/2006/main">
              <a:ext uri="{FF2B5EF4-FFF2-40B4-BE49-F238E27FC236}">
                <a16:creationId xmlns:a16="http://schemas.microsoft.com/office/drawing/2014/main" id="{79373CFE-5131-46AF-9018-3CED6F2F2CDC}"/>
              </a:ext>
            </a:extLst>
          </p:cNvPr>
          <p:cNvSpPr>
            <a:spLocks xmlns:a="http://schemas.openxmlformats.org/drawingml/2006/main" noGrp="1"/>
          </p:cNvSpPr>
          <p:nvPr/>
        </p:nvSpPr>
        <p:spPr>
          <a:xfrm xmlns:a="http://schemas.openxmlformats.org/drawingml/2006/main">
            <a:off x="1714500" y="5038725"/>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Full cost estimates, uncertainty and the bottleneck worth studying.</a:t>
            </a:r>
          </a:p>
        </p:txBody>
      </p:sp>
    </p:spTree>
    <p:extLst>
      <p:ext uri="{BB962C8B-B14F-4D97-AF65-F5344CB8AC3E}">
        <p14:creationId xmlns:p14="http://schemas.microsoft.com/office/powerpoint/2010/main" val="1894295299"/>
      </p:ext>
    </p:extLst>
  </p:cSld>
</p:sld>
</file>

<file path=ppt/slides/slide1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0E2DB2-F118-4626-AA87-E46724F092F0}"/>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Focused construction improvements</a:t>
            </a:r>
          </a:p>
        </p:txBody>
      </p:sp>
      <p:sp>
        <p:nvSpPr>
          <p:cNvPr id="2" name="">
            <a:extLst xmlns:a="http://schemas.openxmlformats.org/drawingml/2006/main">
              <a:ext uri="{FF2B5EF4-FFF2-40B4-BE49-F238E27FC236}">
                <a16:creationId xmlns:a16="http://schemas.microsoft.com/office/drawing/2014/main" id="{FB628727-9BD6-449B-9A25-02D195EDA696}"/>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ABW research proposal</a:t>
            </a:r>
          </a:p>
        </p:txBody>
      </p:sp>
      <p:sp>
        <p:nvSpPr>
          <p:cNvPr id="3" name="">
            <a:extLst xmlns:a="http://schemas.openxmlformats.org/drawingml/2006/main">
              <a:ext uri="{FF2B5EF4-FFF2-40B4-BE49-F238E27FC236}">
                <a16:creationId xmlns:a16="http://schemas.microsoft.com/office/drawing/2014/main" id="{A3F43A5F-1780-4F1F-AF28-64613ADC35D4}"/>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18</a:t>
            </a:r>
          </a:p>
        </p:txBody>
      </p:sp>
      <p:graphicFrame>
        <p:nvGraphicFramePr>
          <p:cNvPr id="9" name=""/>
          <p:cNvGraphicFramePr/>
          <p:nvPr/>
        </p:nvGraphicFramePr>
        <p:xfrm>
          <a:off xmlns:a="http://schemas.openxmlformats.org/drawingml/2006/main" x="609600" y="1657350"/>
          <a:ext xmlns:a="http://schemas.openxmlformats.org/drawingml/2006/main" cx="10972800" cy="3705225"/>
        </p:xfrm>
        <a:graphic xmlns:a="http://schemas.openxmlformats.org/drawingml/2006/main">
          <a:graphicData uri="http://schemas.openxmlformats.org/drawingml/2006/table">
            <a:tbl>
              <a:tblPr/>
              <a:tblGrid>
                <a:gridCol w="3848100"/>
                <a:gridCol w="7124700"/>
              </a:tblGrid>
              <a:tr h="741045">
                <a:tc>
                  <a:txBody>
                    <a:bodyPr/>
                    <a:lstStyle/>
                    <a:p>
                      <a:r>
                        <a:rPr sz="1950" b="1">
                          <a:solidFill>
                            <a:srgbClr val="FFFFFF"/>
                          </a:solidFill>
                          <a:latin typeface="Aptos"/>
                          <a:ea typeface="Aptos"/>
                          <a:cs typeface="Aptos"/>
                        </a:rPr>
                        <a:t>Candidate direction</a:t>
                      </a:r>
                    </a:p>
                  </a:txBody>
                  <a:tcPr marL="142875" marR="114300" marT="104775" marB="85725" anchor="ctr">
                    <a:solidFill>
                      <a:srgbClr val="112F43"/>
                    </a:solidFill>
                  </a:tcPr>
                </a:tc>
                <a:tc>
                  <a:txBody>
                    <a:bodyPr/>
                    <a:lstStyle/>
                    <a:p>
                      <a:r>
                        <a:rPr sz="1950" b="1">
                          <a:solidFill>
                            <a:srgbClr val="FFFFFF"/>
                          </a:solidFill>
                          <a:latin typeface="Aptos"/>
                          <a:ea typeface="Aptos"/>
                          <a:cs typeface="Aptos"/>
                        </a:rPr>
                        <a:t>Evidence needed</a:t>
                      </a:r>
                    </a:p>
                  </a:txBody>
                  <a:tcPr marL="142875" marR="114300" marT="104775" marB="85725" anchor="ctr">
                    <a:solidFill>
                      <a:srgbClr val="112F43"/>
                    </a:solidFill>
                  </a:tcPr>
                </a:tc>
              </a:tr>
              <a:tr h="741045">
                <a:tc>
                  <a:txBody>
                    <a:bodyPr/>
                    <a:lstStyle/>
                    <a:p>
                      <a:r>
                        <a:rPr sz="1950">
                          <a:solidFill>
                            <a:srgbClr val="112F43"/>
                          </a:solidFill>
                          <a:latin typeface="Aptos"/>
                          <a:ea typeface="Aptos"/>
                          <a:cs typeface="Aptos"/>
                        </a:rPr>
                        <a:t>A better trapdoor sampler</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A proof for the exact public-key distribution</a:t>
                      </a:r>
                    </a:p>
                  </a:txBody>
                  <a:tcPr marL="142875" marR="114300" marT="104775" marB="85725" anchor="ctr">
                    <a:solidFill>
                      <a:srgbClr val="F7F5F0"/>
                    </a:solidFill>
                  </a:tcPr>
                </a:tc>
              </a:tr>
              <a:tr h="741045">
                <a:tc>
                  <a:txBody>
                    <a:bodyPr/>
                    <a:lstStyle/>
                    <a:p>
                      <a:r>
                        <a:rPr sz="1950">
                          <a:solidFill>
                            <a:srgbClr val="112F43"/>
                          </a:solidFill>
                          <a:latin typeface="Aptos"/>
                          <a:ea typeface="Aptos"/>
                          <a:cs typeface="Aptos"/>
                        </a:rPr>
                        <a:t>Tighter reduction constants</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A concrete improvement in the viable parameter range</a:t>
                      </a:r>
                    </a:p>
                  </a:txBody>
                  <a:tcPr marL="142875" marR="114300" marT="104775" marB="85725" anchor="ctr">
                    <a:solidFill>
                      <a:srgbClr val="F7F5F0"/>
                    </a:solidFill>
                  </a:tcPr>
                </a:tc>
              </a:tr>
              <a:tr h="741045">
                <a:tc>
                  <a:txBody>
                    <a:bodyPr/>
                    <a:lstStyle/>
                    <a:p>
                      <a:r>
                        <a:rPr sz="1950">
                          <a:solidFill>
                            <a:srgbClr val="112F43"/>
                          </a:solidFill>
                          <a:latin typeface="Aptos"/>
                          <a:ea typeface="Aptos"/>
                          <a:cs typeface="Aptos"/>
                        </a:rPr>
                        <a:t>Cheaper amplification</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A complete privacy and correctness argument</a:t>
                      </a:r>
                    </a:p>
                  </a:txBody>
                  <a:tcPr marL="142875" marR="114300" marT="104775" marB="85725" anchor="ctr">
                    <a:solidFill>
                      <a:srgbClr val="F7F5F0"/>
                    </a:solidFill>
                  </a:tcPr>
                </a:tc>
              </a:tr>
              <a:tr h="741045">
                <a:tc>
                  <a:txBody>
                    <a:bodyPr/>
                    <a:lstStyle/>
                    <a:p>
                      <a:r>
                        <a:rPr sz="1950">
                          <a:solidFill>
                            <a:srgbClr val="112F43"/>
                          </a:solidFill>
                          <a:latin typeface="Aptos"/>
                          <a:ea typeface="Aptos"/>
                          <a:cs typeface="Aptos"/>
                        </a:rPr>
                        <a:t>More efficient encoding</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A joint analysis of relation leakage and correlated errors</a:t>
                      </a:r>
                    </a:p>
                  </a:txBody>
                  <a:tcPr marL="142875" marR="114300" marT="104775" marB="85725" anchor="ctr">
                    <a:solidFill>
                      <a:srgbClr val="F7F5F0"/>
                    </a:solidFill>
                  </a:tcPr>
                </a:tc>
              </a:tr>
            </a:tbl>
          </a:graphicData>
        </a:graphic>
      </p:graphicFrame>
      <p:sp>
        <p:nvSpPr>
          <p:cNvPr id="5" name="">
            <a:extLst xmlns:a="http://schemas.openxmlformats.org/drawingml/2006/main">
              <a:ext uri="{FF2B5EF4-FFF2-40B4-BE49-F238E27FC236}">
                <a16:creationId xmlns:a16="http://schemas.microsoft.com/office/drawing/2014/main" id="{2F92BBDB-4B9A-4C25-9F98-4D14AC3233AB}"/>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Choose one direction after the baseline identifies the dominant cost.</a:t>
            </a:r>
          </a:p>
        </p:txBody>
      </p:sp>
    </p:spTree>
    <p:extLst>
      <p:ext uri="{BB962C8B-B14F-4D97-AF65-F5344CB8AC3E}">
        <p14:creationId xmlns:p14="http://schemas.microsoft.com/office/powerpoint/2010/main" val="478029867"/>
      </p:ext>
    </p:extLst>
  </p:cSld>
</p:sld>
</file>

<file path=ppt/slides/slide1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39EFE42-75F2-488F-B505-8DB31518C7D7}"/>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The raw decoder exposes its secret to an oracle</a:t>
            </a:r>
          </a:p>
        </p:txBody>
      </p:sp>
      <p:sp>
        <p:nvSpPr>
          <p:cNvPr id="2" name="">
            <a:extLst xmlns:a="http://schemas.openxmlformats.org/drawingml/2006/main">
              <a:ext uri="{FF2B5EF4-FFF2-40B4-BE49-F238E27FC236}">
                <a16:creationId xmlns:a16="http://schemas.microsoft.com/office/drawing/2014/main" id="{346AFC36-F8D3-4B09-9A31-9E906EE323AF}"/>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ABW research proposal</a:t>
            </a:r>
          </a:p>
        </p:txBody>
      </p:sp>
      <p:sp>
        <p:nvSpPr>
          <p:cNvPr id="3" name="">
            <a:extLst xmlns:a="http://schemas.openxmlformats.org/drawingml/2006/main">
              <a:ext uri="{FF2B5EF4-FFF2-40B4-BE49-F238E27FC236}">
                <a16:creationId xmlns:a16="http://schemas.microsoft.com/office/drawing/2014/main" id="{47A0B32F-F856-4F4A-A0BB-2FD8FFE0108F}"/>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19</a:t>
            </a:r>
          </a:p>
        </p:txBody>
      </p:sp>
      <p:sp>
        <p:nvSpPr>
          <p:cNvPr id="4" name="">
            <a:extLst xmlns:a="http://schemas.openxmlformats.org/drawingml/2006/main">
              <a:ext uri="{FF2B5EF4-FFF2-40B4-BE49-F238E27FC236}">
                <a16:creationId xmlns:a16="http://schemas.microsoft.com/office/drawing/2014/main" id="{0993D7D6-85E5-4363-AE84-16D37EFE287E}"/>
              </a:ext>
            </a:extLst>
          </p:cNvPr>
          <p:cNvSpPr>
            <a:spLocks xmlns:a="http://schemas.openxmlformats.org/drawingml/2006/main" noGrp="1"/>
          </p:cNvSpPr>
          <p:nvPr/>
        </p:nvSpPr>
        <p:spPr>
          <a:xfrm xmlns:a="http://schemas.openxmlformats.org/drawingml/2006/main">
            <a:off x="609600" y="1762125"/>
            <a:ext cx="681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087F82"/>
                </a:solidFill>
                <a:latin typeface="Aptos"/>
                <a:ea typeface="Aptos"/>
                <a:cs typeface="Aptos"/>
              </a:defRPr>
            </a:pPr>
            <a:r>
              <a:rPr sz="3975" b="1">
                <a:solidFill>
                  <a:srgbClr val="087F82"/>
                </a:solidFill>
                <a:latin typeface="Aptos"/>
                <a:ea typeface="Aptos"/>
                <a:cs typeface="Aptos"/>
              </a:rPr>
              <a:t>Dec(c) = sᵀc</a:t>
            </a:r>
          </a:p>
        </p:txBody>
      </p:sp>
      <p:sp>
        <p:nvSpPr>
          <p:cNvPr id="5" name="">
            <a:extLst xmlns:a="http://schemas.openxmlformats.org/drawingml/2006/main">
              <a:ext uri="{FF2B5EF4-FFF2-40B4-BE49-F238E27FC236}">
                <a16:creationId xmlns:a16="http://schemas.microsoft.com/office/drawing/2014/main" id="{7FF34BA0-A586-450E-B6DE-A831F09B3338}"/>
              </a:ext>
            </a:extLst>
          </p:cNvPr>
          <p:cNvSpPr>
            <a:spLocks xmlns:a="http://schemas.openxmlformats.org/drawingml/2006/main" noGrp="1"/>
          </p:cNvSpPr>
          <p:nvPr/>
        </p:nvSpPr>
        <p:spPr>
          <a:xfrm xmlns:a="http://schemas.openxmlformats.org/drawingml/2006/main">
            <a:off x="609600" y="3057525"/>
            <a:ext cx="681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45C48"/>
                </a:solidFill>
                <a:latin typeface="Aptos"/>
                <a:ea typeface="Aptos"/>
                <a:cs typeface="Aptos"/>
              </a:defRPr>
            </a:pPr>
            <a:r>
              <a:rPr sz="4425" b="1">
                <a:solidFill>
                  <a:srgbClr val="C45C48"/>
                </a:solidFill>
                <a:latin typeface="Aptos"/>
                <a:ea typeface="Aptos"/>
                <a:cs typeface="Aptos"/>
              </a:rPr>
              <a:t>Dec(uᵢ) = sᵢ</a:t>
            </a:r>
          </a:p>
        </p:txBody>
      </p:sp>
      <p:sp>
        <p:nvSpPr>
          <p:cNvPr id="6" name="">
            <a:extLst xmlns:a="http://schemas.openxmlformats.org/drawingml/2006/main">
              <a:ext uri="{FF2B5EF4-FFF2-40B4-BE49-F238E27FC236}">
                <a16:creationId xmlns:a16="http://schemas.microsoft.com/office/drawing/2014/main" id="{C946384D-7F79-43CA-9E01-708D22973FF2}"/>
              </a:ext>
            </a:extLst>
          </p:cNvPr>
          <p:cNvSpPr>
            <a:spLocks xmlns:a="http://schemas.openxmlformats.org/drawingml/2006/main" noGrp="1"/>
          </p:cNvSpPr>
          <p:nvPr/>
        </p:nvSpPr>
        <p:spPr>
          <a:xfrm xmlns:a="http://schemas.openxmlformats.org/drawingml/2006/main">
            <a:off x="609600" y="4495800"/>
            <a:ext cx="6667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12F43"/>
                </a:solidFill>
                <a:latin typeface="Aptos"/>
                <a:ea typeface="Aptos"/>
                <a:cs typeface="Aptos"/>
              </a:defRPr>
            </a:pPr>
            <a:r>
              <a:rPr sz="2550" b="0">
                <a:solidFill>
                  <a:srgbClr val="112F43"/>
                </a:solidFill>
                <a:latin typeface="Aptos"/>
                <a:ea typeface="Aptos"/>
                <a:cs typeface="Aptos"/>
              </a:rPr>
              <a:t>m unit-vector queries</a:t>
            </a:r>
          </a:p>
          <a:p xmlns:a="http://schemas.openxmlformats.org/drawingml/2006/main">
            <a:pPr algn="l">
              <a:defRPr sz="2550" b="0">
                <a:solidFill>
                  <a:srgbClr val="112F43"/>
                </a:solidFill>
                <a:latin typeface="Aptos"/>
                <a:ea typeface="Aptos"/>
                <a:cs typeface="Aptos"/>
              </a:defRPr>
            </a:pPr>
            <a:r>
              <a:rPr sz="2550" b="0">
                <a:solidFill>
                  <a:srgbClr val="112F43"/>
                </a:solidFill>
                <a:latin typeface="Aptos"/>
                <a:ea typeface="Aptos"/>
                <a:cs typeface="Aptos"/>
              </a:rPr>
              <a:t>recover the secret support.</a:t>
            </a:r>
          </a:p>
        </p:txBody>
      </p:sp>
      <p:sp>
        <p:nvSpPr>
          <p:cNvPr id="7" name="">
            <a:extLst xmlns:a="http://schemas.openxmlformats.org/drawingml/2006/main">
              <a:ext uri="{FF2B5EF4-FFF2-40B4-BE49-F238E27FC236}">
                <a16:creationId xmlns:a16="http://schemas.microsoft.com/office/drawing/2014/main" id="{E8F1EE73-DAB3-447F-9C3E-C879C2321AD1}"/>
              </a:ext>
            </a:extLst>
          </p:cNvPr>
          <p:cNvSpPr>
            <a:spLocks xmlns:a="http://schemas.openxmlformats.org/drawingml/2006/main" noGrp="1"/>
          </p:cNvSpPr>
          <p:nvPr/>
        </p:nvSpPr>
        <p:spPr>
          <a:xfrm xmlns:a="http://schemas.openxmlformats.org/drawingml/2006/main">
            <a:off x="7915275" y="1885950"/>
            <a:ext cx="36290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87F82"/>
                </a:solidFill>
                <a:latin typeface="Aptos"/>
                <a:ea typeface="Aptos"/>
                <a:cs typeface="Aptos"/>
              </a:defRPr>
            </a:pPr>
            <a:r>
              <a:rPr sz="1950" b="1">
                <a:solidFill>
                  <a:srgbClr val="087F82"/>
                </a:solidFill>
                <a:latin typeface="Aptos"/>
                <a:ea typeface="Aptos"/>
                <a:cs typeface="Aptos"/>
              </a:rPr>
              <a:t>Separate construction work</a:t>
            </a:r>
          </a:p>
        </p:txBody>
      </p:sp>
      <p:sp>
        <p:nvSpPr>
          <p:cNvPr id="8" name="">
            <a:extLst xmlns:a="http://schemas.openxmlformats.org/drawingml/2006/main">
              <a:ext uri="{FF2B5EF4-FFF2-40B4-BE49-F238E27FC236}">
                <a16:creationId xmlns:a16="http://schemas.microsoft.com/office/drawing/2014/main" id="{1EA6E3A2-C872-4C2A-98A5-941F879CBFE7}"/>
              </a:ext>
            </a:extLst>
          </p:cNvPr>
          <p:cNvSpPr>
            <a:spLocks xmlns:a="http://schemas.openxmlformats.org/drawingml/2006/main" noGrp="1"/>
          </p:cNvSpPr>
          <p:nvPr/>
        </p:nvSpPr>
        <p:spPr>
          <a:xfrm xmlns:a="http://schemas.openxmlformats.org/drawingml/2006/main">
            <a:off x="7915275" y="2609850"/>
            <a:ext cx="361950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12F43"/>
                </a:solidFill>
                <a:latin typeface="Aptos"/>
                <a:ea typeface="Aptos"/>
                <a:cs typeface="Aptos"/>
              </a:defRPr>
            </a:pPr>
            <a:r>
              <a:rPr sz="2025" b="0">
                <a:solidFill>
                  <a:srgbClr val="112F43"/>
                </a:solidFill>
                <a:latin typeface="Aptos"/>
                <a:ea typeface="Aptos"/>
                <a:cs typeface="Aptos"/>
              </a:rPr>
              <a:t>Strong CPA security</a:t>
            </a:r>
          </a:p>
          <a:p xmlns:a="http://schemas.openxmlformats.org/drawingml/2006/main">
            <a:r>
              <a:t/>
            </a:r>
          </a:p>
          <a:p xmlns:a="http://schemas.openxmlformats.org/drawingml/2006/main">
            <a:pPr algn="l">
              <a:defRPr sz="2025" b="0">
                <a:solidFill>
                  <a:srgbClr val="112F43"/>
                </a:solidFill>
                <a:latin typeface="Aptos"/>
                <a:ea typeface="Aptos"/>
                <a:cs typeface="Aptos"/>
              </a:defRPr>
            </a:pPr>
            <a:r>
              <a:rPr sz="2025" b="0">
                <a:solidFill>
                  <a:srgbClr val="112F43"/>
                </a:solidFill>
                <a:latin typeface="Aptos"/>
                <a:ea typeface="Aptos"/>
                <a:cs typeface="Aptos"/>
              </a:rPr>
              <a:t>Ciphertext validation</a:t>
            </a:r>
          </a:p>
          <a:p xmlns:a="http://schemas.openxmlformats.org/drawingml/2006/main">
            <a:r>
              <a:t/>
            </a:r>
          </a:p>
          <a:p xmlns:a="http://schemas.openxmlformats.org/drawingml/2006/main">
            <a:pPr algn="l">
              <a:defRPr sz="2025" b="0">
                <a:solidFill>
                  <a:srgbClr val="112F43"/>
                </a:solidFill>
                <a:latin typeface="Aptos"/>
                <a:ea typeface="Aptos"/>
                <a:cs typeface="Aptos"/>
              </a:defRPr>
            </a:pPr>
            <a:r>
              <a:rPr sz="2025" b="0">
                <a:solidFill>
                  <a:srgbClr val="112F43"/>
                </a:solidFill>
                <a:latin typeface="Aptos"/>
                <a:ea typeface="Aptos"/>
                <a:cs typeface="Aptos"/>
              </a:rPr>
              <a:t>A proved CCA conversion</a:t>
            </a:r>
          </a:p>
          <a:p xmlns:a="http://schemas.openxmlformats.org/drawingml/2006/main">
            <a:r>
              <a:t/>
            </a:r>
          </a:p>
          <a:p xmlns:a="http://schemas.openxmlformats.org/drawingml/2006/main">
            <a:pPr algn="l">
              <a:defRPr sz="2025" b="0">
                <a:solidFill>
                  <a:srgbClr val="112F43"/>
                </a:solidFill>
                <a:latin typeface="Aptos"/>
                <a:ea typeface="Aptos"/>
                <a:cs typeface="Aptos"/>
              </a:defRPr>
            </a:pPr>
            <a:r>
              <a:rPr sz="2025" b="0">
                <a:solidFill>
                  <a:srgbClr val="112F43"/>
                </a:solidFill>
                <a:latin typeface="Aptos"/>
                <a:ea typeface="Aptos"/>
                <a:cs typeface="Aptos"/>
              </a:rPr>
              <a:t>Failure-safe decapsulation</a:t>
            </a:r>
          </a:p>
        </p:txBody>
      </p:sp>
      <p:sp>
        <p:nvSpPr>
          <p:cNvPr id="9" name="">
            <a:extLst xmlns:a="http://schemas.openxmlformats.org/drawingml/2006/main">
              <a:ext uri="{FF2B5EF4-FFF2-40B4-BE49-F238E27FC236}">
                <a16:creationId xmlns:a16="http://schemas.microsoft.com/office/drawing/2014/main" id="{4746C587-D985-4F9A-9A57-350E6C62F0D0}"/>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This is a limitation of the raw bit scheme. ABW’s existence theorem targets passive security.</a:t>
            </a:r>
          </a:p>
        </p:txBody>
      </p:sp>
    </p:spTree>
    <p:extLst>
      <p:ext uri="{BB962C8B-B14F-4D97-AF65-F5344CB8AC3E}">
        <p14:creationId xmlns:p14="http://schemas.microsoft.com/office/powerpoint/2010/main" val="819365816"/>
      </p:ext>
    </p:extLst>
  </p:cSld>
</p:sld>
</file>

<file path=ppt/slides/slide2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CE17226-A04C-4563-BC34-5B2A58EE2A75}"/>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A concrete first project</a:t>
            </a:r>
          </a:p>
        </p:txBody>
      </p:sp>
      <p:sp>
        <p:nvSpPr>
          <p:cNvPr id="2" name="">
            <a:extLst xmlns:a="http://schemas.openxmlformats.org/drawingml/2006/main">
              <a:ext uri="{FF2B5EF4-FFF2-40B4-BE49-F238E27FC236}">
                <a16:creationId xmlns:a16="http://schemas.microsoft.com/office/drawing/2014/main" id="{911496CC-E6FE-463A-8663-203548250F32}"/>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ABW research proposal</a:t>
            </a:r>
          </a:p>
        </p:txBody>
      </p:sp>
      <p:sp>
        <p:nvSpPr>
          <p:cNvPr id="3" name="">
            <a:extLst xmlns:a="http://schemas.openxmlformats.org/drawingml/2006/main">
              <a:ext uri="{FF2B5EF4-FFF2-40B4-BE49-F238E27FC236}">
                <a16:creationId xmlns:a16="http://schemas.microsoft.com/office/drawing/2014/main" id="{04468C01-193E-44A9-A033-63639995E8B1}"/>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20</a:t>
            </a:r>
          </a:p>
        </p:txBody>
      </p:sp>
      <p:sp>
        <p:nvSpPr>
          <p:cNvPr id="4" name="">
            <a:extLst xmlns:a="http://schemas.openxmlformats.org/drawingml/2006/main">
              <a:ext uri="{FF2B5EF4-FFF2-40B4-BE49-F238E27FC236}">
                <a16:creationId xmlns:a16="http://schemas.microsoft.com/office/drawing/2014/main" id="{F3A886E9-AA8D-45D4-92C5-EEFDFC937E82}"/>
              </a:ext>
            </a:extLst>
          </p:cNvPr>
          <p:cNvSpPr>
            <a:spLocks xmlns:a="http://schemas.openxmlformats.org/drawingml/2006/main" noGrp="1"/>
          </p:cNvSpPr>
          <p:nvPr/>
        </p:nvSpPr>
        <p:spPr>
          <a:xfrm xmlns:a="http://schemas.openxmlformats.org/drawingml/2006/main">
            <a:off x="609600" y="1581150"/>
            <a:ext cx="108394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87F82"/>
                </a:solidFill>
                <a:latin typeface="Aptos"/>
                <a:ea typeface="Aptos"/>
                <a:cs typeface="Aptos"/>
              </a:defRPr>
            </a:pPr>
            <a:r>
              <a:rPr sz="3225" b="1">
                <a:solidFill>
                  <a:srgbClr val="087F82"/>
                </a:solidFill>
                <a:latin typeface="Aptos"/>
                <a:ea typeface="Aptos"/>
                <a:cs typeface="Aptos"/>
              </a:rPr>
              <a:t>Concrete security and feasibility</a:t>
            </a:r>
          </a:p>
          <a:p xmlns:a="http://schemas.openxmlformats.org/drawingml/2006/main">
            <a:pPr algn="l">
              <a:defRPr sz="3225" b="1">
                <a:solidFill>
                  <a:srgbClr val="087F82"/>
                </a:solidFill>
                <a:latin typeface="Aptos"/>
                <a:ea typeface="Aptos"/>
                <a:cs typeface="Aptos"/>
              </a:defRPr>
            </a:pPr>
            <a:r>
              <a:rPr sz="3225" b="1">
                <a:solidFill>
                  <a:srgbClr val="087F82"/>
                </a:solidFill>
                <a:latin typeface="Aptos"/>
                <a:ea typeface="Aptos"/>
                <a:cs typeface="Aptos"/>
              </a:rPr>
              <a:t>of sparse-equation public-key encryption</a:t>
            </a:r>
          </a:p>
        </p:txBody>
      </p:sp>
      <p:sp>
        <p:nvSpPr>
          <p:cNvPr id="5" name="">
            <a:extLst xmlns:a="http://schemas.openxmlformats.org/drawingml/2006/main">
              <a:ext uri="{FF2B5EF4-FFF2-40B4-BE49-F238E27FC236}">
                <a16:creationId xmlns:a16="http://schemas.microsoft.com/office/drawing/2014/main" id="{D8F790D8-AD50-4908-8EDB-127D0DFFF8EF}"/>
              </a:ext>
            </a:extLst>
          </p:cNvPr>
          <p:cNvSpPr>
            <a:spLocks xmlns:a="http://schemas.openxmlformats.org/drawingml/2006/main" noGrp="1"/>
          </p:cNvSpPr>
          <p:nvPr/>
        </p:nvSpPr>
        <p:spPr>
          <a:xfrm xmlns:a="http://schemas.openxmlformats.org/drawingml/2006/main">
            <a:off x="609600" y="3590925"/>
            <a:ext cx="5076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tos"/>
                <a:ea typeface="Aptos"/>
                <a:cs typeface="Aptos"/>
              </a:defRPr>
            </a:pPr>
            <a:r>
              <a:rPr sz="2100" b="1">
                <a:solidFill>
                  <a:srgbClr val="087F82"/>
                </a:solidFill>
                <a:latin typeface="Aptos"/>
                <a:ea typeface="Aptos"/>
                <a:cs typeface="Aptos"/>
              </a:rPr>
              <a:t>Proceed when</a:t>
            </a:r>
          </a:p>
        </p:txBody>
      </p:sp>
      <p:sp>
        <p:nvSpPr>
          <p:cNvPr id="6" name="">
            <a:extLst xmlns:a="http://schemas.openxmlformats.org/drawingml/2006/main">
              <a:ext uri="{FF2B5EF4-FFF2-40B4-BE49-F238E27FC236}">
                <a16:creationId xmlns:a16="http://schemas.microsoft.com/office/drawing/2014/main" id="{709F9344-3E53-49F7-B5A8-54C94463CF1B}"/>
              </a:ext>
            </a:extLst>
          </p:cNvPr>
          <p:cNvSpPr>
            <a:spLocks xmlns:a="http://schemas.openxmlformats.org/drawingml/2006/main" noGrp="1"/>
          </p:cNvSpPr>
          <p:nvPr/>
        </p:nvSpPr>
        <p:spPr>
          <a:xfrm xmlns:a="http://schemas.openxmlformats.org/drawingml/2006/main">
            <a:off x="609600" y="4200525"/>
            <a:ext cx="50768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A defensible parameter window survives.</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One bottleneck has a plausible remedy.</a:t>
            </a:r>
          </a:p>
        </p:txBody>
      </p:sp>
      <p:sp>
        <p:nvSpPr>
          <p:cNvPr id="7" name="">
            <a:extLst xmlns:a="http://schemas.openxmlformats.org/drawingml/2006/main">
              <a:ext uri="{FF2B5EF4-FFF2-40B4-BE49-F238E27FC236}">
                <a16:creationId xmlns:a16="http://schemas.microsoft.com/office/drawing/2014/main" id="{73D47F08-E70D-4077-975E-AA932881D58B}"/>
              </a:ext>
            </a:extLst>
          </p:cNvPr>
          <p:cNvSpPr>
            <a:spLocks xmlns:a="http://schemas.openxmlformats.org/drawingml/2006/main" noGrp="1"/>
          </p:cNvSpPr>
          <p:nvPr/>
        </p:nvSpPr>
        <p:spPr>
          <a:xfrm xmlns:a="http://schemas.openxmlformats.org/drawingml/2006/main">
            <a:off x="6553200" y="3590925"/>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45C48"/>
                </a:solidFill>
                <a:latin typeface="Aptos"/>
                <a:ea typeface="Aptos"/>
                <a:cs typeface="Aptos"/>
              </a:defRPr>
            </a:pPr>
            <a:r>
              <a:rPr sz="2100" b="1">
                <a:solidFill>
                  <a:srgbClr val="C45C48"/>
                </a:solidFill>
                <a:latin typeface="Aptos"/>
                <a:ea typeface="Aptos"/>
                <a:cs typeface="Aptos"/>
              </a:rPr>
              <a:t>Redirect when</a:t>
            </a:r>
          </a:p>
        </p:txBody>
      </p:sp>
      <p:sp>
        <p:nvSpPr>
          <p:cNvPr id="8" name="">
            <a:extLst xmlns:a="http://schemas.openxmlformats.org/drawingml/2006/main">
              <a:ext uri="{FF2B5EF4-FFF2-40B4-BE49-F238E27FC236}">
                <a16:creationId xmlns:a16="http://schemas.microsoft.com/office/drawing/2014/main" id="{39EF2204-BAE5-4B88-B9AE-F14B031259A6}"/>
              </a:ext>
            </a:extLst>
          </p:cNvPr>
          <p:cNvSpPr>
            <a:spLocks xmlns:a="http://schemas.openxmlformats.org/drawingml/2006/main" noGrp="1"/>
          </p:cNvSpPr>
          <p:nvPr/>
        </p:nvSpPr>
        <p:spPr>
          <a:xfrm xmlns:a="http://schemas.openxmlformats.org/drawingml/2006/main">
            <a:off x="6553200" y="4200525"/>
            <a:ext cx="5000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An attack invalidates the candidate.</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Full costs overwhelm the intended benefit.</a:t>
            </a:r>
          </a:p>
        </p:txBody>
      </p:sp>
      <p:sp>
        <p:nvSpPr>
          <p:cNvPr id="9" name="">
            <a:extLst xmlns:a="http://schemas.openxmlformats.org/drawingml/2006/main">
              <a:ext uri="{FF2B5EF4-FFF2-40B4-BE49-F238E27FC236}">
                <a16:creationId xmlns:a16="http://schemas.microsoft.com/office/drawing/2014/main" id="{FB1E9323-EFEB-492E-B91A-9142699B37FA}"/>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Suggested team: a proof lead and an attack/implementation lead, with independent review.</a:t>
            </a:r>
          </a:p>
        </p:txBody>
      </p:sp>
    </p:spTree>
    <p:extLst>
      <p:ext uri="{BB962C8B-B14F-4D97-AF65-F5344CB8AC3E}">
        <p14:creationId xmlns:p14="http://schemas.microsoft.com/office/powerpoint/2010/main" val="339367024"/>
      </p:ext>
    </p:extLst>
  </p:cSld>
</p:sld>
</file>

<file path=ppt/slides/slide2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E570D3F-F16A-4CB8-A913-BC7EF3574050}"/>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Appendix: parameter and proof distinctions</a:t>
            </a:r>
          </a:p>
        </p:txBody>
      </p:sp>
      <p:sp>
        <p:nvSpPr>
          <p:cNvPr id="2" name="">
            <a:extLst xmlns:a="http://schemas.openxmlformats.org/drawingml/2006/main">
              <a:ext uri="{FF2B5EF4-FFF2-40B4-BE49-F238E27FC236}">
                <a16:creationId xmlns:a16="http://schemas.microsoft.com/office/drawing/2014/main" id="{A4C5428D-BA5E-42A2-8B1A-D2924FADBA8B}"/>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Technical appendix</a:t>
            </a:r>
          </a:p>
        </p:txBody>
      </p:sp>
      <p:sp>
        <p:nvSpPr>
          <p:cNvPr id="3" name="">
            <a:extLst xmlns:a="http://schemas.openxmlformats.org/drawingml/2006/main">
              <a:ext uri="{FF2B5EF4-FFF2-40B4-BE49-F238E27FC236}">
                <a16:creationId xmlns:a16="http://schemas.microsoft.com/office/drawing/2014/main" id="{7AA5BC38-DA8A-4C1F-9633-88C7A6BFBEFC}"/>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21</a:t>
            </a:r>
          </a:p>
        </p:txBody>
      </p:sp>
      <p:graphicFrame>
        <p:nvGraphicFramePr>
          <p:cNvPr id="8" name=""/>
          <p:cNvGraphicFramePr/>
          <p:nvPr/>
        </p:nvGraphicFramePr>
        <p:xfrm>
          <a:off xmlns:a="http://schemas.openxmlformats.org/drawingml/2006/main" x="609600" y="1657350"/>
          <a:ext xmlns:a="http://schemas.openxmlformats.org/drawingml/2006/main" cx="10972800" cy="4229100"/>
        </p:xfrm>
        <a:graphic xmlns:a="http://schemas.openxmlformats.org/drawingml/2006/main">
          <a:graphicData uri="http://schemas.openxmlformats.org/drawingml/2006/table">
            <a:tbl>
              <a:tblPr/>
              <a:tblGrid>
                <a:gridCol w="3352800"/>
                <a:gridCol w="7620000"/>
              </a:tblGrid>
              <a:tr h="704850">
                <a:tc>
                  <a:txBody>
                    <a:bodyPr/>
                    <a:lstStyle/>
                    <a:p>
                      <a:r>
                        <a:rPr sz="1875" b="1">
                          <a:solidFill>
                            <a:srgbClr val="FFFFFF"/>
                          </a:solidFill>
                          <a:latin typeface="Aptos"/>
                          <a:ea typeface="Aptos"/>
                          <a:cs typeface="Aptos"/>
                        </a:rPr>
                        <a:t>Issue</a:t>
                      </a:r>
                    </a:p>
                  </a:txBody>
                  <a:tcPr marL="142875" marR="114300" marT="104775" marB="85725" anchor="ctr">
                    <a:solidFill>
                      <a:srgbClr val="112F43"/>
                    </a:solidFill>
                  </a:tcPr>
                </a:tc>
                <a:tc>
                  <a:txBody>
                    <a:bodyPr/>
                    <a:lstStyle/>
                    <a:p>
                      <a:r>
                        <a:rPr sz="1875" b="1">
                          <a:solidFill>
                            <a:srgbClr val="FFFFFF"/>
                          </a:solidFill>
                          <a:latin typeface="Aptos"/>
                          <a:ea typeface="Aptos"/>
                          <a:cs typeface="Aptos"/>
                        </a:rPr>
                        <a:t>Precise interpretation</a:t>
                      </a:r>
                    </a:p>
                  </a:txBody>
                  <a:tcPr marL="142875" marR="114300" marT="104775" marB="85725" anchor="ctr">
                    <a:solidFill>
                      <a:srgbClr val="112F43"/>
                    </a:solidFill>
                  </a:tcPr>
                </a:tc>
              </a:tr>
              <a:tr h="704850">
                <a:tc>
                  <a:txBody>
                    <a:bodyPr/>
                    <a:lstStyle/>
                    <a:p>
                      <a:r>
                        <a:rPr sz="1875">
                          <a:solidFill>
                            <a:srgbClr val="112F43"/>
                          </a:solidFill>
                          <a:latin typeface="Aptos"/>
                          <a:ea typeface="Aptos"/>
                          <a:cs typeface="Aptos"/>
                        </a:rPr>
                        <a:t>3-LIN-only regime</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m = Θ(n¹·⁴), ε = Θ(n⁻⁰·²), with suitable constants</a:t>
                      </a:r>
                    </a:p>
                  </a:txBody>
                  <a:tcPr marL="142875" marR="114300" marT="104775" marB="85725" anchor="ctr">
                    <a:solidFill>
                      <a:srgbClr val="F7F5F0"/>
                    </a:solidFill>
                  </a:tcPr>
                </a:tc>
              </a:tr>
              <a:tr h="704850">
                <a:tc>
                  <a:txBody>
                    <a:bodyPr/>
                    <a:lstStyle/>
                    <a:p>
                      <a:r>
                        <a:rPr sz="1875">
                          <a:solidFill>
                            <a:srgbClr val="112F43"/>
                          </a:solidFill>
                          <a:latin typeface="Aptos"/>
                          <a:ea typeface="Aptos"/>
                          <a:cs typeface="Aptos"/>
                        </a:rPr>
                        <a:t>Public-key overlap</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A constant overlap bound, not negligible distance</a:t>
                      </a:r>
                    </a:p>
                  </a:txBody>
                  <a:tcPr marL="142875" marR="114300" marT="104775" marB="85725" anchor="ctr">
                    <a:solidFill>
                      <a:srgbClr val="F7F5F0"/>
                    </a:solidFill>
                  </a:tcPr>
                </a:tc>
              </a:tr>
              <a:tr h="704850">
                <a:tc>
                  <a:txBody>
                    <a:bodyPr/>
                    <a:lstStyle/>
                    <a:p>
                      <a:r>
                        <a:rPr sz="1875">
                          <a:solidFill>
                            <a:srgbClr val="112F43"/>
                          </a:solidFill>
                          <a:latin typeface="Aptos"/>
                          <a:ea typeface="Aptos"/>
                          <a:cs typeface="Aptos"/>
                        </a:rPr>
                        <a:t>d-LIN + DUE conversion</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Public locality D versus search locality D/2</a:t>
                      </a:r>
                    </a:p>
                  </a:txBody>
                  <a:tcPr marL="142875" marR="114300" marT="104775" marB="85725" anchor="ctr">
                    <a:solidFill>
                      <a:srgbClr val="F7F5F0"/>
                    </a:solidFill>
                  </a:tcPr>
                </a:tc>
              </a:tr>
              <a:tr h="704850">
                <a:tc>
                  <a:txBody>
                    <a:bodyPr/>
                    <a:lstStyle/>
                    <a:p>
                      <a:r>
                        <a:rPr sz="1875">
                          <a:solidFill>
                            <a:srgbClr val="112F43"/>
                          </a:solidFill>
                          <a:latin typeface="Aptos"/>
                          <a:ea typeface="Aptos"/>
                          <a:cs typeface="Aptos"/>
                        </a:rPr>
                        <a:t>Noise conversion</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Ciphertext ε = 2η(1 − η) for the paired construction</a:t>
                      </a:r>
                    </a:p>
                  </a:txBody>
                  <a:tcPr marL="142875" marR="114300" marT="104775" marB="85725" anchor="ctr">
                    <a:solidFill>
                      <a:srgbClr val="F7F5F0"/>
                    </a:solidFill>
                  </a:tcPr>
                </a:tc>
              </a:tr>
              <a:tr h="704850">
                <a:tc>
                  <a:txBody>
                    <a:bodyPr/>
                    <a:lstStyle/>
                    <a:p>
                      <a:r>
                        <a:rPr sz="1875">
                          <a:solidFill>
                            <a:srgbClr val="112F43"/>
                          </a:solidFill>
                          <a:latin typeface="Aptos"/>
                          <a:ea typeface="Aptos"/>
                          <a:cs typeface="Aptos"/>
                        </a:rPr>
                        <a:t>Sample count</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Public-key rows differ from reduction sample needs</a:t>
                      </a:r>
                    </a:p>
                  </a:txBody>
                  <a:tcPr marL="142875" marR="114300" marT="104775" marB="85725" anchor="ctr">
                    <a:solidFill>
                      <a:srgbClr val="F7F5F0"/>
                    </a:solidFill>
                  </a:tcPr>
                </a:tc>
              </a:tr>
            </a:tbl>
          </a:graphicData>
        </a:graphic>
      </p:graphicFrame>
    </p:spTree>
    <p:extLst>
      <p:ext uri="{BB962C8B-B14F-4D97-AF65-F5344CB8AC3E}">
        <p14:creationId xmlns:p14="http://schemas.microsoft.com/office/powerpoint/2010/main" val="1419474656"/>
      </p:ext>
    </p:extLst>
  </p:cSld>
</p:sld>
</file>

<file path=ppt/slides/slide2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CE8A59-8566-4BCD-B685-9F50C7FE087B}"/>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Appendix: exact raw failure probability</a:t>
            </a:r>
          </a:p>
        </p:txBody>
      </p:sp>
      <p:sp>
        <p:nvSpPr>
          <p:cNvPr id="2" name="">
            <a:extLst xmlns:a="http://schemas.openxmlformats.org/drawingml/2006/main">
              <a:ext uri="{FF2B5EF4-FFF2-40B4-BE49-F238E27FC236}">
                <a16:creationId xmlns:a16="http://schemas.microsoft.com/office/drawing/2014/main" id="{A9B6BF78-766D-42E3-9032-642FE0358F9F}"/>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Technical appendix</a:t>
            </a:r>
          </a:p>
        </p:txBody>
      </p:sp>
      <p:sp>
        <p:nvSpPr>
          <p:cNvPr id="3" name="">
            <a:extLst xmlns:a="http://schemas.openxmlformats.org/drawingml/2006/main">
              <a:ext uri="{FF2B5EF4-FFF2-40B4-BE49-F238E27FC236}">
                <a16:creationId xmlns:a16="http://schemas.microsoft.com/office/drawing/2014/main" id="{D5595623-3E3D-4106-8DC3-F4B0E046712C}"/>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22</a:t>
            </a:r>
          </a:p>
        </p:txBody>
      </p:sp>
      <p:sp>
        <p:nvSpPr>
          <p:cNvPr id="4" name="">
            <a:extLst xmlns:a="http://schemas.openxmlformats.org/drawingml/2006/main">
              <a:ext uri="{FF2B5EF4-FFF2-40B4-BE49-F238E27FC236}">
                <a16:creationId xmlns:a16="http://schemas.microsoft.com/office/drawing/2014/main" id="{25A6F410-9775-4E15-814E-3199523BA54A}"/>
              </a:ext>
            </a:extLst>
          </p:cNvPr>
          <p:cNvSpPr>
            <a:spLocks xmlns:a="http://schemas.openxmlformats.org/drawingml/2006/main" noGrp="1"/>
          </p:cNvSpPr>
          <p:nvPr/>
        </p:nvSpPr>
        <p:spPr>
          <a:xfrm xmlns:a="http://schemas.openxmlformats.org/drawingml/2006/main">
            <a:off x="609600" y="1638300"/>
            <a:ext cx="108299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87F82"/>
                </a:solidFill>
                <a:latin typeface="Aptos"/>
                <a:ea typeface="Aptos"/>
                <a:cs typeface="Aptos"/>
              </a:defRPr>
            </a:pPr>
            <a:r>
              <a:rPr sz="3225" b="1">
                <a:solidFill>
                  <a:srgbClr val="087F82"/>
                </a:solidFill>
                <a:latin typeface="Aptos"/>
                <a:ea typeface="Aptos"/>
                <a:cs typeface="Aptos"/>
              </a:rPr>
              <a:t>E[(−1)^(Σ eᵢ)] = (1 − 2ε)ʳ</a:t>
            </a:r>
          </a:p>
        </p:txBody>
      </p:sp>
      <p:sp>
        <p:nvSpPr>
          <p:cNvPr id="5" name="">
            <a:extLst xmlns:a="http://schemas.openxmlformats.org/drawingml/2006/main">
              <a:ext uri="{FF2B5EF4-FFF2-40B4-BE49-F238E27FC236}">
                <a16:creationId xmlns:a16="http://schemas.microsoft.com/office/drawing/2014/main" id="{F2CC7C89-71A1-4C4C-A192-A3C1C7C6A184}"/>
              </a:ext>
            </a:extLst>
          </p:cNvPr>
          <p:cNvSpPr>
            <a:spLocks xmlns:a="http://schemas.openxmlformats.org/drawingml/2006/main" noGrp="1"/>
          </p:cNvSpPr>
          <p:nvPr/>
        </p:nvSpPr>
        <p:spPr>
          <a:xfrm xmlns:a="http://schemas.openxmlformats.org/drawingml/2006/main">
            <a:off x="609600" y="2762250"/>
            <a:ext cx="108299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87F82"/>
                </a:solidFill>
                <a:latin typeface="Aptos"/>
                <a:ea typeface="Aptos"/>
                <a:cs typeface="Aptos"/>
              </a:defRPr>
            </a:pPr>
            <a:r>
              <a:rPr sz="3225" b="1">
                <a:solidFill>
                  <a:srgbClr val="087F82"/>
                </a:solidFill>
                <a:latin typeface="Aptos"/>
                <a:ea typeface="Aptos"/>
                <a:cs typeface="Aptos"/>
              </a:rPr>
              <a:t>Pr[odd] = [1 − (1 − 2ε)ʳ] / 2</a:t>
            </a:r>
          </a:p>
        </p:txBody>
      </p:sp>
      <p:graphicFrame>
        <p:nvGraphicFramePr>
          <p:cNvPr id="13"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4800600"/>
                <a:gridCol w="2057400"/>
                <a:gridCol w="2057400"/>
                <a:gridCol w="2057400"/>
              </a:tblGrid>
              <a:tr h="676275">
                <a:tc>
                  <a:txBody>
                    <a:bodyPr/>
                    <a:lstStyle/>
                    <a:p>
                      <a:r>
                        <a:rPr sz="2025" b="1">
                          <a:solidFill>
                            <a:srgbClr val="FFFFFF"/>
                          </a:solidFill>
                          <a:latin typeface="Aptos"/>
                          <a:ea typeface="Aptos"/>
                          <a:cs typeface="Aptos"/>
                        </a:rPr>
                        <a:t>Illustration: ε = 0.01</a:t>
                      </a:r>
                    </a:p>
                  </a:txBody>
                  <a:tcPr marL="142875" marR="114300" marT="104775" marB="85725" anchor="ctr">
                    <a:solidFill>
                      <a:srgbClr val="112F43"/>
                    </a:solidFill>
                  </a:tcPr>
                </a:tc>
                <a:tc>
                  <a:txBody>
                    <a:bodyPr/>
                    <a:lstStyle/>
                    <a:p>
                      <a:r>
                        <a:rPr sz="2025" b="1">
                          <a:solidFill>
                            <a:srgbClr val="FFFFFF"/>
                          </a:solidFill>
                          <a:latin typeface="Aptos"/>
                          <a:ea typeface="Aptos"/>
                          <a:cs typeface="Aptos"/>
                        </a:rPr>
                        <a:t>r = 4</a:t>
                      </a:r>
                    </a:p>
                  </a:txBody>
                  <a:tcPr marL="142875" marR="114300" marT="104775" marB="85725" anchor="ctr">
                    <a:solidFill>
                      <a:srgbClr val="112F43"/>
                    </a:solidFill>
                  </a:tcPr>
                </a:tc>
                <a:tc>
                  <a:txBody>
                    <a:bodyPr/>
                    <a:lstStyle/>
                    <a:p>
                      <a:r>
                        <a:rPr sz="2025" b="1">
                          <a:solidFill>
                            <a:srgbClr val="FFFFFF"/>
                          </a:solidFill>
                          <a:latin typeface="Aptos"/>
                          <a:ea typeface="Aptos"/>
                          <a:cs typeface="Aptos"/>
                        </a:rPr>
                        <a:t>r = 16</a:t>
                      </a:r>
                    </a:p>
                  </a:txBody>
                  <a:tcPr marL="142875" marR="114300" marT="104775" marB="85725" anchor="ctr">
                    <a:solidFill>
                      <a:srgbClr val="112F43"/>
                    </a:solidFill>
                  </a:tcPr>
                </a:tc>
                <a:tc>
                  <a:txBody>
                    <a:bodyPr/>
                    <a:lstStyle/>
                    <a:p>
                      <a:r>
                        <a:rPr sz="2025" b="1">
                          <a:solidFill>
                            <a:srgbClr val="FFFFFF"/>
                          </a:solidFill>
                          <a:latin typeface="Aptos"/>
                          <a:ea typeface="Aptos"/>
                          <a:cs typeface="Aptos"/>
                        </a:rPr>
                        <a:t>r = 64</a:t>
                      </a:r>
                    </a:p>
                  </a:txBody>
                  <a:tcPr marL="142875" marR="114300" marT="104775" marB="85725" anchor="ctr">
                    <a:solidFill>
                      <a:srgbClr val="112F43"/>
                    </a:solidFill>
                  </a:tcPr>
                </a:tc>
              </a:tr>
              <a:tr h="676275">
                <a:tc>
                  <a:txBody>
                    <a:bodyPr/>
                    <a:lstStyle/>
                    <a:p>
                      <a:r>
                        <a:rPr sz="2025">
                          <a:solidFill>
                            <a:srgbClr val="112F43"/>
                          </a:solidFill>
                          <a:latin typeface="Aptos"/>
                          <a:ea typeface="Aptos"/>
                          <a:cs typeface="Aptos"/>
                        </a:rPr>
                        <a:t>Raw failure probability</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3.88%</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13.81%</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36.28%</a:t>
                      </a:r>
                    </a:p>
                  </a:txBody>
                  <a:tcPr marL="142875" marR="114300" marT="104775" marB="85725" anchor="ctr">
                    <a:solidFill>
                      <a:srgbClr val="F7F5F0"/>
                    </a:solidFill>
                  </a:tcPr>
                </a:tc>
              </a:tr>
            </a:tbl>
          </a:graphicData>
        </a:graphic>
      </p:graphicFrame>
      <p:sp>
        <p:nvSpPr>
          <p:cNvPr id="7" name="">
            <a:extLst xmlns:a="http://schemas.openxmlformats.org/drawingml/2006/main">
              <a:ext uri="{FF2B5EF4-FFF2-40B4-BE49-F238E27FC236}">
                <a16:creationId xmlns:a16="http://schemas.microsoft.com/office/drawing/2014/main" id="{B6D8E7A0-4098-4074-9822-52D6C3E7978A}"/>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The relevant noise is the parity on the secret relation, not the total number of errors.</a:t>
            </a:r>
          </a:p>
        </p:txBody>
      </p:sp>
    </p:spTree>
    <p:extLst>
      <p:ext uri="{BB962C8B-B14F-4D97-AF65-F5344CB8AC3E}">
        <p14:creationId xmlns:p14="http://schemas.microsoft.com/office/powerpoint/2010/main" val="986350580"/>
      </p:ext>
    </p:extLst>
  </p:cSld>
</p:sld>
</file>

<file path=ppt/slides/slide2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034E801-401B-43E0-8704-4FECAA8E6478}"/>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Appendix: requirements for a complete KEM</a:t>
            </a:r>
          </a:p>
        </p:txBody>
      </p:sp>
      <p:sp>
        <p:nvSpPr>
          <p:cNvPr id="2" name="">
            <a:extLst xmlns:a="http://schemas.openxmlformats.org/drawingml/2006/main">
              <a:ext uri="{FF2B5EF4-FFF2-40B4-BE49-F238E27FC236}">
                <a16:creationId xmlns:a16="http://schemas.microsoft.com/office/drawing/2014/main" id="{12195B0A-00A3-4D32-BE70-180BBC83C1A4}"/>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Technical appendix</a:t>
            </a:r>
          </a:p>
        </p:txBody>
      </p:sp>
      <p:sp>
        <p:nvSpPr>
          <p:cNvPr id="3" name="">
            <a:extLst xmlns:a="http://schemas.openxmlformats.org/drawingml/2006/main">
              <a:ext uri="{FF2B5EF4-FFF2-40B4-BE49-F238E27FC236}">
                <a16:creationId xmlns:a16="http://schemas.microsoft.com/office/drawing/2014/main" id="{CDB1EF77-D1AC-48D2-9FD7-48B067B06B81}"/>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23</a:t>
            </a:r>
          </a:p>
        </p:txBody>
      </p:sp>
      <p:graphicFrame>
        <p:nvGraphicFramePr>
          <p:cNvPr id="8" name=""/>
          <p:cNvGraphicFramePr/>
          <p:nvPr/>
        </p:nvGraphicFramePr>
        <p:xfrm>
          <a:off xmlns:a="http://schemas.openxmlformats.org/drawingml/2006/main" x="609600" y="1657350"/>
          <a:ext xmlns:a="http://schemas.openxmlformats.org/drawingml/2006/main" cx="10972800" cy="4181475"/>
        </p:xfrm>
        <a:graphic xmlns:a="http://schemas.openxmlformats.org/drawingml/2006/main">
          <a:graphicData uri="http://schemas.openxmlformats.org/drawingml/2006/table">
            <a:tbl>
              <a:tblPr/>
              <a:tblGrid>
                <a:gridCol w="3143250"/>
                <a:gridCol w="7829550"/>
              </a:tblGrid>
              <a:tr h="696913">
                <a:tc>
                  <a:txBody>
                    <a:bodyPr/>
                    <a:lstStyle/>
                    <a:p>
                      <a:r>
                        <a:rPr sz="1875" b="1">
                          <a:solidFill>
                            <a:srgbClr val="FFFFFF"/>
                          </a:solidFill>
                          <a:latin typeface="Aptos"/>
                          <a:ea typeface="Aptos"/>
                          <a:cs typeface="Aptos"/>
                        </a:rPr>
                        <a:t>Layer</a:t>
                      </a:r>
                    </a:p>
                  </a:txBody>
                  <a:tcPr marL="142875" marR="114300" marT="104775" marB="85725" anchor="ctr">
                    <a:solidFill>
                      <a:srgbClr val="112F43"/>
                    </a:solidFill>
                  </a:tcPr>
                </a:tc>
                <a:tc>
                  <a:txBody>
                    <a:bodyPr/>
                    <a:lstStyle/>
                    <a:p>
                      <a:r>
                        <a:rPr sz="1875" b="1">
                          <a:solidFill>
                            <a:srgbClr val="FFFFFF"/>
                          </a:solidFill>
                          <a:latin typeface="Aptos"/>
                          <a:ea typeface="Aptos"/>
                          <a:cs typeface="Aptos"/>
                        </a:rPr>
                        <a:t>Proof or implementation obligation</a:t>
                      </a:r>
                    </a:p>
                  </a:txBody>
                  <a:tcPr marL="142875" marR="114300" marT="104775" marB="85725" anchor="ctr">
                    <a:solidFill>
                      <a:srgbClr val="112F43"/>
                    </a:solidFill>
                  </a:tcPr>
                </a:tc>
              </a:tr>
              <a:tr h="696913">
                <a:tc>
                  <a:txBody>
                    <a:bodyPr/>
                    <a:lstStyle/>
                    <a:p>
                      <a:r>
                        <a:rPr sz="1875">
                          <a:solidFill>
                            <a:srgbClr val="112F43"/>
                          </a:solidFill>
                          <a:latin typeface="Aptos"/>
                          <a:ea typeface="Aptos"/>
                          <a:cs typeface="Aptos"/>
                        </a:rPr>
                        <a:t>Base encryption</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Message space, correctness and full CPA security</a:t>
                      </a:r>
                    </a:p>
                  </a:txBody>
                  <a:tcPr marL="142875" marR="114300" marT="104775" marB="85725" anchor="ctr">
                    <a:solidFill>
                      <a:srgbClr val="F7F5F0"/>
                    </a:solidFill>
                  </a:tcPr>
                </a:tc>
              </a:tr>
              <a:tr h="696913">
                <a:tc>
                  <a:txBody>
                    <a:bodyPr/>
                    <a:lstStyle/>
                    <a:p>
                      <a:r>
                        <a:rPr sz="1875">
                          <a:solidFill>
                            <a:srgbClr val="112F43"/>
                          </a:solidFill>
                          <a:latin typeface="Aptos"/>
                          <a:ea typeface="Aptos"/>
                          <a:cs typeface="Aptos"/>
                        </a:rPr>
                        <a:t>CCA transformation</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Reencryption, validation, rejection and proof losses</a:t>
                      </a:r>
                    </a:p>
                  </a:txBody>
                  <a:tcPr marL="142875" marR="114300" marT="104775" marB="85725" anchor="ctr">
                    <a:solidFill>
                      <a:srgbClr val="F7F5F0"/>
                    </a:solidFill>
                  </a:tcPr>
                </a:tc>
              </a:tr>
              <a:tr h="696913">
                <a:tc>
                  <a:txBody>
                    <a:bodyPr/>
                    <a:lstStyle/>
                    <a:p>
                      <a:r>
                        <a:rPr sz="1875">
                          <a:solidFill>
                            <a:srgbClr val="112F43"/>
                          </a:solidFill>
                          <a:latin typeface="Aptos"/>
                          <a:ea typeface="Aptos"/>
                          <a:cs typeface="Aptos"/>
                        </a:rPr>
                        <a:t>Quantum analysis</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Base hardness plus a valid quantum reduction chain</a:t>
                      </a:r>
                    </a:p>
                  </a:txBody>
                  <a:tcPr marL="142875" marR="114300" marT="104775" marB="85725" anchor="ctr">
                    <a:solidFill>
                      <a:srgbClr val="F7F5F0"/>
                    </a:solidFill>
                  </a:tcPr>
                </a:tc>
              </a:tr>
              <a:tr h="696913">
                <a:tc>
                  <a:txBody>
                    <a:bodyPr/>
                    <a:lstStyle/>
                    <a:p>
                      <a:r>
                        <a:rPr sz="1875">
                          <a:solidFill>
                            <a:srgbClr val="112F43"/>
                          </a:solidFill>
                          <a:latin typeface="Aptos"/>
                          <a:ea typeface="Aptos"/>
                          <a:cs typeface="Aptos"/>
                        </a:rPr>
                        <a:t>Implementation</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Constant-time code, randomness and input handling</a:t>
                      </a:r>
                    </a:p>
                  </a:txBody>
                  <a:tcPr marL="142875" marR="114300" marT="104775" marB="85725" anchor="ctr">
                    <a:solidFill>
                      <a:srgbClr val="F7F5F0"/>
                    </a:solidFill>
                  </a:tcPr>
                </a:tc>
              </a:tr>
              <a:tr h="696913">
                <a:tc>
                  <a:txBody>
                    <a:bodyPr/>
                    <a:lstStyle/>
                    <a:p>
                      <a:r>
                        <a:rPr sz="1875">
                          <a:solidFill>
                            <a:srgbClr val="112F43"/>
                          </a:solidFill>
                          <a:latin typeface="Aptos"/>
                          <a:ea typeface="Aptos"/>
                          <a:cs typeface="Aptos"/>
                        </a:rPr>
                        <a:t>Protocol integration</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Key authentication, derivation and authenticated encryption</a:t>
                      </a:r>
                    </a:p>
                  </a:txBody>
                  <a:tcPr marL="142875" marR="114300" marT="104775" marB="85725" anchor="ctr">
                    <a:solidFill>
                      <a:srgbClr val="F7F5F0"/>
                    </a:solidFill>
                  </a:tcPr>
                </a:tc>
              </a:tr>
            </a:tbl>
          </a:graphicData>
        </a:graphic>
      </p:graphicFrame>
    </p:spTree>
    <p:extLst>
      <p:ext uri="{BB962C8B-B14F-4D97-AF65-F5344CB8AC3E}">
        <p14:creationId xmlns:p14="http://schemas.microsoft.com/office/powerpoint/2010/main" val="941402284"/>
      </p:ext>
    </p:extLst>
  </p:cSld>
</p:sld>
</file>

<file path=ppt/slides/slide2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D3CD7AA-F29D-4CDF-861D-206788129221}"/>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Selected references: foundations</a:t>
            </a:r>
          </a:p>
        </p:txBody>
      </p:sp>
      <p:sp>
        <p:nvSpPr>
          <p:cNvPr id="2" name="">
            <a:extLst xmlns:a="http://schemas.openxmlformats.org/drawingml/2006/main">
              <a:ext uri="{FF2B5EF4-FFF2-40B4-BE49-F238E27FC236}">
                <a16:creationId xmlns:a16="http://schemas.microsoft.com/office/drawing/2014/main" id="{F30DEB98-7288-4F91-B978-AAD813737ED0}"/>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Technical appendix</a:t>
            </a:r>
          </a:p>
        </p:txBody>
      </p:sp>
      <p:sp>
        <p:nvSpPr>
          <p:cNvPr id="3" name="">
            <a:extLst xmlns:a="http://schemas.openxmlformats.org/drawingml/2006/main">
              <a:ext uri="{FF2B5EF4-FFF2-40B4-BE49-F238E27FC236}">
                <a16:creationId xmlns:a16="http://schemas.microsoft.com/office/drawing/2014/main" id="{C003D0A1-AC8A-44E5-B0F7-BB48D0581132}"/>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24</a:t>
            </a:r>
          </a:p>
        </p:txBody>
      </p:sp>
      <p:sp>
        <p:nvSpPr>
          <p:cNvPr id="4" name="">
            <a:extLst xmlns:a="http://schemas.openxmlformats.org/drawingml/2006/main">
              <a:ext uri="{FF2B5EF4-FFF2-40B4-BE49-F238E27FC236}">
                <a16:creationId xmlns:a16="http://schemas.microsoft.com/office/drawing/2014/main" id="{CFAA2417-19A6-4548-88AF-B92802E05EA0}"/>
              </a:ext>
            </a:extLst>
          </p:cNvPr>
          <p:cNvSpPr>
            <a:spLocks xmlns:a="http://schemas.openxmlformats.org/drawingml/2006/main" noGrp="1"/>
          </p:cNvSpPr>
          <p:nvPr/>
        </p:nvSpPr>
        <p:spPr>
          <a:xfrm xmlns:a="http://schemas.openxmlformats.org/drawingml/2006/main">
            <a:off x="609600" y="1590675"/>
            <a:ext cx="10963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Applebaum, Barak &amp; Wigderson</a:t>
            </a:r>
          </a:p>
        </p:txBody>
      </p:sp>
      <p:sp>
        <p:nvSpPr>
          <p:cNvPr id="5" name="">
            <a:extLst xmlns:a="http://schemas.openxmlformats.org/drawingml/2006/main">
              <a:ext uri="{FF2B5EF4-FFF2-40B4-BE49-F238E27FC236}">
                <a16:creationId xmlns:a16="http://schemas.microsoft.com/office/drawing/2014/main" id="{0EE63AB5-84BE-4FFE-83D3-A62177DDF48F}"/>
              </a:ext>
            </a:extLst>
          </p:cNvPr>
          <p:cNvSpPr>
            <a:spLocks xmlns:a="http://schemas.openxmlformats.org/drawingml/2006/main" noGrp="1"/>
          </p:cNvSpPr>
          <p:nvPr/>
        </p:nvSpPr>
        <p:spPr>
          <a:xfrm xmlns:a="http://schemas.openxmlformats.org/drawingml/2006/main">
            <a:off x="609600" y="1895475"/>
            <a:ext cx="10963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2F43"/>
                </a:solidFill>
                <a:latin typeface="Aptos"/>
                <a:ea typeface="Aptos"/>
                <a:cs typeface="Aptos"/>
              </a:defRPr>
            </a:pPr>
            <a:r>
              <a:rPr sz="1650" b="0">
                <a:solidFill>
                  <a:srgbClr val="112F43"/>
                </a:solidFill>
                <a:latin typeface="Aptos"/>
                <a:ea typeface="Aptos"/>
                <a:cs typeface="Aptos"/>
              </a:rPr>
              <a:t>Public-Key Cryptography from Different Assumptions (2009 / 2010)</a:t>
            </a:r>
          </a:p>
        </p:txBody>
      </p:sp>
      <p:sp>
        <p:nvSpPr>
          <p:cNvPr id="6" name="">
            <a:extLst xmlns:a="http://schemas.openxmlformats.org/drawingml/2006/main">
              <a:ext uri="{FF2B5EF4-FFF2-40B4-BE49-F238E27FC236}">
                <a16:creationId xmlns:a16="http://schemas.microsoft.com/office/drawing/2014/main" id="{2A120AC2-41AD-4B99-9238-7C57CC11A8FB}"/>
              </a:ext>
            </a:extLst>
          </p:cNvPr>
          <p:cNvSpPr>
            <a:spLocks xmlns:a="http://schemas.openxmlformats.org/drawingml/2006/main" noGrp="1"/>
          </p:cNvSpPr>
          <p:nvPr/>
        </p:nvSpPr>
        <p:spPr>
          <a:xfrm xmlns:a="http://schemas.openxmlformats.org/drawingml/2006/main">
            <a:off x="609600" y="2305050"/>
            <a:ext cx="10963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Regev</a:t>
            </a:r>
          </a:p>
        </p:txBody>
      </p:sp>
      <p:sp>
        <p:nvSpPr>
          <p:cNvPr id="7" name="">
            <a:extLst xmlns:a="http://schemas.openxmlformats.org/drawingml/2006/main">
              <a:ext uri="{FF2B5EF4-FFF2-40B4-BE49-F238E27FC236}">
                <a16:creationId xmlns:a16="http://schemas.microsoft.com/office/drawing/2014/main" id="{33E02022-6596-44A9-BDE4-D1E45A0DF573}"/>
              </a:ext>
            </a:extLst>
          </p:cNvPr>
          <p:cNvSpPr>
            <a:spLocks xmlns:a="http://schemas.openxmlformats.org/drawingml/2006/main" noGrp="1"/>
          </p:cNvSpPr>
          <p:nvPr/>
        </p:nvSpPr>
        <p:spPr>
          <a:xfrm xmlns:a="http://schemas.openxmlformats.org/drawingml/2006/main">
            <a:off x="609600" y="2609850"/>
            <a:ext cx="10963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2F43"/>
                </a:solidFill>
                <a:latin typeface="Aptos"/>
                <a:ea typeface="Aptos"/>
                <a:cs typeface="Aptos"/>
              </a:defRPr>
            </a:pPr>
            <a:r>
              <a:rPr sz="1650" b="0">
                <a:solidFill>
                  <a:srgbClr val="112F43"/>
                </a:solidFill>
                <a:latin typeface="Aptos"/>
                <a:ea typeface="Aptos"/>
                <a:cs typeface="Aptos"/>
              </a:rPr>
              <a:t>On Lattices, Learning with Errors, Random Linear Codes, and Cryptography</a:t>
            </a:r>
          </a:p>
        </p:txBody>
      </p:sp>
      <p:sp>
        <p:nvSpPr>
          <p:cNvPr id="8" name="">
            <a:extLst xmlns:a="http://schemas.openxmlformats.org/drawingml/2006/main">
              <a:ext uri="{FF2B5EF4-FFF2-40B4-BE49-F238E27FC236}">
                <a16:creationId xmlns:a16="http://schemas.microsoft.com/office/drawing/2014/main" id="{A5C973F8-4E74-40C6-92E7-74A42EA36579}"/>
              </a:ext>
            </a:extLst>
          </p:cNvPr>
          <p:cNvSpPr>
            <a:spLocks xmlns:a="http://schemas.openxmlformats.org/drawingml/2006/main" noGrp="1"/>
          </p:cNvSpPr>
          <p:nvPr/>
        </p:nvSpPr>
        <p:spPr>
          <a:xfrm xmlns:a="http://schemas.openxmlformats.org/drawingml/2006/main">
            <a:off x="609600" y="3019425"/>
            <a:ext cx="10963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Langlois &amp; Stehlé</a:t>
            </a:r>
          </a:p>
        </p:txBody>
      </p:sp>
      <p:sp>
        <p:nvSpPr>
          <p:cNvPr id="9" name="">
            <a:extLst xmlns:a="http://schemas.openxmlformats.org/drawingml/2006/main">
              <a:ext uri="{FF2B5EF4-FFF2-40B4-BE49-F238E27FC236}">
                <a16:creationId xmlns:a16="http://schemas.microsoft.com/office/drawing/2014/main" id="{C393D4AA-76EE-4AFF-91D0-8853AA6FFB5D}"/>
              </a:ext>
            </a:extLst>
          </p:cNvPr>
          <p:cNvSpPr>
            <a:spLocks xmlns:a="http://schemas.openxmlformats.org/drawingml/2006/main" noGrp="1"/>
          </p:cNvSpPr>
          <p:nvPr/>
        </p:nvSpPr>
        <p:spPr>
          <a:xfrm xmlns:a="http://schemas.openxmlformats.org/drawingml/2006/main">
            <a:off x="609600" y="3324225"/>
            <a:ext cx="10963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2F43"/>
                </a:solidFill>
                <a:latin typeface="Aptos"/>
                <a:ea typeface="Aptos"/>
                <a:cs typeface="Aptos"/>
              </a:defRPr>
            </a:pPr>
            <a:r>
              <a:rPr sz="1650" b="0">
                <a:solidFill>
                  <a:srgbClr val="112F43"/>
                </a:solidFill>
                <a:latin typeface="Aptos"/>
                <a:ea typeface="Aptos"/>
                <a:cs typeface="Aptos"/>
              </a:rPr>
              <a:t>Worst-Case to Average-Case Reductions for Module Lattices</a:t>
            </a:r>
          </a:p>
        </p:txBody>
      </p:sp>
      <p:sp>
        <p:nvSpPr>
          <p:cNvPr id="10" name="">
            <a:extLst xmlns:a="http://schemas.openxmlformats.org/drawingml/2006/main">
              <a:ext uri="{FF2B5EF4-FFF2-40B4-BE49-F238E27FC236}">
                <a16:creationId xmlns:a16="http://schemas.microsoft.com/office/drawing/2014/main" id="{967166CF-7814-46D6-A320-230F46C8C15D}"/>
              </a:ext>
            </a:extLst>
          </p:cNvPr>
          <p:cNvSpPr>
            <a:spLocks xmlns:a="http://schemas.openxmlformats.org/drawingml/2006/main" noGrp="1"/>
          </p:cNvSpPr>
          <p:nvPr/>
        </p:nvSpPr>
        <p:spPr>
          <a:xfrm xmlns:a="http://schemas.openxmlformats.org/drawingml/2006/main">
            <a:off x="609600" y="3733800"/>
            <a:ext cx="10963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Yu &amp; Zhang</a:t>
            </a:r>
          </a:p>
        </p:txBody>
      </p:sp>
      <p:sp>
        <p:nvSpPr>
          <p:cNvPr id="11" name="">
            <a:extLst xmlns:a="http://schemas.openxmlformats.org/drawingml/2006/main">
              <a:ext uri="{FF2B5EF4-FFF2-40B4-BE49-F238E27FC236}">
                <a16:creationId xmlns:a16="http://schemas.microsoft.com/office/drawing/2014/main" id="{C53FA2A1-E8E2-4595-ADFA-65C3A1526D96}"/>
              </a:ext>
            </a:extLst>
          </p:cNvPr>
          <p:cNvSpPr>
            <a:spLocks xmlns:a="http://schemas.openxmlformats.org/drawingml/2006/main" noGrp="1"/>
          </p:cNvSpPr>
          <p:nvPr/>
        </p:nvSpPr>
        <p:spPr>
          <a:xfrm xmlns:a="http://schemas.openxmlformats.org/drawingml/2006/main">
            <a:off x="609600" y="4038600"/>
            <a:ext cx="10963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2F43"/>
                </a:solidFill>
                <a:latin typeface="Aptos"/>
                <a:ea typeface="Aptos"/>
                <a:cs typeface="Aptos"/>
              </a:defRPr>
            </a:pPr>
            <a:r>
              <a:rPr sz="1650" b="0">
                <a:solidFill>
                  <a:srgbClr val="112F43"/>
                </a:solidFill>
                <a:latin typeface="Aptos"/>
                <a:ea typeface="Aptos"/>
                <a:cs typeface="Aptos"/>
              </a:rPr>
              <a:t>Public-Key Encryption from Constant-Noise LPN (CRYPTO 2016)</a:t>
            </a:r>
          </a:p>
        </p:txBody>
      </p:sp>
      <p:sp>
        <p:nvSpPr>
          <p:cNvPr id="12" name="">
            <a:extLst xmlns:a="http://schemas.openxmlformats.org/drawingml/2006/main">
              <a:ext uri="{FF2B5EF4-FFF2-40B4-BE49-F238E27FC236}">
                <a16:creationId xmlns:a16="http://schemas.microsoft.com/office/drawing/2014/main" id="{B6CFE006-BEA3-479C-A7DA-CFF3BFD8DC07}"/>
              </a:ext>
            </a:extLst>
          </p:cNvPr>
          <p:cNvSpPr>
            <a:spLocks xmlns:a="http://schemas.openxmlformats.org/drawingml/2006/main" noGrp="1"/>
          </p:cNvSpPr>
          <p:nvPr/>
        </p:nvSpPr>
        <p:spPr>
          <a:xfrm xmlns:a="http://schemas.openxmlformats.org/drawingml/2006/main">
            <a:off x="609600" y="4448175"/>
            <a:ext cx="10963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NIST FIPS 203</a:t>
            </a:r>
          </a:p>
        </p:txBody>
      </p:sp>
      <p:sp>
        <p:nvSpPr>
          <p:cNvPr id="13" name="">
            <a:extLst xmlns:a="http://schemas.openxmlformats.org/drawingml/2006/main">
              <a:ext uri="{FF2B5EF4-FFF2-40B4-BE49-F238E27FC236}">
                <a16:creationId xmlns:a16="http://schemas.microsoft.com/office/drawing/2014/main" id="{8B33E5AF-AEAD-43E8-9466-D467D0C77B2A}"/>
              </a:ext>
            </a:extLst>
          </p:cNvPr>
          <p:cNvSpPr>
            <a:spLocks xmlns:a="http://schemas.openxmlformats.org/drawingml/2006/main" noGrp="1"/>
          </p:cNvSpPr>
          <p:nvPr/>
        </p:nvSpPr>
        <p:spPr>
          <a:xfrm xmlns:a="http://schemas.openxmlformats.org/drawingml/2006/main">
            <a:off x="609600" y="4752975"/>
            <a:ext cx="10963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2F43"/>
                </a:solidFill>
                <a:latin typeface="Aptos"/>
                <a:ea typeface="Aptos"/>
                <a:cs typeface="Aptos"/>
              </a:defRPr>
            </a:pPr>
            <a:r>
              <a:rPr sz="1650" b="0">
                <a:solidFill>
                  <a:srgbClr val="112F43"/>
                </a:solidFill>
                <a:latin typeface="Aptos"/>
                <a:ea typeface="Aptos"/>
                <a:cs typeface="Aptos"/>
              </a:rPr>
              <a:t>Module-Lattice-Based Key-Encapsulation Mechanism Standard (2024)</a:t>
            </a:r>
          </a:p>
        </p:txBody>
      </p:sp>
      <p:sp>
        <p:nvSpPr>
          <p:cNvPr id="14" name="">
            <a:extLst xmlns:a="http://schemas.openxmlformats.org/drawingml/2006/main">
              <a:ext uri="{FF2B5EF4-FFF2-40B4-BE49-F238E27FC236}">
                <a16:creationId xmlns:a16="http://schemas.microsoft.com/office/drawing/2014/main" id="{E0216FEA-7328-40FA-BAA7-3A25F3E801AD}"/>
              </a:ext>
            </a:extLst>
          </p:cNvPr>
          <p:cNvSpPr>
            <a:spLocks xmlns:a="http://schemas.openxmlformats.org/drawingml/2006/main" noGrp="1"/>
          </p:cNvSpPr>
          <p:nvPr/>
        </p:nvSpPr>
        <p:spPr>
          <a:xfrm xmlns:a="http://schemas.openxmlformats.org/drawingml/2006/main">
            <a:off x="609600" y="5162550"/>
            <a:ext cx="10963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Holenstein &amp; Renner</a:t>
            </a:r>
          </a:p>
        </p:txBody>
      </p:sp>
      <p:sp>
        <p:nvSpPr>
          <p:cNvPr id="15" name="">
            <a:extLst xmlns:a="http://schemas.openxmlformats.org/drawingml/2006/main">
              <a:ext uri="{FF2B5EF4-FFF2-40B4-BE49-F238E27FC236}">
                <a16:creationId xmlns:a16="http://schemas.microsoft.com/office/drawing/2014/main" id="{DD13BA95-54B4-42FD-A0B7-7C2F10AEC2D5}"/>
              </a:ext>
            </a:extLst>
          </p:cNvPr>
          <p:cNvSpPr>
            <a:spLocks xmlns:a="http://schemas.openxmlformats.org/drawingml/2006/main" noGrp="1"/>
          </p:cNvSpPr>
          <p:nvPr/>
        </p:nvSpPr>
        <p:spPr>
          <a:xfrm xmlns:a="http://schemas.openxmlformats.org/drawingml/2006/main">
            <a:off x="609600" y="5467350"/>
            <a:ext cx="10963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2F43"/>
                </a:solidFill>
                <a:latin typeface="Aptos"/>
                <a:ea typeface="Aptos"/>
                <a:cs typeface="Aptos"/>
              </a:defRPr>
            </a:pPr>
            <a:r>
              <a:rPr sz="1650" b="0">
                <a:solidFill>
                  <a:srgbClr val="112F43"/>
                </a:solidFill>
                <a:latin typeface="Aptos"/>
                <a:ea typeface="Aptos"/>
                <a:cs typeface="Aptos"/>
              </a:rPr>
              <a:t>One-Way Secret-Key Agreement and Applications to Circuit Polarization and Immunization (2005)</a:t>
            </a:r>
          </a:p>
        </p:txBody>
      </p:sp>
    </p:spTree>
    <p:extLst>
      <p:ext uri="{BB962C8B-B14F-4D97-AF65-F5344CB8AC3E}">
        <p14:creationId xmlns:p14="http://schemas.microsoft.com/office/powerpoint/2010/main" val="1651088320"/>
      </p:ext>
    </p:extLst>
  </p:cSld>
</p:sld>
</file>

<file path=ppt/slides/slide2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DFD9186-83AB-4ACC-863B-39DC49D5FF44}"/>
              </a:ext>
            </a:extLst>
          </p:cNvPr>
          <p:cNvSpPr>
            <a:spLocks xmlns:a="http://schemas.openxmlformats.org/drawingml/2006/main" noGrp="1"/>
          </p:cNvSpPr>
          <p:nvPr/>
        </p:nvSpPr>
        <p:spPr>
          <a:xfrm xmlns:a="http://schemas.openxmlformats.org/drawingml/2006/main">
            <a:off x="609600" y="428625"/>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Selected references: current research</a:t>
            </a:r>
          </a:p>
        </p:txBody>
      </p:sp>
      <p:sp>
        <p:nvSpPr>
          <p:cNvPr id="2" name="">
            <a:extLst xmlns:a="http://schemas.openxmlformats.org/drawingml/2006/main">
              <a:ext uri="{FF2B5EF4-FFF2-40B4-BE49-F238E27FC236}">
                <a16:creationId xmlns:a16="http://schemas.microsoft.com/office/drawing/2014/main" id="{ADA558C6-1CE6-408C-9DB8-A74CAB9639D7}"/>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Technical appendix</a:t>
            </a:r>
          </a:p>
        </p:txBody>
      </p:sp>
      <p:sp>
        <p:nvSpPr>
          <p:cNvPr id="3" name="">
            <a:extLst xmlns:a="http://schemas.openxmlformats.org/drawingml/2006/main">
              <a:ext uri="{FF2B5EF4-FFF2-40B4-BE49-F238E27FC236}">
                <a16:creationId xmlns:a16="http://schemas.microsoft.com/office/drawing/2014/main" id="{A15806FC-786D-40E9-8B80-983C691E2F3C}"/>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25</a:t>
            </a:r>
          </a:p>
        </p:txBody>
      </p:sp>
      <p:sp>
        <p:nvSpPr>
          <p:cNvPr id="4" name="">
            <a:extLst xmlns:a="http://schemas.openxmlformats.org/drawingml/2006/main">
              <a:ext uri="{FF2B5EF4-FFF2-40B4-BE49-F238E27FC236}">
                <a16:creationId xmlns:a16="http://schemas.microsoft.com/office/drawing/2014/main" id="{1A48DAAD-7D2E-4916-A35F-7AC6CF791328}"/>
              </a:ext>
            </a:extLst>
          </p:cNvPr>
          <p:cNvSpPr>
            <a:spLocks xmlns:a="http://schemas.openxmlformats.org/drawingml/2006/main" noGrp="1"/>
          </p:cNvSpPr>
          <p:nvPr/>
        </p:nvSpPr>
        <p:spPr>
          <a:xfrm xmlns:a="http://schemas.openxmlformats.org/drawingml/2006/main">
            <a:off x="609600" y="1590675"/>
            <a:ext cx="10963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Bogdanov, Kothari &amp; Rosen (2023)</a:t>
            </a:r>
          </a:p>
        </p:txBody>
      </p:sp>
      <p:sp>
        <p:nvSpPr>
          <p:cNvPr id="5" name="">
            <a:extLst xmlns:a="http://schemas.openxmlformats.org/drawingml/2006/main">
              <a:ext uri="{FF2B5EF4-FFF2-40B4-BE49-F238E27FC236}">
                <a16:creationId xmlns:a16="http://schemas.microsoft.com/office/drawing/2014/main" id="{9F0C268B-0C61-4EB4-B075-6CAB71822BF5}"/>
              </a:ext>
            </a:extLst>
          </p:cNvPr>
          <p:cNvSpPr>
            <a:spLocks xmlns:a="http://schemas.openxmlformats.org/drawingml/2006/main" noGrp="1"/>
          </p:cNvSpPr>
          <p:nvPr/>
        </p:nvSpPr>
        <p:spPr>
          <a:xfrm xmlns:a="http://schemas.openxmlformats.org/drawingml/2006/main">
            <a:off x="609600" y="1895475"/>
            <a:ext cx="10963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2F43"/>
                </a:solidFill>
                <a:latin typeface="Aptos"/>
                <a:ea typeface="Aptos"/>
                <a:cs typeface="Aptos"/>
              </a:defRPr>
            </a:pPr>
            <a:r>
              <a:rPr sz="1650" b="0">
                <a:solidFill>
                  <a:srgbClr val="112F43"/>
                </a:solidFill>
                <a:latin typeface="Aptos"/>
                <a:ea typeface="Aptos"/>
                <a:cs typeface="Aptos"/>
              </a:rPr>
              <a:t>Public-Key Encryption, Local Pseudorandom Generators, and the Low-Degree Method</a:t>
            </a:r>
          </a:p>
        </p:txBody>
      </p:sp>
      <p:sp>
        <p:nvSpPr>
          <p:cNvPr id="6" name="">
            <a:extLst xmlns:a="http://schemas.openxmlformats.org/drawingml/2006/main">
              <a:ext uri="{FF2B5EF4-FFF2-40B4-BE49-F238E27FC236}">
                <a16:creationId xmlns:a16="http://schemas.microsoft.com/office/drawing/2014/main" id="{B9CC83A4-633A-4506-96B8-5D1C996B5D3B}"/>
              </a:ext>
            </a:extLst>
          </p:cNvPr>
          <p:cNvSpPr>
            <a:spLocks xmlns:a="http://schemas.openxmlformats.org/drawingml/2006/main" noGrp="1"/>
          </p:cNvSpPr>
          <p:nvPr/>
        </p:nvSpPr>
        <p:spPr>
          <a:xfrm xmlns:a="http://schemas.openxmlformats.org/drawingml/2006/main">
            <a:off x="609600" y="2305050"/>
            <a:ext cx="10963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Dao &amp; Jain (2025)</a:t>
            </a:r>
          </a:p>
        </p:txBody>
      </p:sp>
      <p:sp>
        <p:nvSpPr>
          <p:cNvPr id="7" name="">
            <a:extLst xmlns:a="http://schemas.openxmlformats.org/drawingml/2006/main">
              <a:ext uri="{FF2B5EF4-FFF2-40B4-BE49-F238E27FC236}">
                <a16:creationId xmlns:a16="http://schemas.microsoft.com/office/drawing/2014/main" id="{3EE6633E-16F4-46AB-AFAD-45589C3A45D1}"/>
              </a:ext>
            </a:extLst>
          </p:cNvPr>
          <p:cNvSpPr>
            <a:spLocks xmlns:a="http://schemas.openxmlformats.org/drawingml/2006/main" noGrp="1"/>
          </p:cNvSpPr>
          <p:nvPr/>
        </p:nvSpPr>
        <p:spPr>
          <a:xfrm xmlns:a="http://schemas.openxmlformats.org/drawingml/2006/main">
            <a:off x="609600" y="2609850"/>
            <a:ext cx="10963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2F43"/>
                </a:solidFill>
                <a:latin typeface="Aptos"/>
                <a:ea typeface="Aptos"/>
                <a:cs typeface="Aptos"/>
              </a:defRPr>
            </a:pPr>
            <a:r>
              <a:rPr sz="1650" b="0">
                <a:solidFill>
                  <a:srgbClr val="112F43"/>
                </a:solidFill>
                <a:latin typeface="Aptos"/>
                <a:ea typeface="Aptos"/>
                <a:cs typeface="Aptos"/>
              </a:rPr>
              <a:t>Lossy Cryptography from Code-Based Assumptions: Dense-Sparse LPN</a:t>
            </a:r>
          </a:p>
        </p:txBody>
      </p:sp>
      <p:sp>
        <p:nvSpPr>
          <p:cNvPr id="8" name="">
            <a:extLst xmlns:a="http://schemas.openxmlformats.org/drawingml/2006/main">
              <a:ext uri="{FF2B5EF4-FFF2-40B4-BE49-F238E27FC236}">
                <a16:creationId xmlns:a16="http://schemas.microsoft.com/office/drawing/2014/main" id="{BCA95DEE-3DE5-48D9-AA0F-A2D00A930B97}"/>
              </a:ext>
            </a:extLst>
          </p:cNvPr>
          <p:cNvSpPr>
            <a:spLocks xmlns:a="http://schemas.openxmlformats.org/drawingml/2006/main" noGrp="1"/>
          </p:cNvSpPr>
          <p:nvPr/>
        </p:nvSpPr>
        <p:spPr>
          <a:xfrm xmlns:a="http://schemas.openxmlformats.org/drawingml/2006/main">
            <a:off x="609600" y="3019425"/>
            <a:ext cx="10963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Hair &amp; Sahai (April 2026 preprint)</a:t>
            </a:r>
          </a:p>
        </p:txBody>
      </p:sp>
      <p:sp>
        <p:nvSpPr>
          <p:cNvPr id="9" name="">
            <a:extLst xmlns:a="http://schemas.openxmlformats.org/drawingml/2006/main">
              <a:ext uri="{FF2B5EF4-FFF2-40B4-BE49-F238E27FC236}">
                <a16:creationId xmlns:a16="http://schemas.microsoft.com/office/drawing/2014/main" id="{2DE31CF0-CA19-4E6F-A6A3-283EC541AAE3}"/>
              </a:ext>
            </a:extLst>
          </p:cNvPr>
          <p:cNvSpPr>
            <a:spLocks xmlns:a="http://schemas.openxmlformats.org/drawingml/2006/main" noGrp="1"/>
          </p:cNvSpPr>
          <p:nvPr/>
        </p:nvSpPr>
        <p:spPr>
          <a:xfrm xmlns:a="http://schemas.openxmlformats.org/drawingml/2006/main">
            <a:off x="609600" y="3324225"/>
            <a:ext cx="10963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2F43"/>
                </a:solidFill>
                <a:latin typeface="Aptos"/>
                <a:ea typeface="Aptos"/>
                <a:cs typeface="Aptos"/>
              </a:defRPr>
            </a:pPr>
            <a:r>
              <a:rPr sz="1650" b="0">
                <a:solidFill>
                  <a:srgbClr val="112F43"/>
                </a:solidFill>
                <a:latin typeface="Aptos"/>
                <a:ea typeface="Aptos"/>
                <a:cs typeface="Aptos"/>
              </a:rPr>
              <a:t>Public Key Encryption from High-Corruption Constraint Satisfaction Problems</a:t>
            </a:r>
          </a:p>
        </p:txBody>
      </p:sp>
      <p:sp>
        <p:nvSpPr>
          <p:cNvPr id="10" name="">
            <a:extLst xmlns:a="http://schemas.openxmlformats.org/drawingml/2006/main">
              <a:ext uri="{FF2B5EF4-FFF2-40B4-BE49-F238E27FC236}">
                <a16:creationId xmlns:a16="http://schemas.microsoft.com/office/drawing/2014/main" id="{F90D50B1-D3A8-4534-B407-B5CBEF927E6C}"/>
              </a:ext>
            </a:extLst>
          </p:cNvPr>
          <p:cNvSpPr>
            <a:spLocks xmlns:a="http://schemas.openxmlformats.org/drawingml/2006/main" noGrp="1"/>
          </p:cNvSpPr>
          <p:nvPr/>
        </p:nvSpPr>
        <p:spPr>
          <a:xfrm xmlns:a="http://schemas.openxmlformats.org/drawingml/2006/main">
            <a:off x="609600" y="3733800"/>
            <a:ext cx="10963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HQC team (22 August 2025)</a:t>
            </a:r>
          </a:p>
        </p:txBody>
      </p:sp>
      <p:sp>
        <p:nvSpPr>
          <p:cNvPr id="11" name="">
            <a:extLst xmlns:a="http://schemas.openxmlformats.org/drawingml/2006/main">
              <a:ext uri="{FF2B5EF4-FFF2-40B4-BE49-F238E27FC236}">
                <a16:creationId xmlns:a16="http://schemas.microsoft.com/office/drawing/2014/main" id="{094265C9-D457-4C00-BF47-ADC58593CAAB}"/>
              </a:ext>
            </a:extLst>
          </p:cNvPr>
          <p:cNvSpPr>
            <a:spLocks xmlns:a="http://schemas.openxmlformats.org/drawingml/2006/main" noGrp="1"/>
          </p:cNvSpPr>
          <p:nvPr/>
        </p:nvSpPr>
        <p:spPr>
          <a:xfrm xmlns:a="http://schemas.openxmlformats.org/drawingml/2006/main">
            <a:off x="609600" y="4038600"/>
            <a:ext cx="10963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2F43"/>
                </a:solidFill>
                <a:latin typeface="Aptos"/>
                <a:ea typeface="Aptos"/>
                <a:cs typeface="Aptos"/>
              </a:defRPr>
            </a:pPr>
            <a:r>
              <a:rPr sz="1650" b="0">
                <a:solidFill>
                  <a:srgbClr val="112F43"/>
                </a:solidFill>
                <a:latin typeface="Aptos"/>
                <a:ea typeface="Aptos"/>
                <a:cs typeface="Aptos"/>
              </a:rPr>
              <a:t>HQC specification and NIST selection status</a:t>
            </a:r>
          </a:p>
        </p:txBody>
      </p:sp>
      <p:sp>
        <p:nvSpPr>
          <p:cNvPr id="12" name="">
            <a:extLst xmlns:a="http://schemas.openxmlformats.org/drawingml/2006/main">
              <a:ext uri="{FF2B5EF4-FFF2-40B4-BE49-F238E27FC236}">
                <a16:creationId xmlns:a16="http://schemas.microsoft.com/office/drawing/2014/main" id="{AAE22BA9-F49B-4A34-8259-16EB2A8C63A2}"/>
              </a:ext>
            </a:extLst>
          </p:cNvPr>
          <p:cNvSpPr>
            <a:spLocks xmlns:a="http://schemas.openxmlformats.org/drawingml/2006/main" noGrp="1"/>
          </p:cNvSpPr>
          <p:nvPr/>
        </p:nvSpPr>
        <p:spPr>
          <a:xfrm xmlns:a="http://schemas.openxmlformats.org/drawingml/2006/main">
            <a:off x="609600" y="4448175"/>
            <a:ext cx="10963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Hofheinz, Hövelmanns &amp; Kiltz (2017)</a:t>
            </a:r>
          </a:p>
        </p:txBody>
      </p:sp>
      <p:sp>
        <p:nvSpPr>
          <p:cNvPr id="13" name="">
            <a:extLst xmlns:a="http://schemas.openxmlformats.org/drawingml/2006/main">
              <a:ext uri="{FF2B5EF4-FFF2-40B4-BE49-F238E27FC236}">
                <a16:creationId xmlns:a16="http://schemas.microsoft.com/office/drawing/2014/main" id="{240DB16D-CB3B-4C68-AF9C-C315AF053007}"/>
              </a:ext>
            </a:extLst>
          </p:cNvPr>
          <p:cNvSpPr>
            <a:spLocks xmlns:a="http://schemas.openxmlformats.org/drawingml/2006/main" noGrp="1"/>
          </p:cNvSpPr>
          <p:nvPr/>
        </p:nvSpPr>
        <p:spPr>
          <a:xfrm xmlns:a="http://schemas.openxmlformats.org/drawingml/2006/main">
            <a:off x="609600" y="4752975"/>
            <a:ext cx="10963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2F43"/>
                </a:solidFill>
                <a:latin typeface="Aptos"/>
                <a:ea typeface="Aptos"/>
                <a:cs typeface="Aptos"/>
              </a:defRPr>
            </a:pPr>
            <a:r>
              <a:rPr sz="1650" b="0">
                <a:solidFill>
                  <a:srgbClr val="112F43"/>
                </a:solidFill>
                <a:latin typeface="Aptos"/>
                <a:ea typeface="Aptos"/>
                <a:cs typeface="Aptos"/>
              </a:rPr>
              <a:t>A Modular Analysis of the Fujisaki–Okamoto Transformation</a:t>
            </a:r>
          </a:p>
        </p:txBody>
      </p:sp>
      <p:sp>
        <p:nvSpPr>
          <p:cNvPr id="14" name="">
            <a:extLst xmlns:a="http://schemas.openxmlformats.org/drawingml/2006/main">
              <a:ext uri="{FF2B5EF4-FFF2-40B4-BE49-F238E27FC236}">
                <a16:creationId xmlns:a16="http://schemas.microsoft.com/office/drawing/2014/main" id="{291D2623-4539-43AF-A923-48911D1010E3}"/>
              </a:ext>
            </a:extLst>
          </p:cNvPr>
          <p:cNvSpPr>
            <a:spLocks xmlns:a="http://schemas.openxmlformats.org/drawingml/2006/main" noGrp="1"/>
          </p:cNvSpPr>
          <p:nvPr/>
        </p:nvSpPr>
        <p:spPr>
          <a:xfrm xmlns:a="http://schemas.openxmlformats.org/drawingml/2006/main">
            <a:off x="609600" y="5162550"/>
            <a:ext cx="10963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NIST SP 800-227 (2025)</a:t>
            </a:r>
          </a:p>
        </p:txBody>
      </p:sp>
      <p:sp>
        <p:nvSpPr>
          <p:cNvPr id="15" name="">
            <a:extLst xmlns:a="http://schemas.openxmlformats.org/drawingml/2006/main">
              <a:ext uri="{FF2B5EF4-FFF2-40B4-BE49-F238E27FC236}">
                <a16:creationId xmlns:a16="http://schemas.microsoft.com/office/drawing/2014/main" id="{49634DD5-3A14-4641-84A3-2B39254099A2}"/>
              </a:ext>
            </a:extLst>
          </p:cNvPr>
          <p:cNvSpPr>
            <a:spLocks xmlns:a="http://schemas.openxmlformats.org/drawingml/2006/main" noGrp="1"/>
          </p:cNvSpPr>
          <p:nvPr/>
        </p:nvSpPr>
        <p:spPr>
          <a:xfrm xmlns:a="http://schemas.openxmlformats.org/drawingml/2006/main">
            <a:off x="609600" y="5467350"/>
            <a:ext cx="10963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2F43"/>
                </a:solidFill>
                <a:latin typeface="Aptos"/>
                <a:ea typeface="Aptos"/>
                <a:cs typeface="Aptos"/>
              </a:defRPr>
            </a:pPr>
            <a:r>
              <a:rPr sz="1650" b="0">
                <a:solidFill>
                  <a:srgbClr val="112F43"/>
                </a:solidFill>
                <a:latin typeface="Aptos"/>
                <a:ea typeface="Aptos"/>
                <a:cs typeface="Aptos"/>
              </a:rPr>
              <a:t>Recommendations for Key-Encapsulation Mechanisms</a:t>
            </a:r>
          </a:p>
        </p:txBody>
      </p:sp>
    </p:spTree>
    <p:extLst>
      <p:ext uri="{BB962C8B-B14F-4D97-AF65-F5344CB8AC3E}">
        <p14:creationId xmlns:p14="http://schemas.microsoft.com/office/powerpoint/2010/main" val="2503899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2026-10-06T01:57:15.3310000Z</dcterms:created>
  <dcterms:modified xsi:type="dcterms:W3CDTF">2026-10-06T01:57:15.3310000Z</dcterms:modified>
</coreProperties>
</file>