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slides/charts/chart1.xml" ContentType="application/vnd.openxmlformats-officedocument.drawingml.chart+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slides/charts/chart2.xml" ContentType="application/vnd.openxmlformats-officedocument.drawingml.chart+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3.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d7b30de2a2d647ba" /><Relationship Type="http://schemas.openxmlformats.org/officeDocument/2006/relationships/extended-properties" Target="/docProps/app.xml" Id="R8ced3c68a86b46be" /><Relationship Type="http://schemas.openxmlformats.org/officeDocument/2006/relationships/officeDocument" Target="/ppt/presentation.xml" Id="Rae4480ed537141c5" /></Relationships>
</file>

<file path=ppt/presentation.xml><?xml version="1.0" encoding="utf-8"?>
<p:presentation xmlns:p="http://schemas.openxmlformats.org/presentationml/2006/main">
  <p:sldMasterIdLst>
    <p:sldMasterId xmlns:r="http://schemas.openxmlformats.org/officeDocument/2006/relationships" id="2147483648" r:id="R3cdc3af2d4ec44ef"/>
  </p:sldMasterIdLst>
  <p:notesMasterIdLst>
    <p:notesMasterId xmlns:r="http://schemas.openxmlformats.org/officeDocument/2006/relationships" r:id="R206e4d3c8f0d48ea"/>
  </p:notesMasterIdLst>
  <p:sldIdLst>
    <p:sldId xmlns:r="http://schemas.openxmlformats.org/officeDocument/2006/relationships" id="256" r:id="Rade587e0d2d9413d"/>
    <p:sldId xmlns:r="http://schemas.openxmlformats.org/officeDocument/2006/relationships" id="257" r:id="R0b88e7d973814e5c"/>
    <p:sldId xmlns:r="http://schemas.openxmlformats.org/officeDocument/2006/relationships" id="258" r:id="R7f563d2b98714e26"/>
    <p:sldId xmlns:r="http://schemas.openxmlformats.org/officeDocument/2006/relationships" id="259" r:id="Rb830d93585934f72"/>
    <p:sldId xmlns:r="http://schemas.openxmlformats.org/officeDocument/2006/relationships" id="260" r:id="R29aaae2030d649e3"/>
    <p:sldId xmlns:r="http://schemas.openxmlformats.org/officeDocument/2006/relationships" id="261" r:id="R5f6f34c191a84d47"/>
    <p:sldId xmlns:r="http://schemas.openxmlformats.org/officeDocument/2006/relationships" id="262" r:id="R4e7f4323a0294834"/>
    <p:sldId xmlns:r="http://schemas.openxmlformats.org/officeDocument/2006/relationships" id="263" r:id="R61af44de44f947e0"/>
    <p:sldId xmlns:r="http://schemas.openxmlformats.org/officeDocument/2006/relationships" id="264" r:id="R706362fcce8e4800"/>
    <p:sldId xmlns:r="http://schemas.openxmlformats.org/officeDocument/2006/relationships" id="265" r:id="R269cc485cc054b6a"/>
    <p:sldId xmlns:r="http://schemas.openxmlformats.org/officeDocument/2006/relationships" id="266" r:id="R896dfa31a8df4708"/>
    <p:sldId xmlns:r="http://schemas.openxmlformats.org/officeDocument/2006/relationships" id="267" r:id="Re616483113e04c9f"/>
    <p:sldId xmlns:r="http://schemas.openxmlformats.org/officeDocument/2006/relationships" id="268" r:id="Rfebee67f6ec84efc"/>
    <p:sldId xmlns:r="http://schemas.openxmlformats.org/officeDocument/2006/relationships" id="269" r:id="R73b4eeb2934a4385"/>
    <p:sldId xmlns:r="http://schemas.openxmlformats.org/officeDocument/2006/relationships" id="270" r:id="R234370eba60c4ab6"/>
    <p:sldId xmlns:r="http://schemas.openxmlformats.org/officeDocument/2006/relationships" id="271" r:id="Rc9bcbb9c7273465a"/>
    <p:sldId xmlns:r="http://schemas.openxmlformats.org/officeDocument/2006/relationships" id="272" r:id="R691beb638aa94918"/>
    <p:sldId xmlns:r="http://schemas.openxmlformats.org/officeDocument/2006/relationships" id="273" r:id="R0dd297a8da8d471d"/>
    <p:sldId xmlns:r="http://schemas.openxmlformats.org/officeDocument/2006/relationships" id="274" r:id="Rccdd51f402034980"/>
    <p:sldId xmlns:r="http://schemas.openxmlformats.org/officeDocument/2006/relationships" id="275" r:id="R8b559794bdb5490f"/>
    <p:sldId xmlns:r="http://schemas.openxmlformats.org/officeDocument/2006/relationships" id="276" r:id="R9d6ad94491984a6d"/>
    <p:sldId xmlns:r="http://schemas.openxmlformats.org/officeDocument/2006/relationships" id="277" r:id="Rf0aa91d640244156"/>
    <p:sldId xmlns:r="http://schemas.openxmlformats.org/officeDocument/2006/relationships" id="278" r:id="Rcf32fd1db8ba451c"/>
    <p:sldId xmlns:r="http://schemas.openxmlformats.org/officeDocument/2006/relationships" id="279" r:id="R2995b6c832a344f0"/>
    <p:sldId xmlns:r="http://schemas.openxmlformats.org/officeDocument/2006/relationships" id="280" r:id="R0c9bf53730f6490c"/>
    <p:sldId xmlns:r="http://schemas.openxmlformats.org/officeDocument/2006/relationships" id="281" r:id="Re24d058254e74e32"/>
    <p:sldId xmlns:r="http://schemas.openxmlformats.org/officeDocument/2006/relationships" id="282" r:id="Rc61df25048474f3a"/>
    <p:sldId xmlns:r="http://schemas.openxmlformats.org/officeDocument/2006/relationships" id="283" r:id="R226a813b56d6487a"/>
    <p:sldId xmlns:r="http://schemas.openxmlformats.org/officeDocument/2006/relationships" id="284" r:id="R9594f703e84249a0"/>
    <p:sldId xmlns:r="http://schemas.openxmlformats.org/officeDocument/2006/relationships" id="285" r:id="R46b864c75aa344b2"/>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c96e77bb23d34367" /><Relationship Type="http://schemas.openxmlformats.org/officeDocument/2006/relationships/slideMaster" Target="/ppt/slideMasters/slideMaster1.xml" Id="R3cdc3af2d4ec44ef" /><Relationship Type="http://schemas.openxmlformats.org/officeDocument/2006/relationships/notesMaster" Target="/ppt/notesMasters/notesMaster1.xml" Id="R206e4d3c8f0d48ea" /><Relationship Type="http://schemas.openxmlformats.org/officeDocument/2006/relationships/presProps" Target="/ppt/presProps.xml" Id="Rf39a004023ba4f30" /><Relationship Type="http://schemas.openxmlformats.org/officeDocument/2006/relationships/tableStyles" Target="/ppt/tableStyles.xml" Id="R1626bfa32a43433b" /><Relationship Type="http://schemas.openxmlformats.org/officeDocument/2006/relationships/slide" Target="/ppt/slides/slide1.xml" Id="Rade587e0d2d9413d" /><Relationship Type="http://schemas.openxmlformats.org/officeDocument/2006/relationships/slide" Target="/ppt/slides/slide2.xml" Id="R0b88e7d973814e5c" /><Relationship Type="http://schemas.openxmlformats.org/officeDocument/2006/relationships/slide" Target="/ppt/slides/slide3.xml" Id="R7f563d2b98714e26" /><Relationship Type="http://schemas.openxmlformats.org/officeDocument/2006/relationships/slide" Target="/ppt/slides/slide4.xml" Id="Rb830d93585934f72" /><Relationship Type="http://schemas.openxmlformats.org/officeDocument/2006/relationships/slide" Target="/ppt/slides/slide5.xml" Id="R29aaae2030d649e3" /><Relationship Type="http://schemas.openxmlformats.org/officeDocument/2006/relationships/slide" Target="/ppt/slides/slide6.xml" Id="R5f6f34c191a84d47" /><Relationship Type="http://schemas.openxmlformats.org/officeDocument/2006/relationships/slide" Target="/ppt/slides/slide7.xml" Id="R4e7f4323a0294834" /><Relationship Type="http://schemas.openxmlformats.org/officeDocument/2006/relationships/slide" Target="/ppt/slides/slide8.xml" Id="R61af44de44f947e0" /><Relationship Type="http://schemas.openxmlformats.org/officeDocument/2006/relationships/slide" Target="/ppt/slides/slide9.xml" Id="R706362fcce8e4800" /><Relationship Type="http://schemas.openxmlformats.org/officeDocument/2006/relationships/slide" Target="/ppt/slides/slide10.xml" Id="R269cc485cc054b6a" /><Relationship Type="http://schemas.openxmlformats.org/officeDocument/2006/relationships/slide" Target="/ppt/slides/slide11.xml" Id="R896dfa31a8df4708" /><Relationship Type="http://schemas.openxmlformats.org/officeDocument/2006/relationships/slide" Target="/ppt/slides/slide12.xml" Id="Re616483113e04c9f" /><Relationship Type="http://schemas.openxmlformats.org/officeDocument/2006/relationships/slide" Target="/ppt/slides/slide13.xml" Id="Rfebee67f6ec84efc" /><Relationship Type="http://schemas.openxmlformats.org/officeDocument/2006/relationships/slide" Target="/ppt/slides/slide14.xml" Id="R73b4eeb2934a4385" /><Relationship Type="http://schemas.openxmlformats.org/officeDocument/2006/relationships/slide" Target="/ppt/slides/slide15.xml" Id="R234370eba60c4ab6" /><Relationship Type="http://schemas.openxmlformats.org/officeDocument/2006/relationships/slide" Target="/ppt/slides/slide16.xml" Id="Rc9bcbb9c7273465a" /><Relationship Type="http://schemas.openxmlformats.org/officeDocument/2006/relationships/slide" Target="/ppt/slides/slide17.xml" Id="R691beb638aa94918" /><Relationship Type="http://schemas.openxmlformats.org/officeDocument/2006/relationships/slide" Target="/ppt/slides/slide18.xml" Id="R0dd297a8da8d471d" /><Relationship Type="http://schemas.openxmlformats.org/officeDocument/2006/relationships/slide" Target="/ppt/slides/slide19.xml" Id="Rccdd51f402034980" /><Relationship Type="http://schemas.openxmlformats.org/officeDocument/2006/relationships/slide" Target="/ppt/slides/slide20.xml" Id="R8b559794bdb5490f" /><Relationship Type="http://schemas.openxmlformats.org/officeDocument/2006/relationships/slide" Target="/ppt/slides/slide21.xml" Id="R9d6ad94491984a6d" /><Relationship Type="http://schemas.openxmlformats.org/officeDocument/2006/relationships/slide" Target="/ppt/slides/slide22.xml" Id="Rf0aa91d640244156" /><Relationship Type="http://schemas.openxmlformats.org/officeDocument/2006/relationships/slide" Target="/ppt/slides/slide23.xml" Id="Rcf32fd1db8ba451c" /><Relationship Type="http://schemas.openxmlformats.org/officeDocument/2006/relationships/slide" Target="/ppt/slides/slide24.xml" Id="R2995b6c832a344f0" /><Relationship Type="http://schemas.openxmlformats.org/officeDocument/2006/relationships/slide" Target="/ppt/slides/slide25.xml" Id="R0c9bf53730f6490c" /><Relationship Type="http://schemas.openxmlformats.org/officeDocument/2006/relationships/slide" Target="/ppt/slides/slide26.xml" Id="Re24d058254e74e32" /><Relationship Type="http://schemas.openxmlformats.org/officeDocument/2006/relationships/slide" Target="/ppt/slides/slide27.xml" Id="Rc61df25048474f3a" /><Relationship Type="http://schemas.openxmlformats.org/officeDocument/2006/relationships/slide" Target="/ppt/slides/slide28.xml" Id="R226a813b56d6487a" /><Relationship Type="http://schemas.openxmlformats.org/officeDocument/2006/relationships/slide" Target="/ppt/slides/slide29.xml" Id="R9594f703e84249a0" /><Relationship Type="http://schemas.openxmlformats.org/officeDocument/2006/relationships/slide" Target="/ppt/slides/slide30.xml" Id="R46b864c75aa344b2"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05db0caf31cb472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c6400fc8742469f" /><Relationship Type="http://schemas.openxmlformats.org/officeDocument/2006/relationships/notesMaster" Target="/ppt/notesMasters/notesMaster1.xml" Id="Rc781302c94554745" /></Relationships>
</file>

<file path=ppt/notesSlides/_rels/notesSlide2.xml.rels>&#65279;<?xml version="1.0" encoding="utf-8"?><Relationships xmlns="http://schemas.openxmlformats.org/package/2006/relationships"><Relationship Type="http://schemas.openxmlformats.org/officeDocument/2006/relationships/slide" Target="/ppt/slides/slide2.xml" Id="R10a825a89ed44c28" /><Relationship Type="http://schemas.openxmlformats.org/officeDocument/2006/relationships/notesMaster" Target="/ppt/notesMasters/notesMaster1.xml" Id="Rd32cce2843ad4926" /></Relationships>
</file>

<file path=ppt/notesSlides/_rels/notesSlide3.xml.rels>&#65279;<?xml version="1.0" encoding="utf-8"?><Relationships xmlns="http://schemas.openxmlformats.org/package/2006/relationships"><Relationship Type="http://schemas.openxmlformats.org/officeDocument/2006/relationships/slide" Target="/ppt/slides/slide3.xml" Id="R29ab2fb740d4424b" /><Relationship Type="http://schemas.openxmlformats.org/officeDocument/2006/relationships/notesMaster" Target="/ppt/notesMasters/notesMaster1.xml" Id="Rbf957e27f3484a16" /></Relationships>
</file>

<file path=ppt/notesSlides/_rels/notesSlide4.xml.rels>&#65279;<?xml version="1.0" encoding="utf-8"?><Relationships xmlns="http://schemas.openxmlformats.org/package/2006/relationships"><Relationship Type="http://schemas.openxmlformats.org/officeDocument/2006/relationships/slide" Target="/ppt/slides/slide4.xml" Id="R79af55be005f4ce3" /><Relationship Type="http://schemas.openxmlformats.org/officeDocument/2006/relationships/notesMaster" Target="/ppt/notesMasters/notesMaster1.xml" Id="Rb18ddd76164c4d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1e30419ab97d4241" /><Relationship Type="http://schemas.openxmlformats.org/officeDocument/2006/relationships/notesMaster" Target="/ppt/notesMasters/notesMaster1.xml" Id="Rcb8cd247614a492f" /></Relationships>
</file>

<file path=ppt/notesSlides/_rels/notesSlide6.xml.rels>&#65279;<?xml version="1.0" encoding="utf-8"?><Relationships xmlns="http://schemas.openxmlformats.org/package/2006/relationships"><Relationship Type="http://schemas.openxmlformats.org/officeDocument/2006/relationships/slide" Target="/ppt/slides/slide6.xml" Id="Ra5972fc5679c4561" /><Relationship Type="http://schemas.openxmlformats.org/officeDocument/2006/relationships/notesMaster" Target="/ppt/notesMasters/notesMaster1.xml" Id="R17b8188edde34381" /></Relationships>
</file>

<file path=ppt/notesSlides/_rels/notesSlide7.xml.rels>&#65279;<?xml version="1.0" encoding="utf-8"?><Relationships xmlns="http://schemas.openxmlformats.org/package/2006/relationships"><Relationship Type="http://schemas.openxmlformats.org/officeDocument/2006/relationships/slide" Target="/ppt/slides/slide7.xml" Id="Rbe348b25d1e341cd" /><Relationship Type="http://schemas.openxmlformats.org/officeDocument/2006/relationships/notesMaster" Target="/ppt/notesMasters/notesMaster1.xml" Id="R23fd0422f75b4c10"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aa67348aa84d2b" /><Relationship Type="http://schemas.openxmlformats.org/officeDocument/2006/relationships/notesMaster" Target="/ppt/notesMasters/notesMaster1.xml" Id="R641331576cf246f1" /></Relationships>
</file>

<file path=ppt/notesSlides/_rels/notesSlide9.xml.rels>&#65279;<?xml version="1.0" encoding="utf-8"?><Relationships xmlns="http://schemas.openxmlformats.org/package/2006/relationships"><Relationship Type="http://schemas.openxmlformats.org/officeDocument/2006/relationships/slide" Target="/ppt/slides/slide9.xml" Id="Re5f5353c8a304528" /><Relationship Type="http://schemas.openxmlformats.org/officeDocument/2006/relationships/notesMaster" Target="/ppt/notesMasters/notesMaster1.xml" Id="R0dd94ea84a1b4b70"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dbe7bbebf924295" /><Relationship Type="http://schemas.openxmlformats.org/officeDocument/2006/relationships/notesMaster" Target="/ppt/notesMasters/notesMaster1.xml" Id="R4b7a6498e8104e94"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10cc703766e44307" /><Relationship Type="http://schemas.openxmlformats.org/officeDocument/2006/relationships/notesMaster" Target="/ppt/notesMasters/notesMaster1.xml" Id="R0a3b7e708b144e0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ad7700f903aa42ac" /><Relationship Type="http://schemas.openxmlformats.org/officeDocument/2006/relationships/notesMaster" Target="/ppt/notesMasters/notesMaster1.xml" Id="R13bad40e778e462c"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6e8ecc2ca27344fd" /><Relationship Type="http://schemas.openxmlformats.org/officeDocument/2006/relationships/notesMaster" Target="/ppt/notesMasters/notesMaster1.xml" Id="Rbc395e685b674ed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ab8a1a3cbd414dde" /><Relationship Type="http://schemas.openxmlformats.org/officeDocument/2006/relationships/notesMaster" Target="/ppt/notesMasters/notesMaster1.xml" Id="Rcb831c4ddaa34b49"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a968b955216348fe" /><Relationship Type="http://schemas.openxmlformats.org/officeDocument/2006/relationships/notesMaster" Target="/ppt/notesMasters/notesMaster1.xml" Id="R83bd68ff371146f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436780fb49ed4cdb" /><Relationship Type="http://schemas.openxmlformats.org/officeDocument/2006/relationships/notesMaster" Target="/ppt/notesMasters/notesMaster1.xml" Id="R5bf82859ee7143d1"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88bfa826cd7478a" /><Relationship Type="http://schemas.openxmlformats.org/officeDocument/2006/relationships/notesMaster" Target="/ppt/notesMasters/notesMaster1.xml" Id="R779f276119884688"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18ee4f2939b94efd" /><Relationship Type="http://schemas.openxmlformats.org/officeDocument/2006/relationships/notesMaster" Target="/ppt/notesMasters/notesMaster1.xml" Id="R7393ac5e20fd4e6f"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beff7a7510e84907" /><Relationship Type="http://schemas.openxmlformats.org/officeDocument/2006/relationships/notesMaster" Target="/ppt/notesMasters/notesMaster1.xml" Id="Rf0021a003ac84d8a"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fa5fb076cedb4b23" /><Relationship Type="http://schemas.openxmlformats.org/officeDocument/2006/relationships/notesMaster" Target="/ppt/notesMasters/notesMaster1.xml" Id="Rb32d52797fac47a0"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6cf23f7ce43b4598" /><Relationship Type="http://schemas.openxmlformats.org/officeDocument/2006/relationships/notesMaster" Target="/ppt/notesMasters/notesMaster1.xml" Id="Rff00d98ad2d94b31"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d248d74bd82d4b18" /><Relationship Type="http://schemas.openxmlformats.org/officeDocument/2006/relationships/notesMaster" Target="/ppt/notesMasters/notesMaster1.xml" Id="R8fdb664f7de94d4b"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4f2b72ad03ab43fb" /><Relationship Type="http://schemas.openxmlformats.org/officeDocument/2006/relationships/notesMaster" Target="/ppt/notesMasters/notesMaster1.xml" Id="R85347a93106349fc"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b10bad3258946f3" /><Relationship Type="http://schemas.openxmlformats.org/officeDocument/2006/relationships/notesMaster" Target="/ppt/notesMasters/notesMaster1.xml" Id="Rdfa0d94ea42a4177"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d81bf694c05e48b9" /><Relationship Type="http://schemas.openxmlformats.org/officeDocument/2006/relationships/notesMaster" Target="/ppt/notesMasters/notesMaster1.xml" Id="R148ae2a9436a4479"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01baaa192de0417e" /><Relationship Type="http://schemas.openxmlformats.org/officeDocument/2006/relationships/notesMaster" Target="/ppt/notesMasters/notesMaster1.xml" Id="R64b2146b6b114c4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052030efc3bf46a4" /><Relationship Type="http://schemas.openxmlformats.org/officeDocument/2006/relationships/notesMaster" Target="/ppt/notesMasters/notesMaster1.xml" Id="Rcb2f670f1e93453f"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a657533d058c40a2" /><Relationship Type="http://schemas.openxmlformats.org/officeDocument/2006/relationships/notesMaster" Target="/ppt/notesMasters/notesMaster1.xml" Id="Rea0461fb932b44c4"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02622e8411c545ab" /><Relationship Type="http://schemas.openxmlformats.org/officeDocument/2006/relationships/notesMaster" Target="/ppt/notesMasters/notesMaster1.xml" Id="R421cb74742064c08"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92c5ef14eeb34332" /><Relationship Type="http://schemas.openxmlformats.org/officeDocument/2006/relationships/notesMaster" Target="/ppt/notesMasters/notesMaster1.xml" Id="R6a81539c4eaa43fd"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technical case study for cryptography colleagues. Main talk: slides 1–24, approximately 25–30 minutes. Appendix: slides 25–30. Assessment date: 6 October 2026. Lucrative is interpreted as attractive for adoption and deployment, without estimating commercial revenue. RSA adoption explanations are a synthesis of its capabilities and standards, not a causal market study. The ABW programme is a proposal, not a claimed secure new scheme. Cover artwork is conceptual.</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Synthesis. A mathematical foundation enables a primitive, but a deployable cryptosystem also needs a secure full interface, practical implementation and an ecosystem. This is a research framing rather than a measured ranking. RSA and Kyber serve different historical contexts and primitive roles.</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Interpretive case study grounded in the 1978 proposal. Public encryption without sending the decryption key and publicly verifiable signatures were compelling capabilities. The original proposal described both. The inference is that combining such roles in a coherent arithmetic family helped practical appeal. Public-key authenticity still requires an authentication mechanism. Use separate keys and modern encodings for distinct roles.</a:t>
            </a:r>
          </a:p>
          <a:p xmlns:a="http://schemas.openxmlformats.org/drawingml/2006/main">
            <a:r>
              <a:t/>
            </a:r>
          </a:p>
          <a:p xmlns:a="http://schemas.openxmlformats.org/drawingml/2006/main">
            <a:r>
              <a:t>Sources</a:t>
            </a:r>
          </a:p>
          <a:p xmlns:a="http://schemas.openxmlformats.org/drawingml/2006/main">
            <a:r>
              <a:t>https://people.csail.mit.edu/rivest/Rsapaper.pdf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Algebraic summary. For two distinct odd primes and a valid exponent, ed=1 mod lambda(N). Public exponentiation has an inverse computable from the factorization. Correctness follows modulo both primes and CRT. Factoring gives the private exponent, while general equivalence between RSA inversion and factoring is not known. Formulas are the RSA primitive, not a secure standalone encryption scheme.</a:t>
            </a:r>
          </a:p>
          <a:p xmlns:a="http://schemas.openxmlformats.org/drawingml/2006/main">
            <a:r>
              <a:t/>
            </a:r>
          </a:p>
          <a:p xmlns:a="http://schemas.openxmlformats.org/drawingml/2006/main">
            <a:r>
              <a:t>Sources</a:t>
            </a:r>
          </a:p>
          <a:p xmlns:a="http://schemas.openxmlformats.org/drawingml/2006/main">
            <a:r>
              <a:t>https://people.csail.mit.edu/rivest/Rsapaper.pdf</a:t>
            </a:r>
          </a:p>
          <a:p xmlns:a="http://schemas.openxmlformats.org/drawingml/2006/main">
            <a:r>
              <a:t>https://www.rfc-editor.org/rfc/rfc8017.html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operation count. For the conventional public exponent 65537=2^16+1, left-to-right binary exponentiation initialized with the base needs 16 modular squarings and one additional modular multiplication. This counts arithmetic operations, not CPU cycles, and excludes encoding and hashing. Private operations have a larger exponent, can use CRT and require side-channel and fault protections. The asymmetry is useful when many parties verify signatures or encrypt to a recipient.</a:t>
            </a:r>
          </a:p>
          <a:p xmlns:a="http://schemas.openxmlformats.org/drawingml/2006/main">
            <a:r>
              <a:t/>
            </a:r>
          </a:p>
          <a:p xmlns:a="http://schemas.openxmlformats.org/drawingml/2006/main">
            <a:r>
              <a:t>Sources</a:t>
            </a:r>
          </a:p>
          <a:p xmlns:a="http://schemas.openxmlformats.org/drawingml/2006/main">
            <a:r>
              <a:t>https://www.rfc-editor.org/rfc/rfc8017.html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Interpretive adoption lesson. PKCS #1 specifies RSAES-OAEP and RSASSA-PSS with their respective security goals. RFC 5280 defines the certificate framework for associating public keys with subjects and verifying paths. These standards do not prove that RSA was always the fastest choice; they illustrate reusable integration machinery. Padding, encoding and protocol validation are integral to the deployed cryptosystem.</a:t>
            </a:r>
          </a:p>
          <a:p xmlns:a="http://schemas.openxmlformats.org/drawingml/2006/main">
            <a:r>
              <a:t/>
            </a:r>
          </a:p>
          <a:p xmlns:a="http://schemas.openxmlformats.org/drawingml/2006/main">
            <a:r>
              <a:t>Sources</a:t>
            </a:r>
          </a:p>
          <a:p xmlns:a="http://schemas.openxmlformats.org/drawingml/2006/main">
            <a:r>
              <a:t>https://www.rfc-editor.org/rfc/rfc8017.html</a:t>
            </a:r>
          </a:p>
          <a:p xmlns:a="http://schemas.openxmlformats.org/drawingml/2006/main">
            <a:r>
              <a:t>https://www.rfc-editor.org/rfc/rfc5280.html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RSA primitive outputs are deterministic and multiplicative. Randomized encoding is essential for modern encryption security. Private-key implementations face timing and fault attacks. Static RSA key transport does not provide forward secrecy on later compromise of the long-term decryption key. TLS 1.3 removed static RSA cipher suites while retaining RSA signature support. Shor gives a polynomial-time quantum factoring algorithm, threatening RSA on a sufficiently capable quantum computer.</a:t>
            </a:r>
          </a:p>
          <a:p xmlns:a="http://schemas.openxmlformats.org/drawingml/2006/main">
            <a:r>
              <a:t/>
            </a:r>
          </a:p>
          <a:p xmlns:a="http://schemas.openxmlformats.org/drawingml/2006/main">
            <a:r>
              <a:t>Sources</a:t>
            </a:r>
          </a:p>
          <a:p xmlns:a="http://schemas.openxmlformats.org/drawingml/2006/main">
            <a:r>
              <a:t>https://www.rfc-editor.org/rfc/rfc8017.html</a:t>
            </a:r>
          </a:p>
          <a:p xmlns:a="http://schemas.openxmlformats.org/drawingml/2006/main">
            <a:r>
              <a:t>https://www.rfc-editor.org/rfc/rfc8446.html</a:t>
            </a:r>
          </a:p>
          <a:p xmlns:a="http://schemas.openxmlformats.org/drawingml/2006/main">
            <a:r>
              <a:t>https://arxiv.org/abs/quant-ph/9508027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Kyber is the submitted KEM family. NIST selected it in 2022. FIPS 203 published ML-KEM in August 2024, derived from Kyber with specified modifications. Treat specification identity as material: old Kyber code and test vectors cannot be assumed ML-KEM conformant. ML-KEM establishes a shared symmetric key, and is not a digital signature scheme. Historical milestones are factual rather than a current deployment share estimate.</a:t>
            </a:r>
          </a:p>
          <a:p xmlns:a="http://schemas.openxmlformats.org/drawingml/2006/main">
            <a:r>
              <a:t/>
            </a:r>
          </a:p>
          <a:p xmlns:a="http://schemas.openxmlformats.org/drawingml/2006/main">
            <a:r>
              <a:t>Sources</a:t>
            </a:r>
          </a:p>
          <a:p xmlns:a="http://schemas.openxmlformats.org/drawingml/2006/main">
            <a:r>
              <a:t>https://pq-crystals.org/kyber/resources.shtml</a:t>
            </a:r>
          </a:p>
          <a:p xmlns:a="http://schemas.openxmlformats.org/drawingml/2006/main">
            <a:r>
              <a:t>https://csrc.nist.gov/projects/post-quantum-cryptography/post-quantum-cryptography-standardization/selected-algorithms</a:t>
            </a:r>
          </a:p>
          <a:p xmlns:a="http://schemas.openxmlformats.org/drawingml/2006/main">
            <a:r>
              <a:t>https://nvlpubs.nist.gov/nistpubs/FIPS/NIST.FIPS.203.pdf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Simplified uncompressed CPA algebra over Rq=Zq[X]/(X^256+1), q=3329. A is a k by k matrix, k=2,3,4. Short vectors and errors produce a noisy public key and a noisy encryption. Encodings, NTT domain details and compression are omitted here and accounted for in the full specification. The security obligation covers the actual distributions, not any generic small-error choice.</a:t>
            </a:r>
          </a:p>
          <a:p xmlns:a="http://schemas.openxmlformats.org/drawingml/2006/main">
            <a:r>
              <a:t/>
            </a:r>
          </a:p>
          <a:p xmlns:a="http://schemas.openxmlformats.org/drawingml/2006/main">
            <a:r>
              <a:t>Sources</a:t>
            </a:r>
          </a:p>
          <a:p xmlns:a="http://schemas.openxmlformats.org/drawingml/2006/main">
            <a:r>
              <a:t>https://pq-crystals.org/kyber/data/kyber-specification-round3-20210804.pdf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Design lessons from the Kyber specification. Module structure allows fast polynomial arithmetic and scalable module rank, without removing the need for structured-assumption analysis. The NTT speeds multiplication. A public seed expands the public matrix, not the secret. Centered binomial sampling avoids a complex Gaussian sampler. Ciphertext compression introduces additional noise that must remain within the decoding margin. These choices jointly balance implementation costs, correctness and security.</a:t>
            </a:r>
          </a:p>
          <a:p xmlns:a="http://schemas.openxmlformats.org/drawingml/2006/main">
            <a:r>
              <a:t/>
            </a:r>
          </a:p>
          <a:p xmlns:a="http://schemas.openxmlformats.org/drawingml/2006/main">
            <a:r>
              <a:t>Sources</a:t>
            </a:r>
          </a:p>
          <a:p xmlns:a="http://schemas.openxmlformats.org/drawingml/2006/main">
            <a:r>
              <a:t>https://pq-crystals.org/kyber/data/kyber-specification-round3-20210804.pdf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FIPS 203 Tables 2 and 3. Values are bytes. Categories 1,3,5 are NIST comparison targets, not identical concrete attack margins across schemes. Encapsulation keys are public keys. Decapsulation keys in the standard representation are larger and can have seed representations in implementations. The 512,768,1024 names do not denote symmetric security-bit counts.</a:t>
            </a:r>
          </a:p>
          <a:p xmlns:a="http://schemas.openxmlformats.org/drawingml/2006/main">
            <a:r>
              <a:t/>
            </a:r>
          </a:p>
          <a:p xmlns:a="http://schemas.openxmlformats.org/drawingml/2006/main">
            <a:r>
              <a:t>Sources</a:t>
            </a:r>
          </a:p>
          <a:p xmlns:a="http://schemas.openxmlformats.org/drawingml/2006/main">
            <a:r>
              <a:t>https://nvlpubs.nist.gov/nistpubs/FIPS/NIST.FIPS.203.pdf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Calculated sums of specified public-key and ciphertext sizes at category 1. ML-KEM-512: 800+768=1568 bytes. HQC-1 in the August 2025 specification: 2241+4433=6674 bytes. FrodoKEM-640 in the September 2025 proposal: 9616+9752=19368 bytes. This is ordinary FrodoKEM, not ephemeral eFrodoKEM. This chart excludes certificates, transport framing and computation. Category labels are not evidence of equal attack margins.</a:t>
            </a:r>
          </a:p>
          <a:p xmlns:a="http://schemas.openxmlformats.org/drawingml/2006/main">
            <a:r>
              <a:t/>
            </a:r>
          </a:p>
          <a:p xmlns:a="http://schemas.openxmlformats.org/drawingml/2006/main">
            <a:r>
              <a:t>Sources</a:t>
            </a:r>
          </a:p>
          <a:p xmlns:a="http://schemas.openxmlformats.org/drawingml/2006/main">
            <a:r>
              <a:t>https://nvlpubs.nist.gov/nistpubs/FIPS/NIST.FIPS.203.pdf</a:t>
            </a:r>
          </a:p>
          <a:p xmlns:a="http://schemas.openxmlformats.org/drawingml/2006/main">
            <a:r>
              <a:t>https://pqc-hqc.org/doc/hqc_specifications_2025_08_22.pdf</a:t>
            </a:r>
          </a:p>
          <a:p xmlns:a="http://schemas.openxmlformats.org/drawingml/2006/main">
            <a:r>
              <a:t>https://frodokem.org/files/FrodoKEM_standard_proposal_20250929.pdf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NIST’s 2022 assessment favoured Kyber’s broad performance and MLWE evidence. It mentioned NTRU key-generation cost and greater familiarity with MLWE than Saber’s MLWR. Saber sometimes had smaller messages and strong performance, so Kyber was not a universal metric winner. NIST’s 2025 HQC selection addresses diversity from ML-KEM’s math, not a claim that HQC should replace it for general encryption. Historical assessment, not a fresh independent benchmark.</a:t>
            </a:r>
          </a:p>
          <a:p xmlns:a="http://schemas.openxmlformats.org/drawingml/2006/main">
            <a:r>
              <a:t/>
            </a:r>
          </a:p>
          <a:p xmlns:a="http://schemas.openxmlformats.org/drawingml/2006/main">
            <a:r>
              <a:t>Sources</a:t>
            </a:r>
          </a:p>
          <a:p xmlns:a="http://schemas.openxmlformats.org/drawingml/2006/main">
            <a:r>
              <a:t>https://nvlpubs.nist.gov/nistpubs/ir/2022/NIST.IR.8413-upd1.pdf</a:t>
            </a:r>
          </a:p>
          <a:p xmlns:a="http://schemas.openxmlformats.org/drawingml/2006/main">
            <a:r>
              <a:t>https://nvlpubs.nist.gov/nistpubs/ir/2025/NIST.IR.8545.pdf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 KEM API creates a shared secret, with application data protected using symmetric authenticated encryption. Public-key authentication and transcript/context binding are separate protocol obligations. Kyber submission packages contain reference and optimized implementations and test vectors. OpenSSL added ML-KEM functionality in 3.5. FIPS 203 documents two patent licence agreements; neither standards status nor those agreements establish absence of every possible patent or certify a specific deployment. The patent observation is descriptive, not a legal conclusion.</a:t>
            </a:r>
          </a:p>
          <a:p xmlns:a="http://schemas.openxmlformats.org/drawingml/2006/main">
            <a:r>
              <a:t/>
            </a:r>
          </a:p>
          <a:p xmlns:a="http://schemas.openxmlformats.org/drawingml/2006/main">
            <a:r>
              <a:t>Sources</a:t>
            </a:r>
          </a:p>
          <a:p xmlns:a="http://schemas.openxmlformats.org/drawingml/2006/main">
            <a:r>
              <a:t>https://csrc.nist.gov/pubs/sp/800/227/final</a:t>
            </a:r>
          </a:p>
          <a:p xmlns:a="http://schemas.openxmlformats.org/drawingml/2006/main">
            <a:r>
              <a:t>https://pq-crystals.org/kyber/resources.shtml</a:t>
            </a:r>
          </a:p>
          <a:p xmlns:a="http://schemas.openxmlformats.org/drawingml/2006/main">
            <a:r>
              <a:t>https://docs.openssl.org/3.5/man7/EVP_PKEY-ML-KEM/</a:t>
            </a:r>
          </a:p>
          <a:p xmlns:a="http://schemas.openxmlformats.org/drawingml/2006/main">
            <a:r>
              <a:t>https://nvlpubs.nist.gov/nistpubs/FIPS/NIST.FIPS.203.pdf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wire-only amortization calculation. Suppose each recipient public key is transferred once and reused for T encapsulations. B(T)=PK+T*CT. ML-KEM-512 uses 800+768T bytes. Classic McEliece mceliece348864 uses 261120+96T bytes from NIST IR 8545 Table 8. The latter becomes smaller for integer T&gt;=388. No per-session ciphertext compression or shared secret overhead is included. This comparison excludes CPU, key generation, certificate overhead and actual reuse security policies. It does not imply overall superiority.</a:t>
            </a:r>
          </a:p>
          <a:p xmlns:a="http://schemas.openxmlformats.org/drawingml/2006/main">
            <a:r>
              <a:t/>
            </a:r>
          </a:p>
          <a:p xmlns:a="http://schemas.openxmlformats.org/drawingml/2006/main">
            <a:r>
              <a:t>Sources</a:t>
            </a:r>
          </a:p>
          <a:p xmlns:a="http://schemas.openxmlformats.org/drawingml/2006/main">
            <a:r>
              <a:t>https://nvlpubs.nist.gov/nistpubs/FIPS/NIST.FIPS.203.pdf</a:t>
            </a:r>
          </a:p>
          <a:p xmlns:a="http://schemas.openxmlformats.org/drawingml/2006/main">
            <a:r>
              <a:t>https://nvlpubs.nist.gov/nistpubs/ir/2025/NIST.IR.8545.pdf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synthesis of the case studies. The criteria are practical research goals rather than a proof that any one ingredient caused adoption. A new ABW candidate should choose one primitive and one use case, and compare complete constructions at explicitly justified parameters. RSA encryption and signatures should not be conflated with a KEM.</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ABW Search3LIN samples independent rows of weight 3, uniform x and Bernoulli errors, then challenges recovery of the planted x. Definition 5.1 bounds every PPT attacker’s success below 2/3 eventually. Theorem 2 uses m=c n^1.4 and epsilon=n^-0.2/c for suitable c. Exact constants matter. This is an average-case assumption, not a consequence of worst-case NP-hardness. A search instance uses independently sampled rows, while the encryption public key has a planted dependency under a separately analysed sampling law.</a:t>
            </a:r>
          </a:p>
          <a:p xmlns:a="http://schemas.openxmlformats.org/drawingml/2006/main">
            <a:r>
              <a:t/>
            </a:r>
          </a:p>
          <a:p xmlns:a="http://schemas.openxmlformats.org/drawingml/2006/main">
            <a:r>
              <a:t>Sources</a:t>
            </a:r>
          </a:p>
          <a:p xmlns:a="http://schemas.openxmlformats.org/drawingml/2006/main">
            <a:r>
              <a:t>https://www.math.ias.edu/~avi/PUBLICATIONS/MYPAPERS/ABW09/ABW09.pdf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Raw bit scheme: M is public, an indicator s is secret with s^T M=0 and s_m=1. Encryption adds the message at the last coordinate u_m. A short dependency cancels the linear image but preserves a bias against noise. ABW uses amplification to obtain its final passive-security result. This slide separates the mechanism from the full theorem.</a:t>
            </a:r>
          </a:p>
          <a:p xmlns:a="http://schemas.openxmlformats.org/drawingml/2006/main">
            <a:r>
              <a:t/>
            </a:r>
          </a:p>
          <a:p xmlns:a="http://schemas.openxmlformats.org/drawingml/2006/main">
            <a:r>
              <a:t>Sources</a:t>
            </a:r>
          </a:p>
          <a:p xmlns:a="http://schemas.openxmlformats.org/drawingml/2006/main">
            <a:r>
              <a:t>https://www.math.ias.edu/~avi/PUBLICATIONS/MYPAPERS/ABW09/ABW09.pdf</a:t>
            </a:r>
          </a:p>
          <a:p xmlns:a="http://schemas.openxmlformats.org/drawingml/2006/main">
            <a:r>
              <a:t>https://crypto.ethz.ch/publications/files/HolRen05.pdf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computation for independent Bernoulli noise and a fixed secret support of size r. P_odd=[1-(1-2epsilon)^r]/2, giving .0310275555..., .2380584298... and .4309662732... at r=32 for epsilon=.001,.01,.03 respectively. These are illustrative values, not parameters with a security claim. Adding a code or repetition requires an analysis of correlations and decoding tails, rather than assuming independent bit failures or free security amplification.</a:t>
            </a:r>
          </a:p>
          <a:p xmlns:a="http://schemas.openxmlformats.org/drawingml/2006/main">
            <a:r>
              <a:t/>
            </a:r>
          </a:p>
          <a:p xmlns:a="http://schemas.openxmlformats.org/drawingml/2006/main">
            <a:r>
              <a:t>Sources</a:t>
            </a:r>
          </a:p>
          <a:p xmlns:a="http://schemas.openxmlformats.org/drawingml/2006/main">
            <a:r>
              <a:t>https://www.math.ias.edu/~avi/PUBLICATIONS/MYPAPERS/ABW09/ABW09.pdf</a:t>
            </a:r>
          </a:p>
          <a:p xmlns:a="http://schemas.openxmlformats.org/drawingml/2006/main">
            <a:r>
              <a:t>https://crypto.ethz.ch/publications/files/HolRen05.pdf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research direction, not a theorem. Shortening secret relations helps the parity bias, but can make the relation easier to find. Combining outputs or coding the message might lower errors, but shared noise can correlate them. Separately identify the construction for strong secrecy and for correctness: success on one does not imply the other. Useful results include a tighter correctness bound or evidence that the desired tradeoff cannot be reached.</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Proposed algebraic target, not a secure construction. Let S be m by ell and G be public m by ell, with S^T M=0 and S^T G=I_ell. For ell message bits, c=Mx+e+G mu gives S^T c=mu+S^T e. This demonstrates a desired multi-bit cancellation interface. It does not prove suitable key sampling, hidden S, secrecy, capacity or acceptable noise. Many hidden relations can reveal structural features and induce correlated errors. Rounding or hashing does not remove the need for a security reduction.</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design warning. Kyber seeds the public uniform matrix, not an object whose secret planting can be reconstructed from the seed. Suppose an ABW variation publishes rho and M=Expand(rho)+Delta over F2. The public rho allows anyone to compute Delta=M+Expand(rho), potentially exposing where the trapdoor was planted. This need not reveal the entire secret automatically, but it changes the attack surface. Circulant or regular graph restrictions likewise change the distribution. This is an original research caution, not an identified break of ABW.</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Direct deduction for the raw ABW decoder: Dec_s(u_i)=s_i, so chosen unit-vector ciphertexts reveal the secret in m decryption queries. This is not a contradiction of passive security. Obtain a suitable strong CPA primitive before applying a conversion whose hypotheses actually hold. The quantum claim needs quantum-hard assumptions, quantum-valid reductions and a QROM treatment if random oracles are used. Parameters need classical and quantum attack cost estimates and failure-tail bounds. CCA security alone does not authenticate the peer.</a:t>
            </a:r>
          </a:p>
          <a:p xmlns:a="http://schemas.openxmlformats.org/drawingml/2006/main">
            <a:r>
              <a:t/>
            </a:r>
          </a:p>
          <a:p xmlns:a="http://schemas.openxmlformats.org/drawingml/2006/main">
            <a:r>
              <a:t>Sources</a:t>
            </a:r>
          </a:p>
          <a:p xmlns:a="http://schemas.openxmlformats.org/drawingml/2006/main">
            <a:r>
              <a:t>https://people.inf.ethz.ch/dhofheinz/pdf/conf/tcc/HofheinzHK17.pdf</a:t>
            </a:r>
          </a:p>
          <a:p xmlns:a="http://schemas.openxmlformats.org/drawingml/2006/main">
            <a:r>
              <a:t>https://csrc.nist.gov/pubs/sp/800/227/final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Recommended 90-day study, not a promise of a deployable cryptosystem. First define a niche such as a preprovisioned recipient with cached keys and cheap binary arithmetic. Such a niche must still count ciphertext traffic and total energy, and compete with mature implementations. Reproduce the exact ABW sampler and proof assumptions, measure a baseline, then vary one bottleneck. Continuation requires a plausible window supported by proofs and attacks. A negative result is a worthwhile research outcome.</a:t>
            </a:r>
          </a:p>
          <a:p xmlns:a="http://schemas.openxmlformats.org/drawingml/2006/main">
            <a:r>
              <a:t/>
            </a:r>
          </a:p>
          <a:p xmlns:a="http://schemas.openxmlformats.org/drawingml/2006/main">
            <a:r>
              <a:t>Sources</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teaching calculation using conventional toy values. p=61, q=53, N=3233, phi(N)=3120, lambda(N)=780. e=17, d=2753 satisfy ed=1 mod lambda(N), also mod phi(N). 65^17 mod3233=2790 and 2790^2753 mod3233=65. These sizes are trivially insecure. A textbook primitive example does not demonstrate OAEP encryption or PSS signature security.</a:t>
            </a:r>
          </a:p>
          <a:p xmlns:a="http://schemas.openxmlformats.org/drawingml/2006/main">
            <a:r>
              <a:t/>
            </a:r>
          </a:p>
          <a:p xmlns:a="http://schemas.openxmlformats.org/drawingml/2006/main">
            <a:r>
              <a:t>Sources</a:t>
            </a:r>
          </a:p>
          <a:p xmlns:a="http://schemas.openxmlformats.org/drawingml/2006/main">
            <a:r>
              <a:t>https://people.csail.mit.edu/rivest/Rsapaper.pdf</a:t>
            </a:r>
          </a:p>
          <a:p xmlns:a="http://schemas.openxmlformats.org/drawingml/2006/main">
            <a:r>
              <a:t>https://www.rfc-editor.org/rfc/rfc8017.html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Original expansion of the simplified algebra on slide 9. With t=As+e, u=A^T r+e1, v=t^T r+e2+Encode(mu), subtracting s^T u leaves e^T r+e2-s^T e1+Encode(mu). Compression/decompression contributes additional rounding error in the actual scheme. Correctness requires a tail bound for the full resultant noise, not just the public-key error e. FIPS 203 reports heuristic average decapsulation failure rates 2^-138.8,2^-164.8,2^-174.8, averaged over honest seed choices, conditioned on successful randomness generation and modelling hashes/XOFs as random. These are not worst-key or adversarial-ciphertext guarantees.</a:t>
            </a:r>
          </a:p>
          <a:p xmlns:a="http://schemas.openxmlformats.org/drawingml/2006/main">
            <a:r>
              <a:t/>
            </a:r>
          </a:p>
          <a:p xmlns:a="http://schemas.openxmlformats.org/drawingml/2006/main">
            <a:r>
              <a:t>Sources</a:t>
            </a:r>
          </a:p>
          <a:p xmlns:a="http://schemas.openxmlformats.org/drawingml/2006/main">
            <a:r>
              <a:t>https://pq-crystals.org/kyber/data/kyber-specification-round3-20210804.pdf</a:t>
            </a:r>
          </a:p>
          <a:p xmlns:a="http://schemas.openxmlformats.org/drawingml/2006/main">
            <a:r>
              <a:t>https://nvlpubs.nist.gov/nistpubs/FIPS/NIST.FIPS.203.pdf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Sources and exact variants. ML-KEM FIPS203 Table3. HQC Aug2025 Table6. FrodoKEM Sept2025 proposal TableA.5, including a salt, not eFrodo. mceliece348864 from NIST IR8545 Table8. Original sums use only public key and ciphertext. The schemes differ in security maturity, assumptions and concrete margins. No mixed-hardware CPU comparisons were made.</a:t>
            </a:r>
          </a:p>
          <a:p xmlns:a="http://schemas.openxmlformats.org/drawingml/2006/main">
            <a:r>
              <a:t/>
            </a:r>
          </a:p>
          <a:p xmlns:a="http://schemas.openxmlformats.org/drawingml/2006/main">
            <a:r>
              <a:t>Sources</a:t>
            </a:r>
          </a:p>
          <a:p xmlns:a="http://schemas.openxmlformats.org/drawingml/2006/main">
            <a:r>
              <a:t>https://nvlpubs.nist.gov/nistpubs/FIPS/NIST.FIPS.203.pdf</a:t>
            </a:r>
          </a:p>
          <a:p xmlns:a="http://schemas.openxmlformats.org/drawingml/2006/main">
            <a:r>
              <a:t>https://pqc-hqc.org/doc/hqc_specifications_2025_08_22.pdf</a:t>
            </a:r>
          </a:p>
          <a:p xmlns:a="http://schemas.openxmlformats.org/drawingml/2006/main">
            <a:r>
              <a:t>https://frodokem.org/files/FrodoKEM_standard_proposal_20250929.pdf</a:t>
            </a:r>
          </a:p>
          <a:p xmlns:a="http://schemas.openxmlformats.org/drawingml/2006/main">
            <a:r>
              <a:t>https://nvlpubs.nist.gov/nistpubs/ir/2025/NIST.IR.8545.pdf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Literature directions rather than interchangeable assumptions. Bogdanov–Kothari–Rosen 2023 combines ABW proposals with local PRGs and low-degree analysis. Dao–Jain 2024 introduces Dense-Sparse LPN and lossy trapdoor functions, with a modified matrix law. Hair–Sahai April2026 preprint develops PKE from high-corruption CSP conjectures with label-extended factor-graph trapdoors. These works motivate sampler, decoding and proof improvements but do not demonstrate a practical upgrade of fixed-locality ABW. Low-degree evidence does not exclude all efficient attacks.</a:t>
            </a:r>
          </a:p>
          <a:p xmlns:a="http://schemas.openxmlformats.org/drawingml/2006/main">
            <a:r>
              <a:t/>
            </a:r>
          </a:p>
          <a:p xmlns:a="http://schemas.openxmlformats.org/drawingml/2006/main">
            <a:r>
              <a:t>Sources</a:t>
            </a:r>
          </a:p>
          <a:p xmlns:a="http://schemas.openxmlformats.org/drawingml/2006/main">
            <a:r>
              <a:t>https://eprint.iacr.org/2023/1049</a:t>
            </a:r>
          </a:p>
          <a:p xmlns:a="http://schemas.openxmlformats.org/drawingml/2006/main">
            <a:r>
              <a:t>https://eprint.iacr.org/2024/175</a:t>
            </a:r>
          </a:p>
          <a:p xmlns:a="http://schemas.openxmlformats.org/drawingml/2006/main">
            <a:r>
              <a:t>https://arxiv.org/abs/2604.10479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primary sources. Relevant URLs also appear in slide notes. Historical facts and exact standards have been separated from original interpretation and proposed research.</a:t>
            </a:r>
          </a:p>
          <a:p xmlns:a="http://schemas.openxmlformats.org/drawingml/2006/main">
            <a:r>
              <a:t/>
            </a:r>
          </a:p>
          <a:p xmlns:a="http://schemas.openxmlformats.org/drawingml/2006/main">
            <a:r>
              <a:t>Sources</a:t>
            </a:r>
          </a:p>
          <a:p xmlns:a="http://schemas.openxmlformats.org/drawingml/2006/main">
            <a:r>
              <a:t>https://people.csail.mit.edu/rivest/Rsapaper.pdf</a:t>
            </a:r>
          </a:p>
          <a:p xmlns:a="http://schemas.openxmlformats.org/drawingml/2006/main">
            <a:r>
              <a:t>https://www.rfc-editor.org/rfc/rfc8017.html</a:t>
            </a:r>
          </a:p>
          <a:p xmlns:a="http://schemas.openxmlformats.org/drawingml/2006/main">
            <a:r>
              <a:t>https://www.rfc-editor.org/rfc/rfc5280.html</a:t>
            </a:r>
          </a:p>
          <a:p xmlns:a="http://schemas.openxmlformats.org/drawingml/2006/main">
            <a:r>
              <a:t>https://www.rfc-editor.org/rfc/rfc8446.html</a:t>
            </a:r>
          </a:p>
          <a:p xmlns:a="http://schemas.openxmlformats.org/drawingml/2006/main">
            <a:r>
              <a:t>https://pq-crystals.org/kyber/data/kyber-specification-round3-20210804.pdf</a:t>
            </a:r>
          </a:p>
          <a:p xmlns:a="http://schemas.openxmlformats.org/drawingml/2006/main">
            <a:r>
              <a:t>https://nvlpubs.nist.gov/nistpubs/FIPS/NIST.FIPS.203.pdf</a:t>
            </a:r>
          </a:p>
          <a:p xmlns:a="http://schemas.openxmlformats.org/drawingml/2006/main">
            <a:r>
              <a:t>https://nvlpubs.nist.gov/nistpubs/ir/2022/NIST.IR.8413-upd1.pdf</a:t>
            </a:r>
          </a:p>
          <a:p xmlns:a="http://schemas.openxmlformats.org/drawingml/2006/main">
            <a:r>
              <a:t>https://docs.openssl.org/3.5/man7/EVP_PKEY-ML-KEM/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Full primary sources for quantitative comparisons and the proposed research agenda. Sources cover exact candidate versions, weak-encryption amplification, CCA conversion and recent CSP-related construction research. This case study does not assert novelty or security for the proposed changes.</a:t>
            </a:r>
          </a:p>
          <a:p xmlns:a="http://schemas.openxmlformats.org/drawingml/2006/main">
            <a:r>
              <a:t/>
            </a:r>
          </a:p>
          <a:p xmlns:a="http://schemas.openxmlformats.org/drawingml/2006/main">
            <a:r>
              <a:t>Sources</a:t>
            </a:r>
          </a:p>
          <a:p xmlns:a="http://schemas.openxmlformats.org/drawingml/2006/main">
            <a:r>
              <a:t>https://www.math.ias.edu/~avi/PUBLICATIONS/MYPAPERS/ABW09/ABW09.pdf</a:t>
            </a:r>
          </a:p>
          <a:p xmlns:a="http://schemas.openxmlformats.org/drawingml/2006/main">
            <a:r>
              <a:t>https://crypto.ethz.ch/publications/files/HolRen05.pdf</a:t>
            </a:r>
          </a:p>
          <a:p xmlns:a="http://schemas.openxmlformats.org/drawingml/2006/main">
            <a:r>
              <a:t>https://people.inf.ethz.ch/dhofheinz/pdf/conf/tcc/HofheinzHK17.pdf</a:t>
            </a:r>
          </a:p>
          <a:p xmlns:a="http://schemas.openxmlformats.org/drawingml/2006/main">
            <a:r>
              <a:t>https://csrc.nist.gov/pubs/sp/800/227/final</a:t>
            </a:r>
          </a:p>
          <a:p xmlns:a="http://schemas.openxmlformats.org/drawingml/2006/main">
            <a:r>
              <a:t>https://pqc-hqc.org/doc/hqc_specifications_2025_08_22.pdf</a:t>
            </a:r>
          </a:p>
          <a:p xmlns:a="http://schemas.openxmlformats.org/drawingml/2006/main">
            <a:r>
              <a:t>https://frodokem.org/files/FrodoKEM_standard_proposal_20250929.pdf</a:t>
            </a:r>
          </a:p>
          <a:p xmlns:a="http://schemas.openxmlformats.org/drawingml/2006/main">
            <a:r>
              <a:t>https://nvlpubs.nist.gov/nistpubs/ir/2025/NIST.IR.8545.pdf</a:t>
            </a:r>
          </a:p>
          <a:p xmlns:a="http://schemas.openxmlformats.org/drawingml/2006/main">
            <a:r>
              <a:t>https://eprint.iacr.org/2023/1049</a:t>
            </a:r>
          </a:p>
          <a:p xmlns:a="http://schemas.openxmlformats.org/drawingml/2006/main">
            <a:r>
              <a:t>https://eprint.iacr.org/2024/175</a:t>
            </a:r>
          </a:p>
          <a:p xmlns:a="http://schemas.openxmlformats.org/drawingml/2006/main">
            <a:r>
              <a:t>https://arxiv.org/abs/2604.10479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91d7870336a424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2682f787b5954695" /><Relationship Type="http://schemas.openxmlformats.org/officeDocument/2006/relationships/slideLayout" Target="/ppt/slideLayouts/slideLayout1.xml" Id="R7e19296c0cd6483d"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7e19296c0cd6483d"/>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667115e3bec642d8" /><Relationship Type="http://schemas.openxmlformats.org/officeDocument/2006/relationships/image" Target="/ppt/media/image.png" Id="Rb4603ea32c0d4369" /><Relationship Type="http://schemas.openxmlformats.org/officeDocument/2006/relationships/notesSlide" Target="/ppt/notesSlides/notesSlide1.xml" Id="R7908a2c92cc74e6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bf605a1bfa74734" /><Relationship Type="http://schemas.openxmlformats.org/officeDocument/2006/relationships/notesSlide" Target="/ppt/notesSlides/notesSlide2.xml" Id="Rfaf90d5c3556404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3e3fc39380f4252" /><Relationship Type="http://schemas.openxmlformats.org/officeDocument/2006/relationships/notesSlide" Target="/ppt/notesSlides/notesSlide3.xml" Id="R7085abf9c128402e"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82e95716835a48b9" /><Relationship Type="http://schemas.openxmlformats.org/officeDocument/2006/relationships/notesSlide" Target="/ppt/notesSlides/notesSlide4.xml" Id="R442d90ad2c5e4ce5"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74a9c91a469d4d82" /><Relationship Type="http://schemas.openxmlformats.org/officeDocument/2006/relationships/notesSlide" Target="/ppt/notesSlides/notesSlide5.xml" Id="R716ba369ae0b4414"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b7ad562bf5734b0b" /><Relationship Type="http://schemas.openxmlformats.org/officeDocument/2006/relationships/notesSlide" Target="/ppt/notesSlides/notesSlide6.xml" Id="Rd2abe5e5584441ef"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ef17271831b34c18" /><Relationship Type="http://schemas.openxmlformats.org/officeDocument/2006/relationships/notesSlide" Target="/ppt/notesSlides/notesSlide7.xml" Id="R6ee4c4857df34d0c"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4d4a7e84ecb425d" /><Relationship Type="http://schemas.openxmlformats.org/officeDocument/2006/relationships/notesSlide" Target="/ppt/notesSlides/notesSlide8.xml" Id="R1ab862d8a5a94edf"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1cb789163ecf44ed" /><Relationship Type="http://schemas.openxmlformats.org/officeDocument/2006/relationships/notesSlide" Target="/ppt/notesSlides/notesSlide9.xml" Id="R8d1911cb30a74f3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9350c2b29b244583" /><Relationship Type="http://schemas.openxmlformats.org/officeDocument/2006/relationships/notesSlide" Target="/ppt/notesSlides/notesSlide10.xml" Id="Rbf662ad849c24ef9"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a30475584a9041e7" /><Relationship Type="http://schemas.openxmlformats.org/officeDocument/2006/relationships/notesSlide" Target="/ppt/notesSlides/notesSlide11.xml" Id="R70daca63c2504c8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f770d19389634296" /><Relationship Type="http://schemas.openxmlformats.org/officeDocument/2006/relationships/chart" Target="/ppt/slides/charts/chart1.xml" Id="R8c3610231cb444fd" /><Relationship Type="http://schemas.openxmlformats.org/officeDocument/2006/relationships/notesSlide" Target="/ppt/notesSlides/notesSlide12.xml" Id="Rf08d63177fbd4fd8"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579cd11c655b4a8a" /><Relationship Type="http://schemas.openxmlformats.org/officeDocument/2006/relationships/notesSlide" Target="/ppt/notesSlides/notesSlide13.xml" Id="Re63dd7e8321f4c65"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af34433ceb3f4967" /><Relationship Type="http://schemas.openxmlformats.org/officeDocument/2006/relationships/notesSlide" Target="/ppt/notesSlides/notesSlide14.xml" Id="R5022a88ce1524c7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7756ad1b76a84dd9" /><Relationship Type="http://schemas.openxmlformats.org/officeDocument/2006/relationships/chart" Target="/ppt/slides/charts/chart2.xml" Id="R8a5f18467801446c" /><Relationship Type="http://schemas.openxmlformats.org/officeDocument/2006/relationships/notesSlide" Target="/ppt/notesSlides/notesSlide15.xml" Id="Re84955e5cbe14ad7"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112ec88c6d0f4638" /><Relationship Type="http://schemas.openxmlformats.org/officeDocument/2006/relationships/notesSlide" Target="/ppt/notesSlides/notesSlide16.xml" Id="R4ef51bb6d5d5409f"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b44d6994b7574f7e" /><Relationship Type="http://schemas.openxmlformats.org/officeDocument/2006/relationships/image" Target="/ppt/media/image2.png" Id="R78748fdbfcda4fd1" /><Relationship Type="http://schemas.openxmlformats.org/officeDocument/2006/relationships/notesSlide" Target="/ppt/notesSlides/notesSlide17.xml" Id="Re8a504831f674617"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40529c8fd7e4628" /><Relationship Type="http://schemas.openxmlformats.org/officeDocument/2006/relationships/notesSlide" Target="/ppt/notesSlides/notesSlide18.xml" Id="R1b30c0b845b24df8"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05c20c0fcbb44d33" /><Relationship Type="http://schemas.openxmlformats.org/officeDocument/2006/relationships/chart" Target="/ppt/slides/charts/chart3.xml" Id="R83b16561f542455e" /><Relationship Type="http://schemas.openxmlformats.org/officeDocument/2006/relationships/notesSlide" Target="/ppt/notesSlides/notesSlide19.xml" Id="R9629b150f9fd4536"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3cb5272a82584add" /><Relationship Type="http://schemas.openxmlformats.org/officeDocument/2006/relationships/image" Target="/ppt/media/image3.png" Id="R3702e276a7434533" /><Relationship Type="http://schemas.openxmlformats.org/officeDocument/2006/relationships/notesSlide" Target="/ppt/notesSlides/notesSlide20.xml" Id="R3a634e34577c4e8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21d9515d0da84e38" /><Relationship Type="http://schemas.openxmlformats.org/officeDocument/2006/relationships/notesSlide" Target="/ppt/notesSlides/notesSlide21.xml" Id="Rbdfcc4b92f7a4f58"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301a3e97abeb4d39" /><Relationship Type="http://schemas.openxmlformats.org/officeDocument/2006/relationships/notesSlide" Target="/ppt/notesSlides/notesSlide22.xml" Id="R31de21df7c8e4361"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66df6001dede4e1a" /><Relationship Type="http://schemas.openxmlformats.org/officeDocument/2006/relationships/notesSlide" Target="/ppt/notesSlides/notesSlide23.xml" Id="R9ee5a0609ee44b1c"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75e0549750f7450d" /><Relationship Type="http://schemas.openxmlformats.org/officeDocument/2006/relationships/notesSlide" Target="/ppt/notesSlides/notesSlide24.xml" Id="R7f4a1a7bcb8b489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1.xml" Id="Rf82115782096434c" /><Relationship Type="http://schemas.openxmlformats.org/officeDocument/2006/relationships/notesSlide" Target="/ppt/notesSlides/notesSlide25.xml" Id="R5c58b6059f4f4ab5"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385a13f9194f4c3e" /><Relationship Type="http://schemas.openxmlformats.org/officeDocument/2006/relationships/notesSlide" Target="/ppt/notesSlides/notesSlide26.xml" Id="R8d4a9415ad904479"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8282b64b7ea24c69" /><Relationship Type="http://schemas.openxmlformats.org/officeDocument/2006/relationships/notesSlide" Target="/ppt/notesSlides/notesSlide27.xml" Id="R100244cdcbce4920"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fe96727214bc4b71" /><Relationship Type="http://schemas.openxmlformats.org/officeDocument/2006/relationships/notesSlide" Target="/ppt/notesSlides/notesSlide28.xml" Id="R30adabf166db42f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cb59756e79224bfc" /><Relationship Type="http://schemas.openxmlformats.org/officeDocument/2006/relationships/notesSlide" Target="/ppt/notesSlides/notesSlide29.xml" Id="Rf0f32527c5594fee"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6ae23ed764714d10" /><Relationship Type="http://schemas.openxmlformats.org/officeDocument/2006/relationships/notesSlide" Target="/ppt/notesSlides/notesSlide30.xml" Id="Rba972b7394a448bb"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Public key + one ciphertext</c:v>
          </c:tx>
          <c:spPr>
            <a:solidFill xmlns:a="http://schemas.openxmlformats.org/drawingml/2006/main">
              <a:srgbClr val="087F82"/>
            </a:solidFill>
          </c:spPr>
          <c:cat>
            <c:strRef>
              <c:f>'Chart Data'!$A$2:$A$4</c:f>
              <c:strCache>
                <c:ptCount val="3"/>
                <c:pt idx="0">
                  <c:v>ML-KEM-512</c:v>
                </c:pt>
                <c:pt idx="1">
                  <c:v>HQC-1</c:v>
                </c:pt>
                <c:pt idx="2">
                  <c:v>FrodoKEM-640</c:v>
                </c:pt>
              </c:strCache>
            </c:strRef>
          </c:cat>
          <c:val>
            <c:numRef>
              <c:f>'Chart Data'!$B$2:$B$4</c:f>
              <c:numCache>
                <c:formatCode>#,##0</c:formatCode>
                <c:ptCount val="3"/>
                <c:pt idx="0">
                  <c:v>1568</c:v>
                </c:pt>
                <c:pt idx="1">
                  <c:v>6674</c:v>
                </c:pt>
                <c:pt idx="2">
                  <c:v>19368</c:v>
                </c:pt>
              </c:numCache>
            </c:numRef>
          </c:val>
        </c:ser>
        <c:dLbls>
          <c:txPr>
            <a:bodyPr xmlns:a="http://schemas.openxmlformats.org/drawingml/2006/main" anchorCtr="1"/>
            <a:lstStyle xmlns:a="http://schemas.openxmlformats.org/drawingml/2006/main"/>
            <a:p xmlns:a="http://schemas.openxmlformats.org/drawingml/2006/main">
              <a:pPr>
                <a:defRPr sz="1875">
                  <a:solidFill>
                    <a:srgbClr val="112F43"/>
                  </a:solidFill>
                  <a:latin typeface="Aptos"/>
                  <a:ea typeface="Aptos"/>
                  <a:cs typeface="Aptos"/>
                </a:defRPr>
              </a:pPr>
            </a:p>
          </c:txPr>
          <c:dLblPos val="outEnd"/>
          <c:showLegendKey val="0"/>
          <c:showVal val="1"/>
          <c:showCatName val="0"/>
          <c:showSerName val="0"/>
          <c:showPercent val="0"/>
          <c:showBubbleSize val="0"/>
          <c:showLeaderLines val="0"/>
        </c:dLbls>
        <c:gapWidth val="85"/>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800">
                <a:solidFill>
                  <a:srgbClr val="666666"/>
                </a:solidFill>
                <a:latin typeface="Aptos"/>
                <a:ea typeface="Aptos"/>
                <a:cs typeface="Aptos"/>
              </a:defRPr>
            </a:pPr>
          </a:p>
        </c:txPr>
        <c:crossAx val="48672768"/>
      </c:catAx>
      <c:valAx>
        <c:axId val="48672768"/>
        <c:scaling>
          <c:orientation val="minMax"/>
          <c:max val="22000"/>
          <c:min val="0"/>
        </c:scaling>
        <c:delete val="0"/>
        <c:axPos val="l"/>
        <c:majorGridlines>
          <c:spPr>
            <a:ln xmlns:a="http://schemas.openxmlformats.org/drawingml/2006/main" w="4763">
              <a:solidFill>
                <a:srgbClr val="C7D3D4"/>
              </a:solidFill>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Bytes</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666666"/>
                </a:solidFill>
                <a:latin typeface="Aptos"/>
                <a:ea typeface="Aptos"/>
                <a:cs typeface="Aptos"/>
              </a:defRPr>
            </a:pPr>
          </a:p>
        </c:txPr>
        <c:crossAx val="48650112"/>
        <c:crossBetween val="between"/>
        <c:majorUnit val="5000"/>
      </c:valAx>
      <c:spPr>
        <a:solidFill xmlns:a="http://schemas.openxmlformats.org/drawingml/2006/main">
          <a:srgbClr val="F7F5F0"/>
        </a:solidFill>
      </c:spPr>
    </c:plotArea>
    <c:plotVisOnly val="1"/>
  </c:chart>
  <c:spPr>
    <a:solidFill xmlns:a="http://schemas.openxmlformats.org/drawingml/2006/main">
      <a:srgbClr val="F7F5F0"/>
    </a:solidFill>
    <a:ln xmlns:a="http://schemas.openxmlformats.org/drawingml/2006/main" w="0">
      <a:noFill/>
    </a:ln>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lineChart>
        <c:grouping val="standard"/>
        <c:ser>
          <c:idx val="0"/>
          <c:order val="0"/>
          <c:tx>
            <c:v>ML-KEM-512</c:v>
          </c:tx>
          <c:spPr>
            <a:solidFill xmlns:a="http://schemas.openxmlformats.org/drawingml/2006/main">
              <a:srgbClr val="087F82"/>
            </a:solidFill>
          </c:spPr>
          <c:marker>
            <c:symbol val="none"/>
          </c:marker>
          <c:cat>
            <c:numRef>
              <c:f>'Chart Data'!$A$2:$A$7</c:f>
              <c:numCache>
                <c:formatCode>General</c:formatCode>
                <c:ptCount val="6"/>
                <c:pt idx="0">
                  <c:v>0</c:v>
                </c:pt>
                <c:pt idx="1">
                  <c:v>100</c:v>
                </c:pt>
                <c:pt idx="2">
                  <c:v>200</c:v>
                </c:pt>
                <c:pt idx="3">
                  <c:v>300</c:v>
                </c:pt>
                <c:pt idx="4">
                  <c:v>400</c:v>
                </c:pt>
                <c:pt idx="5">
                  <c:v>500</c:v>
                </c:pt>
              </c:numCache>
            </c:numRef>
          </c:cat>
          <c:val>
            <c:numRef>
              <c:f>'Chart Data'!$B$2:$B$7</c:f>
              <c:numCache>
                <c:formatCode>0</c:formatCode>
                <c:ptCount val="6"/>
                <c:pt idx="0">
                  <c:v>0.78125</c:v>
                </c:pt>
                <c:pt idx="1">
                  <c:v>75.78125</c:v>
                </c:pt>
                <c:pt idx="2">
                  <c:v>150.78125</c:v>
                </c:pt>
                <c:pt idx="3">
                  <c:v>225.78125</c:v>
                </c:pt>
                <c:pt idx="4">
                  <c:v>300.78125</c:v>
                </c:pt>
                <c:pt idx="5">
                  <c:v>375.78125</c:v>
                </c:pt>
              </c:numCache>
            </c:numRef>
          </c:val>
        </c:ser>
        <c:ser>
          <c:idx val="1"/>
          <c:order val="1"/>
          <c:tx>
            <c:v>Classic McEliece</c:v>
          </c:tx>
          <c:spPr>
            <a:solidFill xmlns:a="http://schemas.openxmlformats.org/drawingml/2006/main">
              <a:srgbClr val="C45C48"/>
            </a:solidFill>
          </c:spPr>
          <c:marker>
            <c:symbol val="none"/>
          </c:marker>
          <c:cat>
            <c:numRef>
              <c:f>'Chart Data'!$C$2:$C$7</c:f>
              <c:numCache>
                <c:formatCode>General</c:formatCode>
                <c:ptCount val="6"/>
                <c:pt idx="0">
                  <c:v>0</c:v>
                </c:pt>
                <c:pt idx="1">
                  <c:v>100</c:v>
                </c:pt>
                <c:pt idx="2">
                  <c:v>200</c:v>
                </c:pt>
                <c:pt idx="3">
                  <c:v>300</c:v>
                </c:pt>
                <c:pt idx="4">
                  <c:v>400</c:v>
                </c:pt>
                <c:pt idx="5">
                  <c:v>500</c:v>
                </c:pt>
              </c:numCache>
            </c:numRef>
          </c:cat>
          <c:val>
            <c:numRef>
              <c:f>'Chart Data'!$D$2:$D$7</c:f>
              <c:numCache>
                <c:formatCode>0</c:formatCode>
                <c:ptCount val="6"/>
                <c:pt idx="0">
                  <c:v>255</c:v>
                </c:pt>
                <c:pt idx="1">
                  <c:v>264.375</c:v>
                </c:pt>
                <c:pt idx="2">
                  <c:v>273.75</c:v>
                </c:pt>
                <c:pt idx="3">
                  <c:v>283.125</c:v>
                </c:pt>
                <c:pt idx="4">
                  <c:v>292.5</c:v>
                </c:pt>
                <c:pt idx="5">
                  <c:v>301.875</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ptos"/>
                    <a:ea typeface="Aptos"/>
                    <a:cs typeface="Aptos"/>
                  </a:rPr>
                  <a:t>Encapsulations per transferred key</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ptos"/>
                <a:ea typeface="Aptos"/>
                <a:cs typeface="Aptos"/>
              </a:defRPr>
            </a:pPr>
          </a:p>
        </c:txPr>
        <c:crossAx val="48672768"/>
      </c:catAx>
      <c:valAx>
        <c:axId val="48672768"/>
        <c:scaling>
          <c:orientation val="minMax"/>
          <c:max val="400"/>
          <c:min val="0"/>
        </c:scaling>
        <c:delete val="0"/>
        <c:axPos val="l"/>
        <c:majorGridlines>
          <c:spPr>
            <a:ln xmlns:a="http://schemas.openxmlformats.org/drawingml/2006/main" w="4763">
              <a:solidFill>
                <a:srgbClr val="C7D3D4"/>
              </a:solidFill>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Total wire cost (KiB)</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ptos"/>
                <a:ea typeface="Aptos"/>
                <a:cs typeface="Aptos"/>
              </a:defRPr>
            </a:pPr>
          </a:p>
        </c:txPr>
        <c:crossAx val="48650112"/>
        <c:crossBetween val="between"/>
        <c:majorUnit val="100"/>
      </c:valAx>
      <c:spPr>
        <a:solidFill xmlns:a="http://schemas.openxmlformats.org/drawingml/2006/main">
          <a:srgbClr val="F7F5F0"/>
        </a:solidFill>
      </c:spPr>
    </c:plotArea>
    <c:legend>
      <c:legendPos val="b"/>
      <c:overlay val="0"/>
      <c:txPr>
        <a:bodyPr xmlns:a="http://schemas.openxmlformats.org/drawingml/2006/main" anchorCtr="1"/>
        <a:lstStyle xmlns:a="http://schemas.openxmlformats.org/drawingml/2006/main"/>
        <a:p xmlns:a="http://schemas.openxmlformats.org/drawingml/2006/main">
          <a:pPr>
            <a:defRPr sz="1575">
              <a:latin typeface="Aptos"/>
              <a:ea typeface="Aptos"/>
              <a:cs typeface="Aptos"/>
            </a:defRPr>
          </a:pPr>
        </a:p>
      </c:txPr>
    </c:legend>
    <c:plotVisOnly val="1"/>
  </c:chart>
  <c:spPr>
    <a:solidFill xmlns:a="http://schemas.openxmlformats.org/drawingml/2006/main">
      <a:srgbClr val="F7F5F0"/>
    </a:solidFill>
    <a:ln xmlns:a="http://schemas.openxmlformats.org/drawingml/2006/main" w="0">
      <a:noFill/>
    </a:ln>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lineChart>
        <c:grouping val="standard"/>
        <c:ser>
          <c:idx val="0"/>
          <c:order val="0"/>
          <c:tx>
            <c:v>ε = 0.001</c:v>
          </c:tx>
          <c:spPr>
            <a:solidFill xmlns:a="http://schemas.openxmlformats.org/drawingml/2006/main">
              <a:srgbClr val="087F82"/>
            </a:solidFill>
          </c:spPr>
          <c:marker>
            <c:symbol val="none"/>
          </c:marker>
          <c:cat>
            <c:numRef>
              <c:f>'Chart Data'!$A$2:$A$9</c:f>
              <c:numCache>
                <c:formatCode>General</c:formatCode>
                <c:ptCount val="8"/>
                <c:pt idx="0">
                  <c:v>8</c:v>
                </c:pt>
                <c:pt idx="1">
                  <c:v>16</c:v>
                </c:pt>
                <c:pt idx="2">
                  <c:v>24</c:v>
                </c:pt>
                <c:pt idx="3">
                  <c:v>32</c:v>
                </c:pt>
                <c:pt idx="4">
                  <c:v>40</c:v>
                </c:pt>
                <c:pt idx="5">
                  <c:v>48</c:v>
                </c:pt>
                <c:pt idx="6">
                  <c:v>56</c:v>
                </c:pt>
                <c:pt idx="7">
                  <c:v>64</c:v>
                </c:pt>
              </c:numCache>
            </c:numRef>
          </c:cat>
          <c:val>
            <c:numRef>
              <c:f>'Chart Data'!$B$2:$B$9</c:f>
              <c:numCache>
                <c:formatCode>0%</c:formatCode>
                <c:ptCount val="8"/>
                <c:pt idx="0">
                  <c:v>0.0079442234</c:v>
                </c:pt>
                <c:pt idx="1">
                  <c:v>0.0157622255</c:v>
                </c:pt>
                <c:pt idx="2">
                  <c:v>0.0234560117</c:v>
                </c:pt>
                <c:pt idx="3">
                  <c:v>0.0310275555</c:v>
                </c:pt>
                <c:pt idx="4">
                  <c:v>0.0384787993</c:v>
                </c:pt>
                <c:pt idx="5">
                  <c:v>0.0458116544</c:v>
                </c:pt>
                <c:pt idx="6">
                  <c:v>0.0530280018</c:v>
                </c:pt>
                <c:pt idx="7">
                  <c:v>0.0601296926</c:v>
                </c:pt>
              </c:numCache>
            </c:numRef>
          </c:val>
        </c:ser>
        <c:ser>
          <c:idx val="1"/>
          <c:order val="1"/>
          <c:tx>
            <c:v>ε = 0.01</c:v>
          </c:tx>
          <c:spPr>
            <a:solidFill xmlns:a="http://schemas.openxmlformats.org/drawingml/2006/main">
              <a:srgbClr val="C45C48"/>
            </a:solidFill>
          </c:spPr>
          <c:marker>
            <c:symbol val="none"/>
          </c:marker>
          <c:cat>
            <c:numRef>
              <c:f>'Chart Data'!$C$2:$C$9</c:f>
              <c:numCache>
                <c:formatCode>General</c:formatCode>
                <c:ptCount val="8"/>
                <c:pt idx="0">
                  <c:v>8</c:v>
                </c:pt>
                <c:pt idx="1">
                  <c:v>16</c:v>
                </c:pt>
                <c:pt idx="2">
                  <c:v>24</c:v>
                </c:pt>
                <c:pt idx="3">
                  <c:v>32</c:v>
                </c:pt>
                <c:pt idx="4">
                  <c:v>40</c:v>
                </c:pt>
                <c:pt idx="5">
                  <c:v>48</c:v>
                </c:pt>
                <c:pt idx="6">
                  <c:v>56</c:v>
                </c:pt>
                <c:pt idx="7">
                  <c:v>64</c:v>
                </c:pt>
              </c:numCache>
            </c:numRef>
          </c:cat>
          <c:val>
            <c:numRef>
              <c:f>'Chart Data'!$D$2:$D$9</c:f>
              <c:numCache>
                <c:formatCode>0%</c:formatCode>
                <c:ptCount val="8"/>
                <c:pt idx="0">
                  <c:v>0.0746184887</c:v>
                </c:pt>
                <c:pt idx="1">
                  <c:v>0.1381011397</c:v>
                </c:pt>
                <c:pt idx="2">
                  <c:v>0.1921098317</c:v>
                </c:pt>
                <c:pt idx="3">
                  <c:v>0.2380584298</c:v>
                </c:pt>
                <c:pt idx="4">
                  <c:v>0.277149798</c:v>
                </c:pt>
                <c:pt idx="5">
                  <c:v>0.3104072886</c:v>
                </c:pt>
                <c:pt idx="6">
                  <c:v>0.3387015318</c:v>
                </c:pt>
                <c:pt idx="7">
                  <c:v>0.3627732276</c:v>
                </c:pt>
              </c:numCache>
            </c:numRef>
          </c:val>
        </c:ser>
        <c:ser>
          <c:idx val="2"/>
          <c:order val="2"/>
          <c:tx>
            <c:v>ε = 0.03</c:v>
          </c:tx>
          <c:spPr>
            <a:solidFill xmlns:a="http://schemas.openxmlformats.org/drawingml/2006/main">
              <a:srgbClr val="112F43"/>
            </a:solidFill>
          </c:spPr>
          <c:marker>
            <c:symbol val="none"/>
          </c:marker>
          <c:cat>
            <c:numRef>
              <c:f>'Chart Data'!$E$2:$E$9</c:f>
              <c:numCache>
                <c:formatCode>General</c:formatCode>
                <c:ptCount val="8"/>
                <c:pt idx="0">
                  <c:v>8</c:v>
                </c:pt>
                <c:pt idx="1">
                  <c:v>16</c:v>
                </c:pt>
                <c:pt idx="2">
                  <c:v>24</c:v>
                </c:pt>
                <c:pt idx="3">
                  <c:v>32</c:v>
                </c:pt>
                <c:pt idx="4">
                  <c:v>40</c:v>
                </c:pt>
                <c:pt idx="5">
                  <c:v>48</c:v>
                </c:pt>
                <c:pt idx="6">
                  <c:v>56</c:v>
                </c:pt>
                <c:pt idx="7">
                  <c:v>64</c:v>
                </c:pt>
              </c:numCache>
            </c:numRef>
          </c:cat>
          <c:val>
            <c:numRef>
              <c:f>'Chart Data'!$F$2:$F$9</c:f>
              <c:numCache>
                <c:formatCode>0%</c:formatCode>
                <c:ptCount val="8"/>
                <c:pt idx="0">
                  <c:v>0.1952155307</c:v>
                </c:pt>
                <c:pt idx="1">
                  <c:v>0.3142128546</c:v>
                </c:pt>
                <c:pt idx="2">
                  <c:v>0.386749927</c:v>
                </c:pt>
                <c:pt idx="3">
                  <c:v>0.4309662732</c:v>
                </c:pt>
                <c:pt idx="4">
                  <c:v>0.4579191844</c:v>
                </c:pt>
                <c:pt idx="5">
                  <c:v>0.4743488419</c:v>
                </c:pt>
                <c:pt idx="6">
                  <c:v>0.4843638508</c:v>
                </c:pt>
                <c:pt idx="7">
                  <c:v>0.4904686891</c:v>
                </c:pt>
              </c:numCache>
            </c:numRef>
          </c:val>
        </c:ser>
        <c:dLbls>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showLegendKey val="0"/>
          <c:showVal val="0"/>
          <c:showCatName val="0"/>
          <c:showSerName val="0"/>
          <c:showPercent val="0"/>
          <c:showBubbleSize val="0"/>
          <c:showLeaderLines val="0"/>
        </c:dLbls>
        <c:axId val="48650112"/>
        <c:axId val="48672768"/>
      </c:lineChart>
      <c:catAx>
        <c:axId val="48650112"/>
        <c:scaling>
          <c:orientation val="minMax"/>
        </c:scaling>
        <c:delete val="0"/>
        <c:axPos val="b"/>
        <c:title>
          <c:tx>
            <c:rich>
              <a:bodyPr xmlns:a="http://schemas.openxmlformats.org/drawingml/2006/main"/>
              <a:lstStyle xmlns:a="http://schemas.openxmlformats.org/drawingml/2006/main"/>
              <a:p xmlns:a="http://schemas.openxmlformats.org/drawingml/2006/main">
                <a:r>
                  <a:rPr>
                    <a:latin typeface="Aptos"/>
                    <a:ea typeface="Aptos"/>
                    <a:cs typeface="Aptos"/>
                  </a:rPr>
                  <a:t>Secret support size r</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ptos"/>
                <a:ea typeface="Aptos"/>
                <a:cs typeface="Aptos"/>
              </a:defRPr>
            </a:pPr>
          </a:p>
        </c:txPr>
        <c:crossAx val="48672768"/>
      </c:catAx>
      <c:valAx>
        <c:axId val="48672768"/>
        <c:scaling>
          <c:orientation val="minMax"/>
          <c:max val="0.5"/>
          <c:min val="0"/>
        </c:scaling>
        <c:delete val="0"/>
        <c:axPos val="l"/>
        <c:majorGridlines>
          <c:spPr>
            <a:ln xmlns:a="http://schemas.openxmlformats.org/drawingml/2006/main" w="4763">
              <a:solidFill>
                <a:srgbClr val="C7D3D4"/>
              </a:solidFill>
            </a:ln>
          </c:spPr>
        </c:majorGridlines>
        <c:title>
          <c:tx>
            <c:rich>
              <a:bodyPr xmlns:a="http://schemas.openxmlformats.org/drawingml/2006/main"/>
              <a:lstStyle xmlns:a="http://schemas.openxmlformats.org/drawingml/2006/main"/>
              <a:p xmlns:a="http://schemas.openxmlformats.org/drawingml/2006/main">
                <a:r>
                  <a:rPr>
                    <a:latin typeface="Aptos"/>
                    <a:ea typeface="Aptos"/>
                    <a:cs typeface="Aptos"/>
                  </a:rPr>
                  <a:t>Raw bit error probability</a:t>
                </a:r>
              </a:p>
            </c:rich>
          </c:tx>
          <c:overlay val="0"/>
          <c:txPr>
            <a:bodyPr xmlns:a="http://schemas.openxmlformats.org/drawingml/2006/main" anchorCtr="1"/>
            <a:lstStyle xmlns:a="http://schemas.openxmlformats.org/drawingml/2006/main"/>
            <a:p xmlns:a="http://schemas.openxmlformats.org/drawingml/2006/main">
              <a:pPr>
                <a:defRPr>
                  <a:latin typeface="Aptos"/>
                  <a:ea typeface="Aptos"/>
                  <a:cs typeface="Aptos"/>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66666"/>
                </a:solidFill>
                <a:latin typeface="Aptos"/>
                <a:ea typeface="Aptos"/>
                <a:cs typeface="Aptos"/>
              </a:defRPr>
            </a:pPr>
          </a:p>
        </c:txPr>
        <c:crossAx val="48650112"/>
        <c:crossBetween val="between"/>
        <c:majorUnit val="0.1"/>
      </c:valAx>
      <c:spPr>
        <a:solidFill xmlns:a="http://schemas.openxmlformats.org/drawingml/2006/main">
          <a:srgbClr val="F7F5F0"/>
        </a:solidFill>
      </c:spPr>
    </c:plotArea>
    <c:legend>
      <c:legendPos val="b"/>
      <c:overlay val="0"/>
      <c:txPr>
        <a:bodyPr xmlns:a="http://schemas.openxmlformats.org/drawingml/2006/main" anchorCtr="1"/>
        <a:lstStyle xmlns:a="http://schemas.openxmlformats.org/drawingml/2006/main"/>
        <a:p xmlns:a="http://schemas.openxmlformats.org/drawingml/2006/main">
          <a:pPr>
            <a:defRPr sz="1500">
              <a:latin typeface="Aptos"/>
              <a:ea typeface="Aptos"/>
              <a:cs typeface="Aptos"/>
            </a:defRPr>
          </a:pPr>
        </a:p>
      </c:txPr>
    </c:legend>
    <c:plotVisOnly val="1"/>
  </c:chart>
  <c:spPr>
    <a:solidFill xmlns:a="http://schemas.openxmlformats.org/drawingml/2006/main">
      <a:srgbClr val="F7F5F0"/>
    </a:solidFill>
    <a:ln xmlns:a="http://schemas.openxmlformats.org/drawingml/2006/main" w="0">
      <a:noFill/>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2222BE8-EE8D-4D28-9A2A-1A640745D296}"/>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r>
              <a:t/>
            </a:r>
          </a:p>
        </p:txBody>
      </p:sp>
      <p:sp>
        <p:nvSpPr>
          <p:cNvPr id="2" name="">
            <a:extLst xmlns:a="http://schemas.openxmlformats.org/drawingml/2006/main">
              <a:ext uri="{FF2B5EF4-FFF2-40B4-BE49-F238E27FC236}">
                <a16:creationId xmlns:a16="http://schemas.microsoft.com/office/drawing/2014/main" id="{49EA64FE-64F7-4A45-8296-2A3F95CD6896}"/>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RSA, ML-KEM and an ABW research agenda</a:t>
            </a:r>
          </a:p>
        </p:txBody>
      </p:sp>
      <p:sp>
        <p:nvSpPr>
          <p:cNvPr id="3" name="">
            <a:extLst xmlns:a="http://schemas.openxmlformats.org/drawingml/2006/main">
              <a:ext uri="{FF2B5EF4-FFF2-40B4-BE49-F238E27FC236}">
                <a16:creationId xmlns:a16="http://schemas.microsoft.com/office/drawing/2014/main" id="{0362196D-2A2B-4D87-B22D-784E55A50292}"/>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01</a:t>
            </a:r>
          </a:p>
        </p:txBody>
      </p:sp>
      <p:pic>
        <p:nvPicPr>
          <p:cNvPr id="12" name=""/>
          <p:cNvPicPr>
            <a:picLocks xmlns:a="http://schemas.openxmlformats.org/drawingml/2006/main" noChangeAspect="1"/>
          </p:cNvPicPr>
          <p:nvPr/>
        </p:nvPicPr>
        <p:blipFill>
          <a:blip xmlns:r="http://schemas.openxmlformats.org/officeDocument/2006/relationships" xmlns:a="http://schemas.openxmlformats.org/drawingml/2006/main" r:embed="Rb4603ea32c0d4369"/>
          <a:stretch xmlns:a="http://schemas.openxmlformats.org/drawingml/2006/main"/>
        </p:blipFill>
        <p:spPr>
          <a:xfrm xmlns:a="http://schemas.openxmlformats.org/drawingml/2006/main">
            <a:off x="6400800" y="1860550"/>
            <a:ext cx="5076825" cy="338455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596C0679-4133-4843-9D08-136A9330D954}"/>
              </a:ext>
            </a:extLst>
          </p:cNvPr>
          <p:cNvSpPr>
            <a:spLocks xmlns:a="http://schemas.openxmlformats.org/drawingml/2006/main" noGrp="1"/>
          </p:cNvSpPr>
          <p:nvPr/>
        </p:nvSpPr>
        <p:spPr>
          <a:xfrm xmlns:a="http://schemas.openxmlformats.org/drawingml/2006/main">
            <a:off x="609600" y="1143000"/>
            <a:ext cx="8905875" cy="2371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725" b="1">
                <a:solidFill>
                  <a:srgbClr val="112F43"/>
                </a:solidFill>
                <a:latin typeface="Aptos"/>
                <a:ea typeface="Aptos"/>
                <a:cs typeface="Aptos"/>
              </a:defRPr>
            </a:pPr>
            <a:r>
              <a:rPr sz="4725" b="1">
                <a:solidFill>
                  <a:srgbClr val="112F43"/>
                </a:solidFill>
                <a:latin typeface="Aptos"/>
                <a:ea typeface="Aptos"/>
                <a:cs typeface="Aptos"/>
              </a:rPr>
              <a:t>RSA, Kyber</a:t>
            </a:r>
          </a:p>
          <a:p xmlns:a="http://schemas.openxmlformats.org/drawingml/2006/main">
            <a:pPr algn="l">
              <a:defRPr sz="4725" b="1">
                <a:solidFill>
                  <a:srgbClr val="112F43"/>
                </a:solidFill>
                <a:latin typeface="Aptos"/>
                <a:ea typeface="Aptos"/>
                <a:cs typeface="Aptos"/>
              </a:defRPr>
            </a:pPr>
            <a:r>
              <a:rPr sz="4725" b="1">
                <a:solidFill>
                  <a:srgbClr val="112F43"/>
                </a:solidFill>
                <a:latin typeface="Aptos"/>
                <a:ea typeface="Aptos"/>
                <a:cs typeface="Aptos"/>
              </a:rPr>
              <a:t>and the next</a:t>
            </a:r>
          </a:p>
          <a:p xmlns:a="http://schemas.openxmlformats.org/drawingml/2006/main">
            <a:pPr algn="l">
              <a:defRPr sz="4725" b="1">
                <a:solidFill>
                  <a:srgbClr val="112F43"/>
                </a:solidFill>
                <a:latin typeface="Aptos"/>
                <a:ea typeface="Aptos"/>
                <a:cs typeface="Aptos"/>
              </a:defRPr>
            </a:pPr>
            <a:r>
              <a:rPr sz="4725" b="1">
                <a:solidFill>
                  <a:srgbClr val="112F43"/>
                </a:solidFill>
                <a:latin typeface="Aptos"/>
                <a:ea typeface="Aptos"/>
                <a:cs typeface="Aptos"/>
              </a:rPr>
              <a:t>public-key scheme</a:t>
            </a:r>
          </a:p>
        </p:txBody>
      </p:sp>
      <p:sp>
        <p:nvSpPr>
          <p:cNvPr id="6" name="">
            <a:extLst xmlns:a="http://schemas.openxmlformats.org/drawingml/2006/main">
              <a:ext uri="{FF2B5EF4-FFF2-40B4-BE49-F238E27FC236}">
                <a16:creationId xmlns:a16="http://schemas.microsoft.com/office/drawing/2014/main" id="{16412EAB-0637-43F1-AA3A-B1F191BCABC6}"/>
              </a:ext>
            </a:extLst>
          </p:cNvPr>
          <p:cNvSpPr>
            <a:spLocks xmlns:a="http://schemas.openxmlformats.org/drawingml/2006/main" noGrp="1"/>
          </p:cNvSpPr>
          <p:nvPr/>
        </p:nvSpPr>
        <p:spPr>
          <a:xfrm xmlns:a="http://schemas.openxmlformats.org/drawingml/2006/main">
            <a:off x="647700" y="4286250"/>
            <a:ext cx="106489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400" b="0">
                <a:solidFill>
                  <a:srgbClr val="112F43"/>
                </a:solidFill>
                <a:latin typeface="Aptos"/>
                <a:ea typeface="Aptos"/>
                <a:cs typeface="Aptos"/>
              </a:defRPr>
            </a:pPr>
            <a:r>
              <a:rPr sz="2400" b="0">
                <a:solidFill>
                  <a:srgbClr val="112F43"/>
                </a:solidFill>
                <a:latin typeface="Aptos"/>
                <a:ea typeface="Aptos"/>
                <a:cs typeface="Aptos"/>
              </a:rPr>
              <a:t>A case study for an ABW research programme</a:t>
            </a:r>
          </a:p>
        </p:txBody>
      </p:sp>
      <p:sp>
        <p:nvSpPr>
          <p:cNvPr id="7" name="">
            <a:extLst xmlns:a="http://schemas.openxmlformats.org/drawingml/2006/main">
              <a:ext uri="{FF2B5EF4-FFF2-40B4-BE49-F238E27FC236}">
                <a16:creationId xmlns:a16="http://schemas.microsoft.com/office/drawing/2014/main" id="{FB3E91B8-D08E-4BC4-BB20-353C2C32E913}"/>
              </a:ext>
            </a:extLst>
          </p:cNvPr>
          <p:cNvSpPr>
            <a:spLocks xmlns:a="http://schemas.openxmlformats.org/drawingml/2006/main" noGrp="1"/>
          </p:cNvSpPr>
          <p:nvPr/>
        </p:nvSpPr>
        <p:spPr>
          <a:xfrm xmlns:a="http://schemas.openxmlformats.org/drawingml/2006/main">
            <a:off x="647700" y="5257800"/>
            <a:ext cx="1073467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a:solidFill>
                  <a:srgbClr val="556A74"/>
                </a:solidFill>
                <a:latin typeface="Aptos"/>
                <a:ea typeface="Aptos"/>
                <a:cs typeface="Aptos"/>
              </a:defRPr>
            </a:pPr>
            <a:r>
              <a:rPr sz="1950" b="0">
                <a:solidFill>
                  <a:srgbClr val="556A74"/>
                </a:solidFill>
                <a:latin typeface="Aptos"/>
                <a:ea typeface="Aptos"/>
                <a:cs typeface="Aptos"/>
              </a:rPr>
              <a:t>Practical appeal, security evidence and design tradeoffs</a:t>
            </a:r>
          </a:p>
        </p:txBody>
      </p:sp>
      <p:sp>
        <p:nvSpPr>
          <p:cNvPr id="8" name="">
            <a:extLst xmlns:a="http://schemas.openxmlformats.org/drawingml/2006/main">
              <a:ext uri="{FF2B5EF4-FFF2-40B4-BE49-F238E27FC236}">
                <a16:creationId xmlns:a16="http://schemas.microsoft.com/office/drawing/2014/main" id="{49460A2F-AFF1-4FC0-B876-E966EF16CD75}"/>
              </a:ext>
            </a:extLst>
          </p:cNvPr>
          <p:cNvSpPr>
            <a:spLocks xmlns:a="http://schemas.openxmlformats.org/drawingml/2006/main" noGrp="1"/>
          </p:cNvSpPr>
          <p:nvPr/>
        </p:nvSpPr>
        <p:spPr>
          <a:xfrm xmlns:a="http://schemas.openxmlformats.org/drawingml/2006/main">
            <a:off x="647700" y="6048375"/>
            <a:ext cx="1009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Cryptography research discussion · 6 October 2026</a:t>
            </a:r>
          </a:p>
        </p:txBody>
      </p:sp>
    </p:spTree>
    <p:extLst>
      <p:ext uri="{BB962C8B-B14F-4D97-AF65-F5344CB8AC3E}">
        <p14:creationId xmlns:p14="http://schemas.microsoft.com/office/powerpoint/2010/main" val="1333342215"/>
      </p:ext>
    </p:extLst>
  </p:cSld>
</p:sld>
</file>

<file path=ppt/slides/slide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C19C9DD1-B081-4F2F-BEBE-94526CD53D5E}"/>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The common adoption lesson</a:t>
            </a:r>
          </a:p>
        </p:txBody>
      </p:sp>
      <p:sp>
        <p:nvSpPr>
          <p:cNvPr id="2" name="">
            <a:extLst xmlns:a="http://schemas.openxmlformats.org/drawingml/2006/main">
              <a:ext uri="{FF2B5EF4-FFF2-40B4-BE49-F238E27FC236}">
                <a16:creationId xmlns:a16="http://schemas.microsoft.com/office/drawing/2014/main" id="{B663D9BE-A818-44AF-95B1-2548A5EF2DA9}"/>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RSA, ML-KEM and an ABW research agenda</a:t>
            </a:r>
          </a:p>
        </p:txBody>
      </p:sp>
      <p:sp>
        <p:nvSpPr>
          <p:cNvPr id="3" name="">
            <a:extLst xmlns:a="http://schemas.openxmlformats.org/drawingml/2006/main">
              <a:ext uri="{FF2B5EF4-FFF2-40B4-BE49-F238E27FC236}">
                <a16:creationId xmlns:a16="http://schemas.microsoft.com/office/drawing/2014/main" id="{DFFE322E-D3AF-498F-8A81-9138704AF805}"/>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02</a:t>
            </a:r>
          </a:p>
        </p:txBody>
      </p:sp>
      <p:sp>
        <p:nvSpPr>
          <p:cNvPr id="4" name="">
            <a:extLst xmlns:a="http://schemas.openxmlformats.org/drawingml/2006/main">
              <a:ext uri="{FF2B5EF4-FFF2-40B4-BE49-F238E27FC236}">
                <a16:creationId xmlns:a16="http://schemas.microsoft.com/office/drawing/2014/main" id="{4056ED9E-048A-4FBA-BB05-FD4DDDAF088E}"/>
              </a:ext>
            </a:extLst>
          </p:cNvPr>
          <p:cNvSpPr>
            <a:spLocks xmlns:a="http://schemas.openxmlformats.org/drawingml/2006/main" noGrp="1"/>
          </p:cNvSpPr>
          <p:nvPr/>
        </p:nvSpPr>
        <p:spPr>
          <a:xfrm xmlns:a="http://schemas.openxmlformats.org/drawingml/2006/main">
            <a:off x="609600" y="1657350"/>
            <a:ext cx="847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087F82"/>
                </a:solidFill>
                <a:latin typeface="Aptos"/>
                <a:ea typeface="Aptos"/>
                <a:cs typeface="Aptos"/>
              </a:defRPr>
            </a:pPr>
            <a:r>
              <a:rPr sz="3225" b="1">
                <a:solidFill>
                  <a:srgbClr val="087F82"/>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733CCB2F-CE59-4B5A-9C02-ED1F9C03B1B2}"/>
              </a:ext>
            </a:extLst>
          </p:cNvPr>
          <p:cNvSpPr>
            <a:spLocks xmlns:a="http://schemas.openxmlformats.org/drawingml/2006/main" noGrp="1"/>
          </p:cNvSpPr>
          <p:nvPr/>
        </p:nvSpPr>
        <p:spPr>
          <a:xfrm xmlns:a="http://schemas.openxmlformats.org/drawingml/2006/main">
            <a:off x="1714500" y="1657350"/>
            <a:ext cx="985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12F43"/>
                </a:solidFill>
                <a:latin typeface="Aptos"/>
                <a:ea typeface="Aptos"/>
                <a:cs typeface="Aptos"/>
              </a:defRPr>
            </a:pPr>
            <a:r>
              <a:rPr sz="2250" b="1">
                <a:solidFill>
                  <a:srgbClr val="112F43"/>
                </a:solidFill>
                <a:latin typeface="Aptos"/>
                <a:ea typeface="Aptos"/>
                <a:cs typeface="Aptos"/>
              </a:rPr>
              <a:t>RSA made useful public-key operations practical</a:t>
            </a:r>
          </a:p>
        </p:txBody>
      </p:sp>
      <p:sp>
        <p:nvSpPr>
          <p:cNvPr id="6" name="">
            <a:extLst xmlns:a="http://schemas.openxmlformats.org/drawingml/2006/main">
              <a:ext uri="{FF2B5EF4-FFF2-40B4-BE49-F238E27FC236}">
                <a16:creationId xmlns:a16="http://schemas.microsoft.com/office/drawing/2014/main" id="{9F516E8C-738F-4FAF-9CBC-C6B59C0410B1}"/>
              </a:ext>
            </a:extLst>
          </p:cNvPr>
          <p:cNvSpPr>
            <a:spLocks xmlns:a="http://schemas.openxmlformats.org/drawingml/2006/main" noGrp="1"/>
          </p:cNvSpPr>
          <p:nvPr/>
        </p:nvSpPr>
        <p:spPr>
          <a:xfrm xmlns:a="http://schemas.openxmlformats.org/drawingml/2006/main">
            <a:off x="1714500" y="2200275"/>
            <a:ext cx="96869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6A74"/>
                </a:solidFill>
                <a:latin typeface="Aptos"/>
                <a:ea typeface="Aptos"/>
                <a:cs typeface="Aptos"/>
              </a:defRPr>
            </a:pPr>
            <a:r>
              <a:rPr sz="2025" b="0">
                <a:solidFill>
                  <a:srgbClr val="556A74"/>
                </a:solidFill>
                <a:latin typeface="Aptos"/>
                <a:ea typeface="Aptos"/>
                <a:cs typeface="Aptos"/>
              </a:rPr>
              <a:t>Encryption and signatures gained standard encodings and ecosystem support.</a:t>
            </a:r>
          </a:p>
        </p:txBody>
      </p:sp>
      <p:sp>
        <p:nvSpPr>
          <p:cNvPr id="7" name="">
            <a:extLst xmlns:a="http://schemas.openxmlformats.org/drawingml/2006/main">
              <a:ext uri="{FF2B5EF4-FFF2-40B4-BE49-F238E27FC236}">
                <a16:creationId xmlns:a16="http://schemas.microsoft.com/office/drawing/2014/main" id="{AF177148-8EE5-434A-81ED-944CE9ABD601}"/>
              </a:ext>
            </a:extLst>
          </p:cNvPr>
          <p:cNvSpPr>
            <a:spLocks xmlns:a="http://schemas.openxmlformats.org/drawingml/2006/main" noGrp="1"/>
          </p:cNvSpPr>
          <p:nvPr/>
        </p:nvSpPr>
        <p:spPr>
          <a:xfrm xmlns:a="http://schemas.openxmlformats.org/drawingml/2006/main">
            <a:off x="609600" y="3105150"/>
            <a:ext cx="847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087F82"/>
                </a:solidFill>
                <a:latin typeface="Aptos"/>
                <a:ea typeface="Aptos"/>
                <a:cs typeface="Aptos"/>
              </a:defRPr>
            </a:pPr>
            <a:r>
              <a:rPr sz="3225" b="1">
                <a:solidFill>
                  <a:srgbClr val="087F82"/>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838732F5-AD4D-4527-ACFD-D4CF0CA99E9C}"/>
              </a:ext>
            </a:extLst>
          </p:cNvPr>
          <p:cNvSpPr>
            <a:spLocks xmlns:a="http://schemas.openxmlformats.org/drawingml/2006/main" noGrp="1"/>
          </p:cNvSpPr>
          <p:nvPr/>
        </p:nvSpPr>
        <p:spPr>
          <a:xfrm xmlns:a="http://schemas.openxmlformats.org/drawingml/2006/main">
            <a:off x="1714500" y="3105150"/>
            <a:ext cx="985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12F43"/>
                </a:solidFill>
                <a:latin typeface="Aptos"/>
                <a:ea typeface="Aptos"/>
                <a:cs typeface="Aptos"/>
              </a:defRPr>
            </a:pPr>
            <a:r>
              <a:rPr sz="2250" b="1">
                <a:solidFill>
                  <a:srgbClr val="112F43"/>
                </a:solidFill>
                <a:latin typeface="Aptos"/>
                <a:ea typeface="Aptos"/>
                <a:cs typeface="Aptos"/>
              </a:rPr>
              <a:t>Kyber balanced competing deployment requirements</a:t>
            </a:r>
          </a:p>
        </p:txBody>
      </p:sp>
      <p:sp>
        <p:nvSpPr>
          <p:cNvPr id="9" name="">
            <a:extLst xmlns:a="http://schemas.openxmlformats.org/drawingml/2006/main">
              <a:ext uri="{FF2B5EF4-FFF2-40B4-BE49-F238E27FC236}">
                <a16:creationId xmlns:a16="http://schemas.microsoft.com/office/drawing/2014/main" id="{82A7A66D-D880-4AAD-8481-DCB41D25001C}"/>
              </a:ext>
            </a:extLst>
          </p:cNvPr>
          <p:cNvSpPr>
            <a:spLocks xmlns:a="http://schemas.openxmlformats.org/drawingml/2006/main" noGrp="1"/>
          </p:cNvSpPr>
          <p:nvPr/>
        </p:nvSpPr>
        <p:spPr>
          <a:xfrm xmlns:a="http://schemas.openxmlformats.org/drawingml/2006/main">
            <a:off x="1714500" y="3648075"/>
            <a:ext cx="96869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6A74"/>
                </a:solidFill>
                <a:latin typeface="Aptos"/>
                <a:ea typeface="Aptos"/>
                <a:cs typeface="Aptos"/>
              </a:defRPr>
            </a:pPr>
            <a:r>
              <a:rPr sz="2025" b="0">
                <a:solidFill>
                  <a:srgbClr val="556A74"/>
                </a:solidFill>
                <a:latin typeface="Aptos"/>
                <a:ea typeface="Aptos"/>
                <a:cs typeface="Aptos"/>
              </a:rPr>
              <a:t>Security confidence, speed and communication cost supported selection.</a:t>
            </a:r>
          </a:p>
        </p:txBody>
      </p:sp>
      <p:sp>
        <p:nvSpPr>
          <p:cNvPr id="10" name="">
            <a:extLst xmlns:a="http://schemas.openxmlformats.org/drawingml/2006/main">
              <a:ext uri="{FF2B5EF4-FFF2-40B4-BE49-F238E27FC236}">
                <a16:creationId xmlns:a16="http://schemas.microsoft.com/office/drawing/2014/main" id="{BB441303-35B0-4177-BFFA-C6A521E2F111}"/>
              </a:ext>
            </a:extLst>
          </p:cNvPr>
          <p:cNvSpPr>
            <a:spLocks xmlns:a="http://schemas.openxmlformats.org/drawingml/2006/main" noGrp="1"/>
          </p:cNvSpPr>
          <p:nvPr/>
        </p:nvSpPr>
        <p:spPr>
          <a:xfrm xmlns:a="http://schemas.openxmlformats.org/drawingml/2006/main">
            <a:off x="609600" y="4552950"/>
            <a:ext cx="847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087F82"/>
                </a:solidFill>
                <a:latin typeface="Aptos"/>
                <a:ea typeface="Aptos"/>
                <a:cs typeface="Aptos"/>
              </a:defRPr>
            </a:pPr>
            <a:r>
              <a:rPr sz="3225" b="1">
                <a:solidFill>
                  <a:srgbClr val="087F82"/>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6AD59746-1812-43F9-B291-DB3D7604579E}"/>
              </a:ext>
            </a:extLst>
          </p:cNvPr>
          <p:cNvSpPr>
            <a:spLocks xmlns:a="http://schemas.openxmlformats.org/drawingml/2006/main" noGrp="1"/>
          </p:cNvSpPr>
          <p:nvPr/>
        </p:nvSpPr>
        <p:spPr>
          <a:xfrm xmlns:a="http://schemas.openxmlformats.org/drawingml/2006/main">
            <a:off x="1714500" y="4552950"/>
            <a:ext cx="985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12F43"/>
                </a:solidFill>
                <a:latin typeface="Aptos"/>
                <a:ea typeface="Aptos"/>
                <a:cs typeface="Aptos"/>
              </a:defRPr>
            </a:pPr>
            <a:r>
              <a:rPr sz="2250" b="1">
                <a:solidFill>
                  <a:srgbClr val="112F43"/>
                </a:solidFill>
                <a:latin typeface="Aptos"/>
                <a:ea typeface="Aptos"/>
                <a:cs typeface="Aptos"/>
              </a:rPr>
              <a:t>ABW needs a complete, quantitatively analysed scheme</a:t>
            </a:r>
          </a:p>
        </p:txBody>
      </p:sp>
      <p:sp>
        <p:nvSpPr>
          <p:cNvPr id="12" name="">
            <a:extLst xmlns:a="http://schemas.openxmlformats.org/drawingml/2006/main">
              <a:ext uri="{FF2B5EF4-FFF2-40B4-BE49-F238E27FC236}">
                <a16:creationId xmlns:a16="http://schemas.microsoft.com/office/drawing/2014/main" id="{041B1243-A166-4686-8F04-D345A3E2856C}"/>
              </a:ext>
            </a:extLst>
          </p:cNvPr>
          <p:cNvSpPr>
            <a:spLocks xmlns:a="http://schemas.openxmlformats.org/drawingml/2006/main" noGrp="1"/>
          </p:cNvSpPr>
          <p:nvPr/>
        </p:nvSpPr>
        <p:spPr>
          <a:xfrm xmlns:a="http://schemas.openxmlformats.org/drawingml/2006/main">
            <a:off x="1714500" y="5095875"/>
            <a:ext cx="96869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6A74"/>
                </a:solidFill>
                <a:latin typeface="Aptos"/>
                <a:ea typeface="Aptos"/>
                <a:cs typeface="Aptos"/>
              </a:defRPr>
            </a:pPr>
            <a:r>
              <a:rPr sz="2025" b="0">
                <a:solidFill>
                  <a:srgbClr val="556A74"/>
                </a:solidFill>
                <a:latin typeface="Aptos"/>
                <a:ea typeface="Aptos"/>
                <a:cs typeface="Aptos"/>
              </a:rPr>
              <a:t>A distinct assumption and inexpensive XORs are a starting point.</a:t>
            </a:r>
          </a:p>
        </p:txBody>
      </p:sp>
    </p:spTree>
    <p:extLst>
      <p:ext uri="{BB962C8B-B14F-4D97-AF65-F5344CB8AC3E}">
        <p14:creationId xmlns:p14="http://schemas.microsoft.com/office/powerpoint/2010/main" val="1360592884"/>
      </p:ext>
    </p:extLst>
  </p:cSld>
</p:sld>
</file>

<file path=ppt/slides/slide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BDB5D1B5-41AA-4BEA-8CCB-55D3A82C8DA4}"/>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RSA: a useful capability package</a:t>
            </a:r>
          </a:p>
        </p:txBody>
      </p:sp>
      <p:sp>
        <p:nvSpPr>
          <p:cNvPr id="2" name="">
            <a:extLst xmlns:a="http://schemas.openxmlformats.org/drawingml/2006/main">
              <a:ext uri="{FF2B5EF4-FFF2-40B4-BE49-F238E27FC236}">
                <a16:creationId xmlns:a16="http://schemas.microsoft.com/office/drawing/2014/main" id="{1D066B44-1547-45CC-8B0F-0056B4239236}"/>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RSA, ML-KEM and an ABW research agenda</a:t>
            </a:r>
          </a:p>
        </p:txBody>
      </p:sp>
      <p:sp>
        <p:nvSpPr>
          <p:cNvPr id="3" name="">
            <a:extLst xmlns:a="http://schemas.openxmlformats.org/drawingml/2006/main">
              <a:ext uri="{FF2B5EF4-FFF2-40B4-BE49-F238E27FC236}">
                <a16:creationId xmlns:a16="http://schemas.microsoft.com/office/drawing/2014/main" id="{685F6845-FCFA-4F55-87C6-28E185B41B43}"/>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03</a:t>
            </a:r>
          </a:p>
        </p:txBody>
      </p:sp>
      <p:sp>
        <p:nvSpPr>
          <p:cNvPr id="4" name="">
            <a:extLst xmlns:a="http://schemas.openxmlformats.org/drawingml/2006/main">
              <a:ext uri="{FF2B5EF4-FFF2-40B4-BE49-F238E27FC236}">
                <a16:creationId xmlns:a16="http://schemas.microsoft.com/office/drawing/2014/main" id="{19A8FBF4-677D-4078-9350-0A7B7E23DF0E}"/>
              </a:ext>
            </a:extLst>
          </p:cNvPr>
          <p:cNvSpPr>
            <a:spLocks xmlns:a="http://schemas.openxmlformats.org/drawingml/2006/main" noGrp="1"/>
          </p:cNvSpPr>
          <p:nvPr/>
        </p:nvSpPr>
        <p:spPr>
          <a:xfrm xmlns:a="http://schemas.openxmlformats.org/drawingml/2006/main">
            <a:off x="609600" y="1685925"/>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F82"/>
                </a:solidFill>
                <a:latin typeface="Aptos"/>
                <a:ea typeface="Aptos"/>
                <a:cs typeface="Aptos"/>
              </a:defRPr>
            </a:pPr>
            <a:r>
              <a:rPr sz="2175" b="1">
                <a:solidFill>
                  <a:srgbClr val="087F82"/>
                </a:solidFill>
                <a:latin typeface="Aptos"/>
                <a:ea typeface="Aptos"/>
                <a:cs typeface="Aptos"/>
              </a:rPr>
              <a:t>Public-key encryption</a:t>
            </a:r>
          </a:p>
        </p:txBody>
      </p:sp>
      <p:sp>
        <p:nvSpPr>
          <p:cNvPr id="5" name="">
            <a:extLst xmlns:a="http://schemas.openxmlformats.org/drawingml/2006/main">
              <a:ext uri="{FF2B5EF4-FFF2-40B4-BE49-F238E27FC236}">
                <a16:creationId xmlns:a16="http://schemas.microsoft.com/office/drawing/2014/main" id="{06BA1AE6-0F82-4849-BD0A-B94F3192B97E}"/>
              </a:ext>
            </a:extLst>
          </p:cNvPr>
          <p:cNvSpPr>
            <a:spLocks xmlns:a="http://schemas.openxmlformats.org/drawingml/2006/main" noGrp="1"/>
          </p:cNvSpPr>
          <p:nvPr/>
        </p:nvSpPr>
        <p:spPr>
          <a:xfrm xmlns:a="http://schemas.openxmlformats.org/drawingml/2006/main">
            <a:off x="609600" y="2524125"/>
            <a:ext cx="5095875"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A recipient publishes an encryption key.</a:t>
            </a:r>
          </a:p>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The sender encrypts without sharing</a:t>
            </a:r>
          </a:p>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the recipient’s decryption secret.</a:t>
            </a:r>
          </a:p>
        </p:txBody>
      </p:sp>
      <p:sp>
        <p:nvSpPr>
          <p:cNvPr id="6" name="">
            <a:extLst xmlns:a="http://schemas.openxmlformats.org/drawingml/2006/main">
              <a:ext uri="{FF2B5EF4-FFF2-40B4-BE49-F238E27FC236}">
                <a16:creationId xmlns:a16="http://schemas.microsoft.com/office/drawing/2014/main" id="{41024EE3-D151-4812-91FE-5BF44E301399}"/>
              </a:ext>
            </a:extLst>
          </p:cNvPr>
          <p:cNvSpPr>
            <a:spLocks xmlns:a="http://schemas.openxmlformats.org/drawingml/2006/main" noGrp="1"/>
          </p:cNvSpPr>
          <p:nvPr/>
        </p:nvSpPr>
        <p:spPr>
          <a:xfrm xmlns:a="http://schemas.openxmlformats.org/drawingml/2006/main">
            <a:off x="6553200" y="1685925"/>
            <a:ext cx="4991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45C48"/>
                </a:solidFill>
                <a:latin typeface="Aptos"/>
                <a:ea typeface="Aptos"/>
                <a:cs typeface="Aptos"/>
              </a:defRPr>
            </a:pPr>
            <a:r>
              <a:rPr sz="2175" b="1">
                <a:solidFill>
                  <a:srgbClr val="C45C48"/>
                </a:solidFill>
                <a:latin typeface="Aptos"/>
                <a:ea typeface="Aptos"/>
                <a:cs typeface="Aptos"/>
              </a:rPr>
              <a:t>Publicly verifiable signatures</a:t>
            </a:r>
          </a:p>
        </p:txBody>
      </p:sp>
      <p:sp>
        <p:nvSpPr>
          <p:cNvPr id="7" name="">
            <a:extLst xmlns:a="http://schemas.openxmlformats.org/drawingml/2006/main">
              <a:ext uri="{FF2B5EF4-FFF2-40B4-BE49-F238E27FC236}">
                <a16:creationId xmlns:a16="http://schemas.microsoft.com/office/drawing/2014/main" id="{B423698C-A254-4851-8C04-AD56C7BD5498}"/>
              </a:ext>
            </a:extLst>
          </p:cNvPr>
          <p:cNvSpPr>
            <a:spLocks xmlns:a="http://schemas.openxmlformats.org/drawingml/2006/main" noGrp="1"/>
          </p:cNvSpPr>
          <p:nvPr/>
        </p:nvSpPr>
        <p:spPr>
          <a:xfrm xmlns:a="http://schemas.openxmlformats.org/drawingml/2006/main">
            <a:off x="6553200" y="2524125"/>
            <a:ext cx="4991100" cy="2266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A signer uses a private key.</a:t>
            </a:r>
          </a:p>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Verifiers use a public key.</a:t>
            </a:r>
          </a:p>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No shared signing secret is necessary.</a:t>
            </a:r>
          </a:p>
        </p:txBody>
      </p:sp>
      <p:sp>
        <p:nvSpPr>
          <p:cNvPr id="8" name="">
            <a:extLst xmlns:a="http://schemas.openxmlformats.org/drawingml/2006/main">
              <a:ext uri="{FF2B5EF4-FFF2-40B4-BE49-F238E27FC236}">
                <a16:creationId xmlns:a16="http://schemas.microsoft.com/office/drawing/2014/main" id="{9D8EB6C9-D647-4E1D-9FB0-3915012CE940}"/>
              </a:ext>
            </a:extLst>
          </p:cNvPr>
          <p:cNvSpPr>
            <a:spLocks xmlns:a="http://schemas.openxmlformats.org/drawingml/2006/main" noGrp="1"/>
          </p:cNvSpPr>
          <p:nvPr/>
        </p:nvSpPr>
        <p:spPr>
          <a:xfrm xmlns:a="http://schemas.openxmlformats.org/drawingml/2006/main">
            <a:off x="609600" y="5962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Public keys still need authentication. Encryption and signature roles require suitable schemes.</a:t>
            </a:r>
          </a:p>
        </p:txBody>
      </p:sp>
    </p:spTree>
    <p:extLst>
      <p:ext uri="{BB962C8B-B14F-4D97-AF65-F5344CB8AC3E}">
        <p14:creationId xmlns:p14="http://schemas.microsoft.com/office/powerpoint/2010/main" val="960542285"/>
      </p:ext>
    </p:extLst>
  </p:cSld>
</p:sld>
</file>

<file path=ppt/slides/slide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4F2BC166-7757-4DFF-9A02-1EA3FAB93679}"/>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RSA’s compact trapdoor description</a:t>
            </a:r>
          </a:p>
        </p:txBody>
      </p:sp>
      <p:sp>
        <p:nvSpPr>
          <p:cNvPr id="2" name="">
            <a:extLst xmlns:a="http://schemas.openxmlformats.org/drawingml/2006/main">
              <a:ext uri="{FF2B5EF4-FFF2-40B4-BE49-F238E27FC236}">
                <a16:creationId xmlns:a16="http://schemas.microsoft.com/office/drawing/2014/main" id="{E94FAD58-32D4-46C4-985E-2F4EC56EE2EF}"/>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RSA, ML-KEM and an ABW research agenda</a:t>
            </a:r>
          </a:p>
        </p:txBody>
      </p:sp>
      <p:sp>
        <p:nvSpPr>
          <p:cNvPr id="3" name="">
            <a:extLst xmlns:a="http://schemas.openxmlformats.org/drawingml/2006/main">
              <a:ext uri="{FF2B5EF4-FFF2-40B4-BE49-F238E27FC236}">
                <a16:creationId xmlns:a16="http://schemas.microsoft.com/office/drawing/2014/main" id="{72DB0EAD-D170-45A9-ADCA-25B0A90E6F57}"/>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04</a:t>
            </a:r>
          </a:p>
        </p:txBody>
      </p:sp>
      <p:sp>
        <p:nvSpPr>
          <p:cNvPr id="4" name="">
            <a:extLst xmlns:a="http://schemas.openxmlformats.org/drawingml/2006/main">
              <a:ext uri="{FF2B5EF4-FFF2-40B4-BE49-F238E27FC236}">
                <a16:creationId xmlns:a16="http://schemas.microsoft.com/office/drawing/2014/main" id="{55948F7D-4033-4538-9078-EE3675DCF179}"/>
              </a:ext>
            </a:extLst>
          </p:cNvPr>
          <p:cNvSpPr>
            <a:spLocks xmlns:a="http://schemas.openxmlformats.org/drawingml/2006/main" noGrp="1"/>
          </p:cNvSpPr>
          <p:nvPr/>
        </p:nvSpPr>
        <p:spPr>
          <a:xfrm xmlns:a="http://schemas.openxmlformats.org/drawingml/2006/main">
            <a:off x="609600" y="1685925"/>
            <a:ext cx="109728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087F82"/>
                </a:solidFill>
                <a:latin typeface="Aptos"/>
                <a:ea typeface="Aptos"/>
                <a:cs typeface="Aptos"/>
              </a:defRPr>
            </a:pPr>
            <a:r>
              <a:rPr sz="3450" b="1">
                <a:solidFill>
                  <a:srgbClr val="087F82"/>
                </a:solidFill>
                <a:latin typeface="Aptos"/>
                <a:ea typeface="Aptos"/>
                <a:cs typeface="Aptos"/>
              </a:rPr>
              <a:t>N = pq       ed ≡ 1 mod λ(N)</a:t>
            </a:r>
          </a:p>
        </p:txBody>
      </p:sp>
      <p:sp>
        <p:nvSpPr>
          <p:cNvPr id="5" name="">
            <a:extLst xmlns:a="http://schemas.openxmlformats.org/drawingml/2006/main">
              <a:ext uri="{FF2B5EF4-FFF2-40B4-BE49-F238E27FC236}">
                <a16:creationId xmlns:a16="http://schemas.microsoft.com/office/drawing/2014/main" id="{BF3B27C9-1036-4FA6-B522-EAD5BABF7FD2}"/>
              </a:ext>
            </a:extLst>
          </p:cNvPr>
          <p:cNvSpPr>
            <a:spLocks xmlns:a="http://schemas.openxmlformats.org/drawingml/2006/main" noGrp="1"/>
          </p:cNvSpPr>
          <p:nvPr/>
        </p:nvSpPr>
        <p:spPr>
          <a:xfrm xmlns:a="http://schemas.openxmlformats.org/drawingml/2006/main">
            <a:off x="609600" y="3028950"/>
            <a:ext cx="50958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F82"/>
                </a:solidFill>
                <a:latin typeface="Aptos"/>
                <a:ea typeface="Aptos"/>
                <a:cs typeface="Aptos"/>
              </a:defRPr>
            </a:pPr>
            <a:r>
              <a:rPr sz="2175" b="1">
                <a:solidFill>
                  <a:srgbClr val="087F82"/>
                </a:solidFill>
                <a:latin typeface="Aptos"/>
                <a:ea typeface="Aptos"/>
                <a:cs typeface="Aptos"/>
              </a:rPr>
              <a:t>Public operation</a:t>
            </a:r>
          </a:p>
        </p:txBody>
      </p:sp>
      <p:sp>
        <p:nvSpPr>
          <p:cNvPr id="6" name="">
            <a:extLst xmlns:a="http://schemas.openxmlformats.org/drawingml/2006/main">
              <a:ext uri="{FF2B5EF4-FFF2-40B4-BE49-F238E27FC236}">
                <a16:creationId xmlns:a16="http://schemas.microsoft.com/office/drawing/2014/main" id="{6B155DF2-AD75-4193-96CE-C9AEE133797A}"/>
              </a:ext>
            </a:extLst>
          </p:cNvPr>
          <p:cNvSpPr>
            <a:spLocks xmlns:a="http://schemas.openxmlformats.org/drawingml/2006/main" noGrp="1"/>
          </p:cNvSpPr>
          <p:nvPr/>
        </p:nvSpPr>
        <p:spPr>
          <a:xfrm xmlns:a="http://schemas.openxmlformats.org/drawingml/2006/main">
            <a:off x="609600" y="3886200"/>
            <a:ext cx="509587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087F82"/>
                </a:solidFill>
                <a:latin typeface="Aptos"/>
                <a:ea typeface="Aptos"/>
                <a:cs typeface="Aptos"/>
              </a:defRPr>
            </a:pPr>
            <a:r>
              <a:rPr sz="3450" b="1">
                <a:solidFill>
                  <a:srgbClr val="087F82"/>
                </a:solidFill>
                <a:latin typeface="Aptos"/>
                <a:ea typeface="Aptos"/>
                <a:cs typeface="Aptos"/>
              </a:rPr>
              <a:t>c = aᵉ mod N</a:t>
            </a:r>
          </a:p>
        </p:txBody>
      </p:sp>
      <p:sp>
        <p:nvSpPr>
          <p:cNvPr id="7" name="">
            <a:extLst xmlns:a="http://schemas.openxmlformats.org/drawingml/2006/main">
              <a:ext uri="{FF2B5EF4-FFF2-40B4-BE49-F238E27FC236}">
                <a16:creationId xmlns:a16="http://schemas.microsoft.com/office/drawing/2014/main" id="{1201AA74-56A4-4CAC-9BE0-622B65E8C1D5}"/>
              </a:ext>
            </a:extLst>
          </p:cNvPr>
          <p:cNvSpPr>
            <a:spLocks xmlns:a="http://schemas.openxmlformats.org/drawingml/2006/main" noGrp="1"/>
          </p:cNvSpPr>
          <p:nvPr/>
        </p:nvSpPr>
        <p:spPr>
          <a:xfrm xmlns:a="http://schemas.openxmlformats.org/drawingml/2006/main">
            <a:off x="6553200" y="3028950"/>
            <a:ext cx="49911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45C48"/>
                </a:solidFill>
                <a:latin typeface="Aptos"/>
                <a:ea typeface="Aptos"/>
                <a:cs typeface="Aptos"/>
              </a:defRPr>
            </a:pPr>
            <a:r>
              <a:rPr sz="2175" b="1">
                <a:solidFill>
                  <a:srgbClr val="C45C48"/>
                </a:solidFill>
                <a:latin typeface="Aptos"/>
                <a:ea typeface="Aptos"/>
                <a:cs typeface="Aptos"/>
              </a:rPr>
              <a:t>Trapdoor inverse</a:t>
            </a:r>
          </a:p>
        </p:txBody>
      </p:sp>
      <p:sp>
        <p:nvSpPr>
          <p:cNvPr id="8" name="">
            <a:extLst xmlns:a="http://schemas.openxmlformats.org/drawingml/2006/main">
              <a:ext uri="{FF2B5EF4-FFF2-40B4-BE49-F238E27FC236}">
                <a16:creationId xmlns:a16="http://schemas.microsoft.com/office/drawing/2014/main" id="{E7E5A3E8-9BB9-43FA-AAB4-3E12C4D0D3EF}"/>
              </a:ext>
            </a:extLst>
          </p:cNvPr>
          <p:cNvSpPr>
            <a:spLocks xmlns:a="http://schemas.openxmlformats.org/drawingml/2006/main" noGrp="1"/>
          </p:cNvSpPr>
          <p:nvPr/>
        </p:nvSpPr>
        <p:spPr>
          <a:xfrm xmlns:a="http://schemas.openxmlformats.org/drawingml/2006/main">
            <a:off x="6553200" y="3886200"/>
            <a:ext cx="499110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C45C48"/>
                </a:solidFill>
                <a:latin typeface="Aptos"/>
                <a:ea typeface="Aptos"/>
                <a:cs typeface="Aptos"/>
              </a:defRPr>
            </a:pPr>
            <a:r>
              <a:rPr sz="3450" b="1">
                <a:solidFill>
                  <a:srgbClr val="C45C48"/>
                </a:solidFill>
                <a:latin typeface="Aptos"/>
                <a:ea typeface="Aptos"/>
                <a:cs typeface="Aptos"/>
              </a:rPr>
              <a:t>a = cᵈ mod N</a:t>
            </a:r>
          </a:p>
        </p:txBody>
      </p:sp>
      <p:sp>
        <p:nvSpPr>
          <p:cNvPr id="9" name="">
            <a:extLst xmlns:a="http://schemas.openxmlformats.org/drawingml/2006/main">
              <a:ext uri="{FF2B5EF4-FFF2-40B4-BE49-F238E27FC236}">
                <a16:creationId xmlns:a16="http://schemas.microsoft.com/office/drawing/2014/main" id="{8B3D2BB4-CAD3-43F6-AE18-6D89C44BFDF7}"/>
              </a:ext>
            </a:extLst>
          </p:cNvPr>
          <p:cNvSpPr>
            <a:spLocks xmlns:a="http://schemas.openxmlformats.org/drawingml/2006/main" noGrp="1"/>
          </p:cNvSpPr>
          <p:nvPr/>
        </p:nvSpPr>
        <p:spPr>
          <a:xfrm xmlns:a="http://schemas.openxmlformats.org/drawingml/2006/main">
            <a:off x="609600" y="5962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λ(N) = lcm(p − 1, q − 1). The encoded representative a differs from the application message.</a:t>
            </a:r>
          </a:p>
        </p:txBody>
      </p:sp>
    </p:spTree>
    <p:extLst>
      <p:ext uri="{BB962C8B-B14F-4D97-AF65-F5344CB8AC3E}">
        <p14:creationId xmlns:p14="http://schemas.microsoft.com/office/powerpoint/2010/main" val="739868296"/>
      </p:ext>
    </p:extLst>
  </p:cSld>
</p:sld>
</file>

<file path=ppt/slides/slide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7B87FEA-8537-4BC5-B9C9-A31920CEF3A2}"/>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A cheap public operation helps deployment</a:t>
            </a:r>
          </a:p>
        </p:txBody>
      </p:sp>
      <p:sp>
        <p:nvSpPr>
          <p:cNvPr id="2" name="">
            <a:extLst xmlns:a="http://schemas.openxmlformats.org/drawingml/2006/main">
              <a:ext uri="{FF2B5EF4-FFF2-40B4-BE49-F238E27FC236}">
                <a16:creationId xmlns:a16="http://schemas.microsoft.com/office/drawing/2014/main" id="{F365C684-3F2F-4587-86B9-D5612D449471}"/>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RSA, ML-KEM and an ABW research agenda</a:t>
            </a:r>
          </a:p>
        </p:txBody>
      </p:sp>
      <p:sp>
        <p:nvSpPr>
          <p:cNvPr id="3" name="">
            <a:extLst xmlns:a="http://schemas.openxmlformats.org/drawingml/2006/main">
              <a:ext uri="{FF2B5EF4-FFF2-40B4-BE49-F238E27FC236}">
                <a16:creationId xmlns:a16="http://schemas.microsoft.com/office/drawing/2014/main" id="{AC0CDDBD-A49E-439D-92B8-28F74B8D71CC}"/>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05</a:t>
            </a:r>
          </a:p>
        </p:txBody>
      </p:sp>
      <p:sp>
        <p:nvSpPr>
          <p:cNvPr id="4" name="">
            <a:extLst xmlns:a="http://schemas.openxmlformats.org/drawingml/2006/main">
              <a:ext uri="{FF2B5EF4-FFF2-40B4-BE49-F238E27FC236}">
                <a16:creationId xmlns:a16="http://schemas.microsoft.com/office/drawing/2014/main" id="{39F1170F-A516-498A-8CEE-E4988334916F}"/>
              </a:ext>
            </a:extLst>
          </p:cNvPr>
          <p:cNvSpPr>
            <a:spLocks xmlns:a="http://schemas.openxmlformats.org/drawingml/2006/main" noGrp="1"/>
          </p:cNvSpPr>
          <p:nvPr/>
        </p:nvSpPr>
        <p:spPr>
          <a:xfrm xmlns:a="http://schemas.openxmlformats.org/drawingml/2006/main">
            <a:off x="609600" y="1733550"/>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900" b="1">
                <a:solidFill>
                  <a:srgbClr val="087F82"/>
                </a:solidFill>
                <a:latin typeface="Aptos"/>
                <a:ea typeface="Aptos"/>
                <a:cs typeface="Aptos"/>
              </a:defRPr>
            </a:pPr>
            <a:r>
              <a:rPr sz="3900" b="1">
                <a:solidFill>
                  <a:srgbClr val="087F82"/>
                </a:solidFill>
                <a:latin typeface="Aptos"/>
                <a:ea typeface="Aptos"/>
                <a:cs typeface="Aptos"/>
              </a:rPr>
              <a:t>65537 = 2¹⁶ + 1</a:t>
            </a:r>
          </a:p>
        </p:txBody>
      </p:sp>
      <p:sp>
        <p:nvSpPr>
          <p:cNvPr id="5" name="">
            <a:extLst xmlns:a="http://schemas.openxmlformats.org/drawingml/2006/main">
              <a:ext uri="{FF2B5EF4-FFF2-40B4-BE49-F238E27FC236}">
                <a16:creationId xmlns:a16="http://schemas.microsoft.com/office/drawing/2014/main" id="{6A54909E-A0A3-49C3-9776-0B735528BCAA}"/>
              </a:ext>
            </a:extLst>
          </p:cNvPr>
          <p:cNvSpPr>
            <a:spLocks xmlns:a="http://schemas.openxmlformats.org/drawingml/2006/main" noGrp="1"/>
          </p:cNvSpPr>
          <p:nvPr/>
        </p:nvSpPr>
        <p:spPr>
          <a:xfrm xmlns:a="http://schemas.openxmlformats.org/drawingml/2006/main">
            <a:off x="609600" y="3105150"/>
            <a:ext cx="10972800" cy="152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087F82"/>
                </a:solidFill>
                <a:latin typeface="Aptos"/>
                <a:ea typeface="Aptos"/>
                <a:cs typeface="Aptos"/>
              </a:defRPr>
            </a:pPr>
            <a:r>
              <a:rPr sz="3525" b="1">
                <a:solidFill>
                  <a:srgbClr val="087F82"/>
                </a:solidFill>
                <a:latin typeface="Aptos"/>
                <a:ea typeface="Aptos"/>
                <a:cs typeface="Aptos"/>
              </a:rPr>
              <a:t>16 modular squarings</a:t>
            </a:r>
          </a:p>
          <a:p xmlns:a="http://schemas.openxmlformats.org/drawingml/2006/main">
            <a:pPr algn="l">
              <a:defRPr sz="3525" b="1">
                <a:solidFill>
                  <a:srgbClr val="087F82"/>
                </a:solidFill>
                <a:latin typeface="Aptos"/>
                <a:ea typeface="Aptos"/>
                <a:cs typeface="Aptos"/>
              </a:defRPr>
            </a:pPr>
            <a:r>
              <a:rPr sz="3525" b="1">
                <a:solidFill>
                  <a:srgbClr val="087F82"/>
                </a:solidFill>
                <a:latin typeface="Aptos"/>
                <a:ea typeface="Aptos"/>
                <a:cs typeface="Aptos"/>
              </a:rPr>
              <a:t>+ 1 modular multiplication</a:t>
            </a:r>
          </a:p>
        </p:txBody>
      </p:sp>
      <p:sp>
        <p:nvSpPr>
          <p:cNvPr id="6" name="">
            <a:extLst xmlns:a="http://schemas.openxmlformats.org/drawingml/2006/main">
              <a:ext uri="{FF2B5EF4-FFF2-40B4-BE49-F238E27FC236}">
                <a16:creationId xmlns:a16="http://schemas.microsoft.com/office/drawing/2014/main" id="{CA5E95FB-766E-4B6E-945B-E5DA2A247E78}"/>
              </a:ext>
            </a:extLst>
          </p:cNvPr>
          <p:cNvSpPr>
            <a:spLocks xmlns:a="http://schemas.openxmlformats.org/drawingml/2006/main" noGrp="1"/>
          </p:cNvSpPr>
          <p:nvPr/>
        </p:nvSpPr>
        <p:spPr>
          <a:xfrm xmlns:a="http://schemas.openxmlformats.org/drawingml/2006/main">
            <a:off x="609600" y="5248275"/>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12F43"/>
                </a:solidFill>
                <a:latin typeface="Aptos"/>
                <a:ea typeface="Aptos"/>
                <a:cs typeface="Aptos"/>
              </a:defRPr>
            </a:pPr>
            <a:r>
              <a:rPr sz="2325" b="0">
                <a:solidFill>
                  <a:srgbClr val="112F43"/>
                </a:solidFill>
                <a:latin typeface="Aptos"/>
                <a:ea typeface="Aptos"/>
                <a:cs typeface="Aptos"/>
              </a:rPr>
              <a:t>This asymmetry favours public encryption and signature verification.</a:t>
            </a:r>
          </a:p>
        </p:txBody>
      </p:sp>
      <p:sp>
        <p:nvSpPr>
          <p:cNvPr id="7" name="">
            <a:extLst xmlns:a="http://schemas.openxmlformats.org/drawingml/2006/main">
              <a:ext uri="{FF2B5EF4-FFF2-40B4-BE49-F238E27FC236}">
                <a16:creationId xmlns:a16="http://schemas.microsoft.com/office/drawing/2014/main" id="{8ADF941F-F772-48E0-90C4-A418492D9FF6}"/>
              </a:ext>
            </a:extLst>
          </p:cNvPr>
          <p:cNvSpPr>
            <a:spLocks xmlns:a="http://schemas.openxmlformats.org/drawingml/2006/main" noGrp="1"/>
          </p:cNvSpPr>
          <p:nvPr/>
        </p:nvSpPr>
        <p:spPr>
          <a:xfrm xmlns:a="http://schemas.openxmlformats.org/drawingml/2006/main">
            <a:off x="609600" y="5962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Arithmetic count for the RSA primitive. It is not an end-to-end latency benchmark.</a:t>
            </a:r>
          </a:p>
        </p:txBody>
      </p:sp>
    </p:spTree>
    <p:extLst>
      <p:ext uri="{BB962C8B-B14F-4D97-AF65-F5344CB8AC3E}">
        <p14:creationId xmlns:p14="http://schemas.microsoft.com/office/powerpoint/2010/main" val="713089151"/>
      </p:ext>
    </p:extLst>
  </p:cSld>
</p:sld>
</file>

<file path=ppt/slides/slide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C086FC3-44AB-43DE-AB00-BF8D131CFA62}"/>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RSA’s surrounding standards mattered</a:t>
            </a:r>
          </a:p>
        </p:txBody>
      </p:sp>
      <p:sp>
        <p:nvSpPr>
          <p:cNvPr id="2" name="">
            <a:extLst xmlns:a="http://schemas.openxmlformats.org/drawingml/2006/main">
              <a:ext uri="{FF2B5EF4-FFF2-40B4-BE49-F238E27FC236}">
                <a16:creationId xmlns:a16="http://schemas.microsoft.com/office/drawing/2014/main" id="{0F4B6747-C083-44F5-9554-1C8B3FD4972E}"/>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RSA, ML-KEM and an ABW research agenda</a:t>
            </a:r>
          </a:p>
        </p:txBody>
      </p:sp>
      <p:sp>
        <p:nvSpPr>
          <p:cNvPr id="3" name="">
            <a:extLst xmlns:a="http://schemas.openxmlformats.org/drawingml/2006/main">
              <a:ext uri="{FF2B5EF4-FFF2-40B4-BE49-F238E27FC236}">
                <a16:creationId xmlns:a16="http://schemas.microsoft.com/office/drawing/2014/main" id="{D5103B43-3CC8-406D-959E-C6AB2DF5FB92}"/>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06</a:t>
            </a:r>
          </a:p>
        </p:txBody>
      </p:sp>
      <p:graphicFrame>
        <p:nvGraphicFramePr>
          <p:cNvPr id="9" name=""/>
          <p:cNvGraphicFramePr/>
          <p:nvPr/>
        </p:nvGraphicFramePr>
        <p:xfrm>
          <a:off xmlns:a="http://schemas.openxmlformats.org/drawingml/2006/main" x="609600" y="1657350"/>
          <a:ext xmlns:a="http://schemas.openxmlformats.org/drawingml/2006/main" cx="10972800" cy="3752850"/>
        </p:xfrm>
        <a:graphic xmlns:a="http://schemas.openxmlformats.org/drawingml/2006/main">
          <a:graphicData uri="http://schemas.openxmlformats.org/drawingml/2006/table">
            <a:tbl>
              <a:tblPr/>
              <a:tblGrid>
                <a:gridCol w="3638550"/>
                <a:gridCol w="7334250"/>
              </a:tblGrid>
              <a:tr h="750570">
                <a:tc>
                  <a:txBody>
                    <a:bodyPr/>
                    <a:lstStyle/>
                    <a:p>
                      <a:r>
                        <a:rPr sz="1950" b="1">
                          <a:solidFill>
                            <a:srgbClr val="FFFFFF"/>
                          </a:solidFill>
                          <a:latin typeface="Aptos"/>
                          <a:ea typeface="Aptos"/>
                          <a:cs typeface="Aptos"/>
                        </a:rPr>
                        <a:t>Layer</a:t>
                      </a:r>
                    </a:p>
                  </a:txBody>
                  <a:tcPr marL="142875" marR="114300" marT="104775" marB="85725" anchor="ctr">
                    <a:solidFill>
                      <a:srgbClr val="112F43"/>
                    </a:solidFill>
                  </a:tcPr>
                </a:tc>
                <a:tc>
                  <a:txBody>
                    <a:bodyPr/>
                    <a:lstStyle/>
                    <a:p>
                      <a:r>
                        <a:rPr sz="1950" b="1">
                          <a:solidFill>
                            <a:srgbClr val="FFFFFF"/>
                          </a:solidFill>
                          <a:latin typeface="Aptos"/>
                          <a:ea typeface="Aptos"/>
                          <a:cs typeface="Aptos"/>
                        </a:rPr>
                        <a:t>Practical contribution</a:t>
                      </a:r>
                    </a:p>
                  </a:txBody>
                  <a:tcPr marL="142875" marR="114300" marT="104775" marB="85725" anchor="ctr">
                    <a:solidFill>
                      <a:srgbClr val="112F43"/>
                    </a:solidFill>
                  </a:tcPr>
                </a:tc>
              </a:tr>
              <a:tr h="750570">
                <a:tc>
                  <a:txBody>
                    <a:bodyPr/>
                    <a:lstStyle/>
                    <a:p>
                      <a:r>
                        <a:rPr sz="1950">
                          <a:solidFill>
                            <a:srgbClr val="112F43"/>
                          </a:solidFill>
                          <a:latin typeface="Aptos"/>
                          <a:ea typeface="Aptos"/>
                          <a:cs typeface="Aptos"/>
                        </a:rPr>
                        <a:t>RSAES-OAEP</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Randomized encryption encoding</a:t>
                      </a:r>
                    </a:p>
                  </a:txBody>
                  <a:tcPr marL="142875" marR="114300" marT="104775" marB="85725" anchor="ctr">
                    <a:solidFill>
                      <a:srgbClr val="F7F5F0"/>
                    </a:solidFill>
                  </a:tcPr>
                </a:tc>
              </a:tr>
              <a:tr h="750570">
                <a:tc>
                  <a:txBody>
                    <a:bodyPr/>
                    <a:lstStyle/>
                    <a:p>
                      <a:r>
                        <a:rPr sz="1950">
                          <a:solidFill>
                            <a:srgbClr val="112F43"/>
                          </a:solidFill>
                          <a:latin typeface="Aptos"/>
                          <a:ea typeface="Aptos"/>
                          <a:cs typeface="Aptos"/>
                        </a:rPr>
                        <a:t>RSASSA-PSS</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A dedicated probabilistic signature scheme</a:t>
                      </a:r>
                    </a:p>
                  </a:txBody>
                  <a:tcPr marL="142875" marR="114300" marT="104775" marB="85725" anchor="ctr">
                    <a:solidFill>
                      <a:srgbClr val="F7F5F0"/>
                    </a:solidFill>
                  </a:tcPr>
                </a:tc>
              </a:tr>
              <a:tr h="750570">
                <a:tc>
                  <a:txBody>
                    <a:bodyPr/>
                    <a:lstStyle/>
                    <a:p>
                      <a:r>
                        <a:rPr sz="1950">
                          <a:solidFill>
                            <a:srgbClr val="112F43"/>
                          </a:solidFill>
                          <a:latin typeface="Aptos"/>
                          <a:ea typeface="Aptos"/>
                          <a:cs typeface="Aptos"/>
                        </a:rPr>
                        <a:t>Certificates and key formats</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Public-key authentication and interoperability</a:t>
                      </a:r>
                    </a:p>
                  </a:txBody>
                  <a:tcPr marL="142875" marR="114300" marT="104775" marB="85725" anchor="ctr">
                    <a:solidFill>
                      <a:srgbClr val="F7F5F0"/>
                    </a:solidFill>
                  </a:tcPr>
                </a:tc>
              </a:tr>
              <a:tr h="750570">
                <a:tc>
                  <a:txBody>
                    <a:bodyPr/>
                    <a:lstStyle/>
                    <a:p>
                      <a:r>
                        <a:rPr sz="1950">
                          <a:solidFill>
                            <a:srgbClr val="112F43"/>
                          </a:solidFill>
                          <a:latin typeface="Aptos"/>
                          <a:ea typeface="Aptos"/>
                          <a:cs typeface="Aptos"/>
                        </a:rPr>
                        <a:t>Libraries and hardware support</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Implementations that applications can reuse</a:t>
                      </a:r>
                    </a:p>
                  </a:txBody>
                  <a:tcPr marL="142875" marR="114300" marT="104775" marB="85725" anchor="ctr">
                    <a:solidFill>
                      <a:srgbClr val="F7F5F0"/>
                    </a:solidFill>
                  </a:tcPr>
                </a:tc>
              </a:tr>
            </a:tbl>
          </a:graphicData>
        </a:graphic>
      </p:graphicFrame>
      <p:sp>
        <p:nvSpPr>
          <p:cNvPr id="5" name="">
            <a:extLst xmlns:a="http://schemas.openxmlformats.org/drawingml/2006/main">
              <a:ext uri="{FF2B5EF4-FFF2-40B4-BE49-F238E27FC236}">
                <a16:creationId xmlns:a16="http://schemas.microsoft.com/office/drawing/2014/main" id="{C519CA58-1A3E-48C5-8DAE-35283EF1825C}"/>
              </a:ext>
            </a:extLst>
          </p:cNvPr>
          <p:cNvSpPr>
            <a:spLocks xmlns:a="http://schemas.openxmlformats.org/drawingml/2006/main" noGrp="1"/>
          </p:cNvSpPr>
          <p:nvPr/>
        </p:nvSpPr>
        <p:spPr>
          <a:xfrm xmlns:a="http://schemas.openxmlformats.org/drawingml/2006/main">
            <a:off x="609600" y="5962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The case-study inference: lower integration effort can matter as much as arithmetic elegance.</a:t>
            </a:r>
          </a:p>
        </p:txBody>
      </p:sp>
    </p:spTree>
    <p:extLst>
      <p:ext uri="{BB962C8B-B14F-4D97-AF65-F5344CB8AC3E}">
        <p14:creationId xmlns:p14="http://schemas.microsoft.com/office/powerpoint/2010/main" val="1975209189"/>
      </p:ext>
    </p:extLst>
  </p:cSld>
</p:sld>
</file>

<file path=ppt/slides/slide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64D0662-00D3-414D-BBA2-A7996F5AFCF8}"/>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RSA’s advantages have boundaries</a:t>
            </a:r>
          </a:p>
        </p:txBody>
      </p:sp>
      <p:sp>
        <p:nvSpPr>
          <p:cNvPr id="2" name="">
            <a:extLst xmlns:a="http://schemas.openxmlformats.org/drawingml/2006/main">
              <a:ext uri="{FF2B5EF4-FFF2-40B4-BE49-F238E27FC236}">
                <a16:creationId xmlns:a16="http://schemas.microsoft.com/office/drawing/2014/main" id="{0261E2C2-740D-4702-8B8B-BD70BE23DA26}"/>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RSA, ML-KEM and an ABW research agenda</a:t>
            </a:r>
          </a:p>
        </p:txBody>
      </p:sp>
      <p:sp>
        <p:nvSpPr>
          <p:cNvPr id="3" name="">
            <a:extLst xmlns:a="http://schemas.openxmlformats.org/drawingml/2006/main">
              <a:ext uri="{FF2B5EF4-FFF2-40B4-BE49-F238E27FC236}">
                <a16:creationId xmlns:a16="http://schemas.microsoft.com/office/drawing/2014/main" id="{9F2227F4-60AF-4681-8682-DC296D99FD80}"/>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07</a:t>
            </a:r>
          </a:p>
        </p:txBody>
      </p:sp>
      <p:graphicFrame>
        <p:nvGraphicFramePr>
          <p:cNvPr id="9" name=""/>
          <p:cNvGraphicFramePr/>
          <p:nvPr/>
        </p:nvGraphicFramePr>
        <p:xfrm>
          <a:off xmlns:a="http://schemas.openxmlformats.org/drawingml/2006/main" x="609600" y="1657350"/>
          <a:ext xmlns:a="http://schemas.openxmlformats.org/drawingml/2006/main" cx="10972800" cy="3752850"/>
        </p:xfrm>
        <a:graphic xmlns:a="http://schemas.openxmlformats.org/drawingml/2006/main">
          <a:graphicData uri="http://schemas.openxmlformats.org/drawingml/2006/table">
            <a:tbl>
              <a:tblPr/>
              <a:tblGrid>
                <a:gridCol w="3333750"/>
                <a:gridCol w="7639050"/>
              </a:tblGrid>
              <a:tr h="750570">
                <a:tc>
                  <a:txBody>
                    <a:bodyPr/>
                    <a:lstStyle/>
                    <a:p>
                      <a:r>
                        <a:rPr sz="1950" b="1">
                          <a:solidFill>
                            <a:srgbClr val="FFFFFF"/>
                          </a:solidFill>
                          <a:latin typeface="Aptos"/>
                          <a:ea typeface="Aptos"/>
                          <a:cs typeface="Aptos"/>
                        </a:rPr>
                        <a:t>Boundary</a:t>
                      </a:r>
                    </a:p>
                  </a:txBody>
                  <a:tcPr marL="142875" marR="114300" marT="104775" marB="85725" anchor="ctr">
                    <a:solidFill>
                      <a:srgbClr val="112F43"/>
                    </a:solidFill>
                  </a:tcPr>
                </a:tc>
                <a:tc>
                  <a:txBody>
                    <a:bodyPr/>
                    <a:lstStyle/>
                    <a:p>
                      <a:r>
                        <a:rPr sz="1950" b="1">
                          <a:solidFill>
                            <a:srgbClr val="FFFFFF"/>
                          </a:solidFill>
                          <a:latin typeface="Aptos"/>
                          <a:ea typeface="Aptos"/>
                          <a:cs typeface="Aptos"/>
                        </a:rPr>
                        <a:t>Consequence</a:t>
                      </a:r>
                    </a:p>
                  </a:txBody>
                  <a:tcPr marL="142875" marR="114300" marT="104775" marB="85725" anchor="ctr">
                    <a:solidFill>
                      <a:srgbClr val="112F43"/>
                    </a:solidFill>
                  </a:tcPr>
                </a:tc>
              </a:tr>
              <a:tr h="750570">
                <a:tc>
                  <a:txBody>
                    <a:bodyPr/>
                    <a:lstStyle/>
                    <a:p>
                      <a:r>
                        <a:rPr sz="1950">
                          <a:solidFill>
                            <a:srgbClr val="112F43"/>
                          </a:solidFill>
                          <a:latin typeface="Aptos"/>
                          <a:ea typeface="Aptos"/>
                          <a:cs typeface="Aptos"/>
                        </a:rPr>
                        <a:t>Raw deterministic exponentiation</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Textbook RSA lacks semantic encryption security</a:t>
                      </a:r>
                    </a:p>
                  </a:txBody>
                  <a:tcPr marL="142875" marR="114300" marT="104775" marB="85725" anchor="ctr">
                    <a:solidFill>
                      <a:srgbClr val="F7F5F0"/>
                    </a:solidFill>
                  </a:tcPr>
                </a:tc>
              </a:tr>
              <a:tr h="750570">
                <a:tc>
                  <a:txBody>
                    <a:bodyPr/>
                    <a:lstStyle/>
                    <a:p>
                      <a:r>
                        <a:rPr sz="1950">
                          <a:solidFill>
                            <a:srgbClr val="112F43"/>
                          </a:solidFill>
                          <a:latin typeface="Aptos"/>
                          <a:ea typeface="Aptos"/>
                          <a:cs typeface="Aptos"/>
                        </a:rPr>
                        <a:t>Private-key computation</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Constant-time code, blinding and fault checks matter</a:t>
                      </a:r>
                    </a:p>
                  </a:txBody>
                  <a:tcPr marL="142875" marR="114300" marT="104775" marB="85725" anchor="ctr">
                    <a:solidFill>
                      <a:srgbClr val="F7F5F0"/>
                    </a:solidFill>
                  </a:tcPr>
                </a:tc>
              </a:tr>
              <a:tr h="750570">
                <a:tc>
                  <a:txBody>
                    <a:bodyPr/>
                    <a:lstStyle/>
                    <a:p>
                      <a:r>
                        <a:rPr sz="1950">
                          <a:solidFill>
                            <a:srgbClr val="112F43"/>
                          </a:solidFill>
                          <a:latin typeface="Aptos"/>
                          <a:ea typeface="Aptos"/>
                          <a:cs typeface="Aptos"/>
                        </a:rPr>
                        <a:t>Static key transport</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Later key compromise can expose recorded sessions</a:t>
                      </a:r>
                    </a:p>
                  </a:txBody>
                  <a:tcPr marL="142875" marR="114300" marT="104775" marB="85725" anchor="ctr">
                    <a:solidFill>
                      <a:srgbClr val="F7F5F0"/>
                    </a:solidFill>
                  </a:tcPr>
                </a:tc>
              </a:tr>
              <a:tr h="750570">
                <a:tc>
                  <a:txBody>
                    <a:bodyPr/>
                    <a:lstStyle/>
                    <a:p>
                      <a:r>
                        <a:rPr sz="1950">
                          <a:solidFill>
                            <a:srgbClr val="112F43"/>
                          </a:solidFill>
                          <a:latin typeface="Aptos"/>
                          <a:ea typeface="Aptos"/>
                          <a:cs typeface="Aptos"/>
                        </a:rPr>
                        <a:t>Quantum factoring</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RSA is not a post-quantum foundation</a:t>
                      </a:r>
                    </a:p>
                  </a:txBody>
                  <a:tcPr marL="142875" marR="114300" marT="104775" marB="85725" anchor="ctr">
                    <a:solidFill>
                      <a:srgbClr val="F7F5F0"/>
                    </a:solidFill>
                  </a:tcPr>
                </a:tc>
              </a:tr>
            </a:tbl>
          </a:graphicData>
        </a:graphic>
      </p:graphicFrame>
      <p:sp>
        <p:nvSpPr>
          <p:cNvPr id="5" name="">
            <a:extLst xmlns:a="http://schemas.openxmlformats.org/drawingml/2006/main">
              <a:ext uri="{FF2B5EF4-FFF2-40B4-BE49-F238E27FC236}">
                <a16:creationId xmlns:a16="http://schemas.microsoft.com/office/drawing/2014/main" id="{07184B73-6DC9-4AD6-AEFA-D845C2452C68}"/>
              </a:ext>
            </a:extLst>
          </p:cNvPr>
          <p:cNvSpPr>
            <a:spLocks xmlns:a="http://schemas.openxmlformats.org/drawingml/2006/main" noGrp="1"/>
          </p:cNvSpPr>
          <p:nvPr/>
        </p:nvSpPr>
        <p:spPr>
          <a:xfrm xmlns:a="http://schemas.openxmlformats.org/drawingml/2006/main">
            <a:off x="609600" y="5962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TLS 1.3 removed RSA key transport. RSA signatures are a separate role.</a:t>
            </a:r>
          </a:p>
        </p:txBody>
      </p:sp>
    </p:spTree>
    <p:extLst>
      <p:ext uri="{BB962C8B-B14F-4D97-AF65-F5344CB8AC3E}">
        <p14:creationId xmlns:p14="http://schemas.microsoft.com/office/powerpoint/2010/main" val="304340890"/>
      </p:ext>
    </p:extLst>
  </p:cSld>
</p:sld>
</file>

<file path=ppt/slides/slide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CC01777-4927-442D-9B47-4F32FA435D87}"/>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CRYSTALS-Kyber and standardized ML-KEM</a:t>
            </a:r>
          </a:p>
        </p:txBody>
      </p:sp>
      <p:sp>
        <p:nvSpPr>
          <p:cNvPr id="2" name="">
            <a:extLst xmlns:a="http://schemas.openxmlformats.org/drawingml/2006/main">
              <a:ext uri="{FF2B5EF4-FFF2-40B4-BE49-F238E27FC236}">
                <a16:creationId xmlns:a16="http://schemas.microsoft.com/office/drawing/2014/main" id="{0FE1A79D-1590-49DD-957B-FC29C64715CC}"/>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RSA, ML-KEM and an ABW research agenda</a:t>
            </a:r>
          </a:p>
        </p:txBody>
      </p:sp>
      <p:sp>
        <p:nvSpPr>
          <p:cNvPr id="3" name="">
            <a:extLst xmlns:a="http://schemas.openxmlformats.org/drawingml/2006/main">
              <a:ext uri="{FF2B5EF4-FFF2-40B4-BE49-F238E27FC236}">
                <a16:creationId xmlns:a16="http://schemas.microsoft.com/office/drawing/2014/main" id="{8DF067D8-E319-4C00-ACE0-7202264D8B36}"/>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08</a:t>
            </a:r>
          </a:p>
        </p:txBody>
      </p:sp>
      <p:sp>
        <p:nvSpPr>
          <p:cNvPr id="4" name="">
            <a:extLst xmlns:a="http://schemas.openxmlformats.org/drawingml/2006/main">
              <a:ext uri="{FF2B5EF4-FFF2-40B4-BE49-F238E27FC236}">
                <a16:creationId xmlns:a16="http://schemas.microsoft.com/office/drawing/2014/main" id="{B622AF8C-FEA2-4405-BD75-441A9605C5AF}"/>
              </a:ext>
            </a:extLst>
          </p:cNvPr>
          <p:cNvSpPr>
            <a:spLocks xmlns:a="http://schemas.openxmlformats.org/drawingml/2006/main" noGrp="1"/>
          </p:cNvSpPr>
          <p:nvPr/>
        </p:nvSpPr>
        <p:spPr>
          <a:xfrm xmlns:a="http://schemas.openxmlformats.org/drawingml/2006/main">
            <a:off x="609600" y="1657350"/>
            <a:ext cx="847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087F82"/>
                </a:solidFill>
                <a:latin typeface="Aptos"/>
                <a:ea typeface="Aptos"/>
                <a:cs typeface="Aptos"/>
              </a:defRPr>
            </a:pPr>
            <a:r>
              <a:rPr sz="3225" b="1">
                <a:solidFill>
                  <a:srgbClr val="087F82"/>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78BB2F0D-1026-4948-B432-F265D7195C67}"/>
              </a:ext>
            </a:extLst>
          </p:cNvPr>
          <p:cNvSpPr>
            <a:spLocks xmlns:a="http://schemas.openxmlformats.org/drawingml/2006/main" noGrp="1"/>
          </p:cNvSpPr>
          <p:nvPr/>
        </p:nvSpPr>
        <p:spPr>
          <a:xfrm xmlns:a="http://schemas.openxmlformats.org/drawingml/2006/main">
            <a:off x="1714500" y="1657350"/>
            <a:ext cx="985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12F43"/>
                </a:solidFill>
                <a:latin typeface="Aptos"/>
                <a:ea typeface="Aptos"/>
                <a:cs typeface="Aptos"/>
              </a:defRPr>
            </a:pPr>
            <a:r>
              <a:rPr sz="2250" b="1">
                <a:solidFill>
                  <a:srgbClr val="112F43"/>
                </a:solidFill>
                <a:latin typeface="Aptos"/>
                <a:ea typeface="Aptos"/>
                <a:cs typeface="Aptos"/>
              </a:rPr>
              <a:t>2017: Kyber submission</a:t>
            </a:r>
          </a:p>
        </p:txBody>
      </p:sp>
      <p:sp>
        <p:nvSpPr>
          <p:cNvPr id="6" name="">
            <a:extLst xmlns:a="http://schemas.openxmlformats.org/drawingml/2006/main">
              <a:ext uri="{FF2B5EF4-FFF2-40B4-BE49-F238E27FC236}">
                <a16:creationId xmlns:a16="http://schemas.microsoft.com/office/drawing/2014/main" id="{EA0D4FBF-E25D-4185-B2DC-4744401A22C7}"/>
              </a:ext>
            </a:extLst>
          </p:cNvPr>
          <p:cNvSpPr>
            <a:spLocks xmlns:a="http://schemas.openxmlformats.org/drawingml/2006/main" noGrp="1"/>
          </p:cNvSpPr>
          <p:nvPr/>
        </p:nvSpPr>
        <p:spPr>
          <a:xfrm xmlns:a="http://schemas.openxmlformats.org/drawingml/2006/main">
            <a:off x="1714500" y="2200275"/>
            <a:ext cx="96869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6A74"/>
                </a:solidFill>
                <a:latin typeface="Aptos"/>
                <a:ea typeface="Aptos"/>
                <a:cs typeface="Aptos"/>
              </a:defRPr>
            </a:pPr>
            <a:r>
              <a:rPr sz="2025" b="0">
                <a:solidFill>
                  <a:srgbClr val="556A74"/>
                </a:solidFill>
                <a:latin typeface="Aptos"/>
                <a:ea typeface="Aptos"/>
                <a:cs typeface="Aptos"/>
              </a:rPr>
              <a:t>A concrete CCA-secure KEM candidate with code and test vectors.</a:t>
            </a:r>
          </a:p>
        </p:txBody>
      </p:sp>
      <p:sp>
        <p:nvSpPr>
          <p:cNvPr id="7" name="">
            <a:extLst xmlns:a="http://schemas.openxmlformats.org/drawingml/2006/main">
              <a:ext uri="{FF2B5EF4-FFF2-40B4-BE49-F238E27FC236}">
                <a16:creationId xmlns:a16="http://schemas.microsoft.com/office/drawing/2014/main" id="{D05B1B72-BA67-4E83-98B8-5465D9C4FEA8}"/>
              </a:ext>
            </a:extLst>
          </p:cNvPr>
          <p:cNvSpPr>
            <a:spLocks xmlns:a="http://schemas.openxmlformats.org/drawingml/2006/main" noGrp="1"/>
          </p:cNvSpPr>
          <p:nvPr/>
        </p:nvSpPr>
        <p:spPr>
          <a:xfrm xmlns:a="http://schemas.openxmlformats.org/drawingml/2006/main">
            <a:off x="609600" y="3105150"/>
            <a:ext cx="847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087F82"/>
                </a:solidFill>
                <a:latin typeface="Aptos"/>
                <a:ea typeface="Aptos"/>
                <a:cs typeface="Aptos"/>
              </a:defRPr>
            </a:pPr>
            <a:r>
              <a:rPr sz="3225" b="1">
                <a:solidFill>
                  <a:srgbClr val="087F82"/>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2EBB57EA-FD41-49F9-87BD-C6B2F63A2F94}"/>
              </a:ext>
            </a:extLst>
          </p:cNvPr>
          <p:cNvSpPr>
            <a:spLocks xmlns:a="http://schemas.openxmlformats.org/drawingml/2006/main" noGrp="1"/>
          </p:cNvSpPr>
          <p:nvPr/>
        </p:nvSpPr>
        <p:spPr>
          <a:xfrm xmlns:a="http://schemas.openxmlformats.org/drawingml/2006/main">
            <a:off x="1714500" y="3105150"/>
            <a:ext cx="985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12F43"/>
                </a:solidFill>
                <a:latin typeface="Aptos"/>
                <a:ea typeface="Aptos"/>
                <a:cs typeface="Aptos"/>
              </a:defRPr>
            </a:pPr>
            <a:r>
              <a:rPr sz="2250" b="1">
                <a:solidFill>
                  <a:srgbClr val="112F43"/>
                </a:solidFill>
                <a:latin typeface="Aptos"/>
                <a:ea typeface="Aptos"/>
                <a:cs typeface="Aptos"/>
              </a:rPr>
              <a:t>2022: NIST selection</a:t>
            </a:r>
          </a:p>
        </p:txBody>
      </p:sp>
      <p:sp>
        <p:nvSpPr>
          <p:cNvPr id="9" name="">
            <a:extLst xmlns:a="http://schemas.openxmlformats.org/drawingml/2006/main">
              <a:ext uri="{FF2B5EF4-FFF2-40B4-BE49-F238E27FC236}">
                <a16:creationId xmlns:a16="http://schemas.microsoft.com/office/drawing/2014/main" id="{DA5FCF20-3196-435C-8009-94443B5B27AE}"/>
              </a:ext>
            </a:extLst>
          </p:cNvPr>
          <p:cNvSpPr>
            <a:spLocks xmlns:a="http://schemas.openxmlformats.org/drawingml/2006/main" noGrp="1"/>
          </p:cNvSpPr>
          <p:nvPr/>
        </p:nvSpPr>
        <p:spPr>
          <a:xfrm xmlns:a="http://schemas.openxmlformats.org/drawingml/2006/main">
            <a:off x="1714500" y="3648075"/>
            <a:ext cx="96869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6A74"/>
                </a:solidFill>
                <a:latin typeface="Aptos"/>
                <a:ea typeface="Aptos"/>
                <a:cs typeface="Aptos"/>
              </a:defRPr>
            </a:pPr>
            <a:r>
              <a:rPr sz="2025" b="0">
                <a:solidFill>
                  <a:srgbClr val="556A74"/>
                </a:solidFill>
                <a:latin typeface="Aptos"/>
                <a:ea typeface="Aptos"/>
                <a:cs typeface="Aptos"/>
              </a:rPr>
              <a:t>A multi-round evaluation of security and deployment costs.</a:t>
            </a:r>
          </a:p>
        </p:txBody>
      </p:sp>
      <p:sp>
        <p:nvSpPr>
          <p:cNvPr id="10" name="">
            <a:extLst xmlns:a="http://schemas.openxmlformats.org/drawingml/2006/main">
              <a:ext uri="{FF2B5EF4-FFF2-40B4-BE49-F238E27FC236}">
                <a16:creationId xmlns:a16="http://schemas.microsoft.com/office/drawing/2014/main" id="{13700C40-2E12-46A2-947E-86488BB5477F}"/>
              </a:ext>
            </a:extLst>
          </p:cNvPr>
          <p:cNvSpPr>
            <a:spLocks xmlns:a="http://schemas.openxmlformats.org/drawingml/2006/main" noGrp="1"/>
          </p:cNvSpPr>
          <p:nvPr/>
        </p:nvSpPr>
        <p:spPr>
          <a:xfrm xmlns:a="http://schemas.openxmlformats.org/drawingml/2006/main">
            <a:off x="609600" y="4552950"/>
            <a:ext cx="847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087F82"/>
                </a:solidFill>
                <a:latin typeface="Aptos"/>
                <a:ea typeface="Aptos"/>
                <a:cs typeface="Aptos"/>
              </a:defRPr>
            </a:pPr>
            <a:r>
              <a:rPr sz="3225" b="1">
                <a:solidFill>
                  <a:srgbClr val="087F82"/>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0EEE7B41-FA71-417D-9FEB-9B7EA2BB16B9}"/>
              </a:ext>
            </a:extLst>
          </p:cNvPr>
          <p:cNvSpPr>
            <a:spLocks xmlns:a="http://schemas.openxmlformats.org/drawingml/2006/main" noGrp="1"/>
          </p:cNvSpPr>
          <p:nvPr/>
        </p:nvSpPr>
        <p:spPr>
          <a:xfrm xmlns:a="http://schemas.openxmlformats.org/drawingml/2006/main">
            <a:off x="1714500" y="4552950"/>
            <a:ext cx="985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12F43"/>
                </a:solidFill>
                <a:latin typeface="Aptos"/>
                <a:ea typeface="Aptos"/>
                <a:cs typeface="Aptos"/>
              </a:defRPr>
            </a:pPr>
            <a:r>
              <a:rPr sz="2250" b="1">
                <a:solidFill>
                  <a:srgbClr val="112F43"/>
                </a:solidFill>
                <a:latin typeface="Aptos"/>
                <a:ea typeface="Aptos"/>
                <a:cs typeface="Aptos"/>
              </a:rPr>
              <a:t>2024: FIPS 203 publishes ML-KEM</a:t>
            </a:r>
          </a:p>
        </p:txBody>
      </p:sp>
      <p:sp>
        <p:nvSpPr>
          <p:cNvPr id="12" name="">
            <a:extLst xmlns:a="http://schemas.openxmlformats.org/drawingml/2006/main">
              <a:ext uri="{FF2B5EF4-FFF2-40B4-BE49-F238E27FC236}">
                <a16:creationId xmlns:a16="http://schemas.microsoft.com/office/drawing/2014/main" id="{C22E27D2-FE04-428C-B6FA-62ABD907CA5C}"/>
              </a:ext>
            </a:extLst>
          </p:cNvPr>
          <p:cNvSpPr>
            <a:spLocks xmlns:a="http://schemas.openxmlformats.org/drawingml/2006/main" noGrp="1"/>
          </p:cNvSpPr>
          <p:nvPr/>
        </p:nvSpPr>
        <p:spPr>
          <a:xfrm xmlns:a="http://schemas.openxmlformats.org/drawingml/2006/main">
            <a:off x="1714500" y="5095875"/>
            <a:ext cx="96869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6A74"/>
                </a:solidFill>
                <a:latin typeface="Aptos"/>
                <a:ea typeface="Aptos"/>
                <a:cs typeface="Aptos"/>
              </a:defRPr>
            </a:pPr>
            <a:r>
              <a:rPr sz="2025" b="0">
                <a:solidFill>
                  <a:srgbClr val="556A74"/>
                </a:solidFill>
                <a:latin typeface="Aptos"/>
                <a:ea typeface="Aptos"/>
                <a:cs typeface="Aptos"/>
              </a:rPr>
              <a:t>A standardized derivative with its own exact specification.</a:t>
            </a:r>
          </a:p>
        </p:txBody>
      </p:sp>
    </p:spTree>
    <p:extLst>
      <p:ext uri="{BB962C8B-B14F-4D97-AF65-F5344CB8AC3E}">
        <p14:creationId xmlns:p14="http://schemas.microsoft.com/office/powerpoint/2010/main" val="1004682168"/>
      </p:ext>
    </p:extLst>
  </p:cSld>
</p:sld>
</file>

<file path=ppt/slides/slide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E05204D-A1C3-4DA2-A2E9-538CB1186A04}"/>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The Module-LWE design behind Kyber</a:t>
            </a:r>
          </a:p>
        </p:txBody>
      </p:sp>
      <p:sp>
        <p:nvSpPr>
          <p:cNvPr id="2" name="">
            <a:extLst xmlns:a="http://schemas.openxmlformats.org/drawingml/2006/main">
              <a:ext uri="{FF2B5EF4-FFF2-40B4-BE49-F238E27FC236}">
                <a16:creationId xmlns:a16="http://schemas.microsoft.com/office/drawing/2014/main" id="{A3B2170F-2EBD-46F8-A6CA-306E0627771B}"/>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RSA, ML-KEM and an ABW research agenda</a:t>
            </a:r>
          </a:p>
        </p:txBody>
      </p:sp>
      <p:sp>
        <p:nvSpPr>
          <p:cNvPr id="3" name="">
            <a:extLst xmlns:a="http://schemas.openxmlformats.org/drawingml/2006/main">
              <a:ext uri="{FF2B5EF4-FFF2-40B4-BE49-F238E27FC236}">
                <a16:creationId xmlns:a16="http://schemas.microsoft.com/office/drawing/2014/main" id="{2537ED1E-B7C7-4CDE-BFD7-1614F88EC5B9}"/>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09</a:t>
            </a:r>
          </a:p>
        </p:txBody>
      </p:sp>
      <p:sp>
        <p:nvSpPr>
          <p:cNvPr id="4" name="">
            <a:extLst xmlns:a="http://schemas.openxmlformats.org/drawingml/2006/main">
              <a:ext uri="{FF2B5EF4-FFF2-40B4-BE49-F238E27FC236}">
                <a16:creationId xmlns:a16="http://schemas.microsoft.com/office/drawing/2014/main" id="{56871D48-7C05-4D75-BBAE-8BA9CD6672B0}"/>
              </a:ext>
            </a:extLst>
          </p:cNvPr>
          <p:cNvSpPr>
            <a:spLocks xmlns:a="http://schemas.openxmlformats.org/drawingml/2006/main" noGrp="1"/>
          </p:cNvSpPr>
          <p:nvPr/>
        </p:nvSpPr>
        <p:spPr>
          <a:xfrm xmlns:a="http://schemas.openxmlformats.org/drawingml/2006/main">
            <a:off x="609600" y="165735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600" b="1">
                <a:solidFill>
                  <a:srgbClr val="087F82"/>
                </a:solidFill>
                <a:latin typeface="Aptos"/>
                <a:ea typeface="Aptos"/>
                <a:cs typeface="Aptos"/>
              </a:defRPr>
            </a:pPr>
            <a:r>
              <a:rPr sz="3600" b="1">
                <a:solidFill>
                  <a:srgbClr val="087F82"/>
                </a:solidFill>
                <a:latin typeface="Aptos"/>
                <a:ea typeface="Aptos"/>
                <a:cs typeface="Aptos"/>
              </a:rPr>
              <a:t>t = As + e</a:t>
            </a:r>
          </a:p>
        </p:txBody>
      </p:sp>
      <p:sp>
        <p:nvSpPr>
          <p:cNvPr id="5" name="">
            <a:extLst xmlns:a="http://schemas.openxmlformats.org/drawingml/2006/main">
              <a:ext uri="{FF2B5EF4-FFF2-40B4-BE49-F238E27FC236}">
                <a16:creationId xmlns:a16="http://schemas.microsoft.com/office/drawing/2014/main" id="{1BA2E6E2-CA82-4A5F-AB8A-AED3E048485F}"/>
              </a:ext>
            </a:extLst>
          </p:cNvPr>
          <p:cNvSpPr>
            <a:spLocks xmlns:a="http://schemas.openxmlformats.org/drawingml/2006/main" noGrp="1"/>
          </p:cNvSpPr>
          <p:nvPr/>
        </p:nvSpPr>
        <p:spPr>
          <a:xfrm xmlns:a="http://schemas.openxmlformats.org/drawingml/2006/main">
            <a:off x="609600" y="294322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087F82"/>
                </a:solidFill>
                <a:latin typeface="Aptos"/>
                <a:ea typeface="Aptos"/>
                <a:cs typeface="Aptos"/>
              </a:defRPr>
            </a:pPr>
            <a:r>
              <a:rPr sz="3375" b="1">
                <a:solidFill>
                  <a:srgbClr val="087F82"/>
                </a:solidFill>
                <a:latin typeface="Aptos"/>
                <a:ea typeface="Aptos"/>
                <a:cs typeface="Aptos"/>
              </a:rPr>
              <a:t>u = Aᵀr + e₁</a:t>
            </a:r>
          </a:p>
        </p:txBody>
      </p:sp>
      <p:sp>
        <p:nvSpPr>
          <p:cNvPr id="6" name="">
            <a:extLst xmlns:a="http://schemas.openxmlformats.org/drawingml/2006/main">
              <a:ext uri="{FF2B5EF4-FFF2-40B4-BE49-F238E27FC236}">
                <a16:creationId xmlns:a16="http://schemas.microsoft.com/office/drawing/2014/main" id="{65DA28E9-1792-48D8-A23F-A334CCE5FD03}"/>
              </a:ext>
            </a:extLst>
          </p:cNvPr>
          <p:cNvSpPr>
            <a:spLocks xmlns:a="http://schemas.openxmlformats.org/drawingml/2006/main" noGrp="1"/>
          </p:cNvSpPr>
          <p:nvPr/>
        </p:nvSpPr>
        <p:spPr>
          <a:xfrm xmlns:a="http://schemas.openxmlformats.org/drawingml/2006/main">
            <a:off x="609600" y="4143375"/>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087F82"/>
                </a:solidFill>
                <a:latin typeface="Aptos"/>
                <a:ea typeface="Aptos"/>
                <a:cs typeface="Aptos"/>
              </a:defRPr>
            </a:pPr>
            <a:r>
              <a:rPr sz="3375" b="1">
                <a:solidFill>
                  <a:srgbClr val="087F82"/>
                </a:solidFill>
                <a:latin typeface="Aptos"/>
                <a:ea typeface="Aptos"/>
                <a:cs typeface="Aptos"/>
              </a:rPr>
              <a:t>v = tᵀr + e₂ + Encode(μ)</a:t>
            </a:r>
          </a:p>
        </p:txBody>
      </p:sp>
      <p:sp>
        <p:nvSpPr>
          <p:cNvPr id="7" name="">
            <a:extLst xmlns:a="http://schemas.openxmlformats.org/drawingml/2006/main">
              <a:ext uri="{FF2B5EF4-FFF2-40B4-BE49-F238E27FC236}">
                <a16:creationId xmlns:a16="http://schemas.microsoft.com/office/drawing/2014/main" id="{600E3BEA-44E4-4E7A-BFFE-BCB7063C5B66}"/>
              </a:ext>
            </a:extLst>
          </p:cNvPr>
          <p:cNvSpPr>
            <a:spLocks xmlns:a="http://schemas.openxmlformats.org/drawingml/2006/main" noGrp="1"/>
          </p:cNvSpPr>
          <p:nvPr/>
        </p:nvSpPr>
        <p:spPr>
          <a:xfrm xmlns:a="http://schemas.openxmlformats.org/drawingml/2006/main">
            <a:off x="609600" y="5962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Rq = ℤ₃₃₂₉[X]/(X²⁵⁶ + 1). These equations omit the specified ciphertext compression.</a:t>
            </a:r>
          </a:p>
        </p:txBody>
      </p:sp>
    </p:spTree>
    <p:extLst>
      <p:ext uri="{BB962C8B-B14F-4D97-AF65-F5344CB8AC3E}">
        <p14:creationId xmlns:p14="http://schemas.microsoft.com/office/powerpoint/2010/main" val="723034885"/>
      </p:ext>
    </p:extLst>
  </p:cSld>
</p:sld>
</file>

<file path=ppt/slides/slide1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0BFF9FFA-513A-4AD3-A497-FF7C676B416D}"/>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Kyber’s engineering choices work together</a:t>
            </a:r>
          </a:p>
        </p:txBody>
      </p:sp>
      <p:sp>
        <p:nvSpPr>
          <p:cNvPr id="2" name="">
            <a:extLst xmlns:a="http://schemas.openxmlformats.org/drawingml/2006/main">
              <a:ext uri="{FF2B5EF4-FFF2-40B4-BE49-F238E27FC236}">
                <a16:creationId xmlns:a16="http://schemas.microsoft.com/office/drawing/2014/main" id="{CAAD80F7-7C61-45B8-90AB-49809499FA31}"/>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RSA, ML-KEM and an ABW research agenda</a:t>
            </a:r>
          </a:p>
        </p:txBody>
      </p:sp>
      <p:sp>
        <p:nvSpPr>
          <p:cNvPr id="3" name="">
            <a:extLst xmlns:a="http://schemas.openxmlformats.org/drawingml/2006/main">
              <a:ext uri="{FF2B5EF4-FFF2-40B4-BE49-F238E27FC236}">
                <a16:creationId xmlns:a16="http://schemas.microsoft.com/office/drawing/2014/main" id="{B570E7DF-2258-44DA-AE16-61304D61173A}"/>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10</a:t>
            </a:r>
          </a:p>
        </p:txBody>
      </p:sp>
      <p:graphicFrame>
        <p:nvGraphicFramePr>
          <p:cNvPr id="9" name=""/>
          <p:cNvGraphicFramePr/>
          <p:nvPr/>
        </p:nvGraphicFramePr>
        <p:xfrm>
          <a:off xmlns:a="http://schemas.openxmlformats.org/drawingml/2006/main" x="609600" y="1657350"/>
          <a:ext xmlns:a="http://schemas.openxmlformats.org/drawingml/2006/main" cx="10972800" cy="3752850"/>
        </p:xfrm>
        <a:graphic xmlns:a="http://schemas.openxmlformats.org/drawingml/2006/main">
          <a:graphicData uri="http://schemas.openxmlformats.org/drawingml/2006/table">
            <a:tbl>
              <a:tblPr/>
              <a:tblGrid>
                <a:gridCol w="3857625"/>
                <a:gridCol w="7115175"/>
              </a:tblGrid>
              <a:tr h="750570">
                <a:tc>
                  <a:txBody>
                    <a:bodyPr/>
                    <a:lstStyle/>
                    <a:p>
                      <a:r>
                        <a:rPr sz="1950" b="1">
                          <a:solidFill>
                            <a:srgbClr val="FFFFFF"/>
                          </a:solidFill>
                          <a:latin typeface="Aptos"/>
                          <a:ea typeface="Aptos"/>
                          <a:cs typeface="Aptos"/>
                        </a:rPr>
                        <a:t>Design choice</a:t>
                      </a:r>
                    </a:p>
                  </a:txBody>
                  <a:tcPr marL="142875" marR="114300" marT="104775" marB="85725" anchor="ctr">
                    <a:solidFill>
                      <a:srgbClr val="112F43"/>
                    </a:solidFill>
                  </a:tcPr>
                </a:tc>
                <a:tc>
                  <a:txBody>
                    <a:bodyPr/>
                    <a:lstStyle/>
                    <a:p>
                      <a:r>
                        <a:rPr sz="1950" b="1">
                          <a:solidFill>
                            <a:srgbClr val="FFFFFF"/>
                          </a:solidFill>
                          <a:latin typeface="Aptos"/>
                          <a:ea typeface="Aptos"/>
                          <a:cs typeface="Aptos"/>
                        </a:rPr>
                        <a:t>Deployment benefit</a:t>
                      </a:r>
                    </a:p>
                  </a:txBody>
                  <a:tcPr marL="142875" marR="114300" marT="104775" marB="85725" anchor="ctr">
                    <a:solidFill>
                      <a:srgbClr val="112F43"/>
                    </a:solidFill>
                  </a:tcPr>
                </a:tc>
              </a:tr>
              <a:tr h="750570">
                <a:tc>
                  <a:txBody>
                    <a:bodyPr/>
                    <a:lstStyle/>
                    <a:p>
                      <a:r>
                        <a:rPr sz="1950">
                          <a:solidFill>
                            <a:srgbClr val="112F43"/>
                          </a:solidFill>
                          <a:latin typeface="Aptos"/>
                          <a:ea typeface="Aptos"/>
                          <a:cs typeface="Aptos"/>
                        </a:rPr>
                        <a:t>Polynomial modules and NTT</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Fast arithmetic with compact representations</a:t>
                      </a:r>
                    </a:p>
                  </a:txBody>
                  <a:tcPr marL="142875" marR="114300" marT="104775" marB="85725" anchor="ctr">
                    <a:solidFill>
                      <a:srgbClr val="F7F5F0"/>
                    </a:solidFill>
                  </a:tcPr>
                </a:tc>
              </a:tr>
              <a:tr h="750570">
                <a:tc>
                  <a:txBody>
                    <a:bodyPr/>
                    <a:lstStyle/>
                    <a:p>
                      <a:r>
                        <a:rPr sz="1950">
                          <a:solidFill>
                            <a:srgbClr val="112F43"/>
                          </a:solidFill>
                          <a:latin typeface="Aptos"/>
                          <a:ea typeface="Aptos"/>
                          <a:cs typeface="Aptos"/>
                        </a:rPr>
                        <a:t>Public seed for A</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Avoid transmitting the entire public matrix</a:t>
                      </a:r>
                    </a:p>
                  </a:txBody>
                  <a:tcPr marL="142875" marR="114300" marT="104775" marB="85725" anchor="ctr">
                    <a:solidFill>
                      <a:srgbClr val="F7F5F0"/>
                    </a:solidFill>
                  </a:tcPr>
                </a:tc>
              </a:tr>
              <a:tr h="750570">
                <a:tc>
                  <a:txBody>
                    <a:bodyPr/>
                    <a:lstStyle/>
                    <a:p>
                      <a:r>
                        <a:rPr sz="1950">
                          <a:solidFill>
                            <a:srgbClr val="112F43"/>
                          </a:solidFill>
                          <a:latin typeface="Aptos"/>
                          <a:ea typeface="Aptos"/>
                          <a:cs typeface="Aptos"/>
                        </a:rPr>
                        <a:t>Centered binomial errors</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Simple small-error sampling</a:t>
                      </a:r>
                    </a:p>
                  </a:txBody>
                  <a:tcPr marL="142875" marR="114300" marT="104775" marB="85725" anchor="ctr">
                    <a:solidFill>
                      <a:srgbClr val="F7F5F0"/>
                    </a:solidFill>
                  </a:tcPr>
                </a:tc>
              </a:tr>
              <a:tr h="750570">
                <a:tc>
                  <a:txBody>
                    <a:bodyPr/>
                    <a:lstStyle/>
                    <a:p>
                      <a:r>
                        <a:rPr sz="1950">
                          <a:solidFill>
                            <a:srgbClr val="112F43"/>
                          </a:solidFill>
                          <a:latin typeface="Aptos"/>
                          <a:ea typeface="Aptos"/>
                          <a:cs typeface="Aptos"/>
                        </a:rPr>
                        <a:t>Quantified compression</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Reduce ciphertext size within a decoding budget</a:t>
                      </a:r>
                    </a:p>
                  </a:txBody>
                  <a:tcPr marL="142875" marR="114300" marT="104775" marB="85725" anchor="ctr">
                    <a:solidFill>
                      <a:srgbClr val="F7F5F0"/>
                    </a:solidFill>
                  </a:tcPr>
                </a:tc>
              </a:tr>
            </a:tbl>
          </a:graphicData>
        </a:graphic>
      </p:graphicFrame>
      <p:sp>
        <p:nvSpPr>
          <p:cNvPr id="5" name="">
            <a:extLst xmlns:a="http://schemas.openxmlformats.org/drawingml/2006/main">
              <a:ext uri="{FF2B5EF4-FFF2-40B4-BE49-F238E27FC236}">
                <a16:creationId xmlns:a16="http://schemas.microsoft.com/office/drawing/2014/main" id="{15F59E7C-BB52-42AE-BCBD-D2E4252B41D5}"/>
              </a:ext>
            </a:extLst>
          </p:cNvPr>
          <p:cNvSpPr>
            <a:spLocks xmlns:a="http://schemas.openxmlformats.org/drawingml/2006/main" noGrp="1"/>
          </p:cNvSpPr>
          <p:nvPr/>
        </p:nvSpPr>
        <p:spPr>
          <a:xfrm xmlns:a="http://schemas.openxmlformats.org/drawingml/2006/main">
            <a:off x="609600" y="5962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Each saving has an accompanying assumption or correctness obligation.</a:t>
            </a:r>
          </a:p>
        </p:txBody>
      </p:sp>
    </p:spTree>
    <p:extLst>
      <p:ext uri="{BB962C8B-B14F-4D97-AF65-F5344CB8AC3E}">
        <p14:creationId xmlns:p14="http://schemas.microsoft.com/office/powerpoint/2010/main" val="2120842972"/>
      </p:ext>
    </p:extLst>
  </p:cSld>
</p:sld>
</file>

<file path=ppt/slides/slide1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1CC6CE13-44C9-4057-A16C-12457D062816}"/>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ML-KEM offers concrete deployment sizes</a:t>
            </a:r>
          </a:p>
        </p:txBody>
      </p:sp>
      <p:sp>
        <p:nvSpPr>
          <p:cNvPr id="2" name="">
            <a:extLst xmlns:a="http://schemas.openxmlformats.org/drawingml/2006/main">
              <a:ext uri="{FF2B5EF4-FFF2-40B4-BE49-F238E27FC236}">
                <a16:creationId xmlns:a16="http://schemas.microsoft.com/office/drawing/2014/main" id="{2DF7DD3C-00B9-414F-9A1A-545CF247F454}"/>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RSA, ML-KEM and an ABW research agenda</a:t>
            </a:r>
          </a:p>
        </p:txBody>
      </p:sp>
      <p:sp>
        <p:nvSpPr>
          <p:cNvPr id="3" name="">
            <a:extLst xmlns:a="http://schemas.openxmlformats.org/drawingml/2006/main">
              <a:ext uri="{FF2B5EF4-FFF2-40B4-BE49-F238E27FC236}">
                <a16:creationId xmlns:a16="http://schemas.microsoft.com/office/drawing/2014/main" id="{86C39830-169C-4EF3-B7E4-997BD1AA3BC0}"/>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11</a:t>
            </a:r>
          </a:p>
        </p:txBody>
      </p:sp>
      <p:graphicFrame>
        <p:nvGraphicFramePr>
          <p:cNvPr id="10" name=""/>
          <p:cNvGraphicFramePr/>
          <p:nvPr/>
        </p:nvGraphicFramePr>
        <p:xfrm>
          <a:off xmlns:a="http://schemas.openxmlformats.org/drawingml/2006/main" x="609600" y="1657350"/>
          <a:ext xmlns:a="http://schemas.openxmlformats.org/drawingml/2006/main" cx="10972800" cy="3267075"/>
        </p:xfrm>
        <a:graphic xmlns:a="http://schemas.openxmlformats.org/drawingml/2006/main">
          <a:graphicData uri="http://schemas.openxmlformats.org/drawingml/2006/table">
            <a:tbl>
              <a:tblPr/>
              <a:tblGrid>
                <a:gridCol w="3629025"/>
                <a:gridCol w="1847850"/>
                <a:gridCol w="2724150"/>
                <a:gridCol w="2771775"/>
              </a:tblGrid>
              <a:tr h="816769">
                <a:tc>
                  <a:txBody>
                    <a:bodyPr/>
                    <a:lstStyle/>
                    <a:p>
                      <a:r>
                        <a:rPr sz="2175" b="1">
                          <a:solidFill>
                            <a:srgbClr val="FFFFFF"/>
                          </a:solidFill>
                          <a:latin typeface="Aptos"/>
                          <a:ea typeface="Aptos"/>
                          <a:cs typeface="Aptos"/>
                        </a:rPr>
                        <a:t>Parameter set</a:t>
                      </a:r>
                    </a:p>
                  </a:txBody>
                  <a:tcPr marL="142875" marR="114300" marT="104775" marB="85725" anchor="ctr">
                    <a:solidFill>
                      <a:srgbClr val="112F43"/>
                    </a:solidFill>
                  </a:tcPr>
                </a:tc>
                <a:tc>
                  <a:txBody>
                    <a:bodyPr/>
                    <a:lstStyle/>
                    <a:p>
                      <a:r>
                        <a:rPr sz="2175" b="1">
                          <a:solidFill>
                            <a:srgbClr val="FFFFFF"/>
                          </a:solidFill>
                          <a:latin typeface="Aptos"/>
                          <a:ea typeface="Aptos"/>
                          <a:cs typeface="Aptos"/>
                        </a:rPr>
                        <a:t>Category</a:t>
                      </a:r>
                    </a:p>
                  </a:txBody>
                  <a:tcPr marL="142875" marR="114300" marT="104775" marB="85725" anchor="ctr">
                    <a:solidFill>
                      <a:srgbClr val="112F43"/>
                    </a:solidFill>
                  </a:tcPr>
                </a:tc>
                <a:tc>
                  <a:txBody>
                    <a:bodyPr/>
                    <a:lstStyle/>
                    <a:p>
                      <a:r>
                        <a:rPr sz="2175" b="1">
                          <a:solidFill>
                            <a:srgbClr val="FFFFFF"/>
                          </a:solidFill>
                          <a:latin typeface="Aptos"/>
                          <a:ea typeface="Aptos"/>
                          <a:cs typeface="Aptos"/>
                        </a:rPr>
                        <a:t>Public key</a:t>
                      </a:r>
                    </a:p>
                  </a:txBody>
                  <a:tcPr marL="142875" marR="114300" marT="104775" marB="85725" anchor="ctr">
                    <a:solidFill>
                      <a:srgbClr val="112F43"/>
                    </a:solidFill>
                  </a:tcPr>
                </a:tc>
                <a:tc>
                  <a:txBody>
                    <a:bodyPr/>
                    <a:lstStyle/>
                    <a:p>
                      <a:r>
                        <a:rPr sz="2175" b="1">
                          <a:solidFill>
                            <a:srgbClr val="FFFFFF"/>
                          </a:solidFill>
                          <a:latin typeface="Aptos"/>
                          <a:ea typeface="Aptos"/>
                          <a:cs typeface="Aptos"/>
                        </a:rPr>
                        <a:t>Ciphertext</a:t>
                      </a:r>
                    </a:p>
                  </a:txBody>
                  <a:tcPr marL="142875" marR="114300" marT="104775" marB="85725" anchor="ctr">
                    <a:solidFill>
                      <a:srgbClr val="112F43"/>
                    </a:solidFill>
                  </a:tcPr>
                </a:tc>
              </a:tr>
              <a:tr h="816769">
                <a:tc>
                  <a:txBody>
                    <a:bodyPr/>
                    <a:lstStyle/>
                    <a:p>
                      <a:r>
                        <a:rPr sz="2175">
                          <a:solidFill>
                            <a:srgbClr val="112F43"/>
                          </a:solidFill>
                          <a:latin typeface="Aptos"/>
                          <a:ea typeface="Aptos"/>
                          <a:cs typeface="Aptos"/>
                        </a:rPr>
                        <a:t>ML-KEM-512</a:t>
                      </a:r>
                    </a:p>
                  </a:txBody>
                  <a:tcPr marL="142875" marR="114300" marT="104775" marB="85725" anchor="ctr">
                    <a:solidFill>
                      <a:srgbClr val="F7F5F0"/>
                    </a:solidFill>
                  </a:tcPr>
                </a:tc>
                <a:tc>
                  <a:txBody>
                    <a:bodyPr/>
                    <a:lstStyle/>
                    <a:p>
                      <a:r>
                        <a:rPr sz="2175">
                          <a:solidFill>
                            <a:srgbClr val="112F43"/>
                          </a:solidFill>
                          <a:latin typeface="Aptos"/>
                          <a:ea typeface="Aptos"/>
                          <a:cs typeface="Aptos"/>
                        </a:rPr>
                        <a:t>1</a:t>
                      </a:r>
                    </a:p>
                  </a:txBody>
                  <a:tcPr marL="142875" marR="114300" marT="104775" marB="85725" anchor="ctr">
                    <a:solidFill>
                      <a:srgbClr val="F7F5F0"/>
                    </a:solidFill>
                  </a:tcPr>
                </a:tc>
                <a:tc>
                  <a:txBody>
                    <a:bodyPr/>
                    <a:lstStyle/>
                    <a:p>
                      <a:r>
                        <a:rPr sz="2175">
                          <a:solidFill>
                            <a:srgbClr val="112F43"/>
                          </a:solidFill>
                          <a:latin typeface="Aptos"/>
                          <a:ea typeface="Aptos"/>
                          <a:cs typeface="Aptos"/>
                        </a:rPr>
                        <a:t>800 B</a:t>
                      </a:r>
                    </a:p>
                  </a:txBody>
                  <a:tcPr marL="142875" marR="114300" marT="104775" marB="85725" anchor="ctr">
                    <a:solidFill>
                      <a:srgbClr val="F7F5F0"/>
                    </a:solidFill>
                  </a:tcPr>
                </a:tc>
                <a:tc>
                  <a:txBody>
                    <a:bodyPr/>
                    <a:lstStyle/>
                    <a:p>
                      <a:r>
                        <a:rPr sz="2175">
                          <a:solidFill>
                            <a:srgbClr val="112F43"/>
                          </a:solidFill>
                          <a:latin typeface="Aptos"/>
                          <a:ea typeface="Aptos"/>
                          <a:cs typeface="Aptos"/>
                        </a:rPr>
                        <a:t>768 B</a:t>
                      </a:r>
                    </a:p>
                  </a:txBody>
                  <a:tcPr marL="142875" marR="114300" marT="104775" marB="85725" anchor="ctr">
                    <a:solidFill>
                      <a:srgbClr val="F7F5F0"/>
                    </a:solidFill>
                  </a:tcPr>
                </a:tc>
              </a:tr>
              <a:tr h="816769">
                <a:tc>
                  <a:txBody>
                    <a:bodyPr/>
                    <a:lstStyle/>
                    <a:p>
                      <a:r>
                        <a:rPr sz="2175">
                          <a:solidFill>
                            <a:srgbClr val="112F43"/>
                          </a:solidFill>
                          <a:latin typeface="Aptos"/>
                          <a:ea typeface="Aptos"/>
                          <a:cs typeface="Aptos"/>
                        </a:rPr>
                        <a:t>ML-KEM-768</a:t>
                      </a:r>
                    </a:p>
                  </a:txBody>
                  <a:tcPr marL="142875" marR="114300" marT="104775" marB="85725" anchor="ctr">
                    <a:solidFill>
                      <a:srgbClr val="F7F5F0"/>
                    </a:solidFill>
                  </a:tcPr>
                </a:tc>
                <a:tc>
                  <a:txBody>
                    <a:bodyPr/>
                    <a:lstStyle/>
                    <a:p>
                      <a:r>
                        <a:rPr sz="2175">
                          <a:solidFill>
                            <a:srgbClr val="112F43"/>
                          </a:solidFill>
                          <a:latin typeface="Aptos"/>
                          <a:ea typeface="Aptos"/>
                          <a:cs typeface="Aptos"/>
                        </a:rPr>
                        <a:t>3</a:t>
                      </a:r>
                    </a:p>
                  </a:txBody>
                  <a:tcPr marL="142875" marR="114300" marT="104775" marB="85725" anchor="ctr">
                    <a:solidFill>
                      <a:srgbClr val="F7F5F0"/>
                    </a:solidFill>
                  </a:tcPr>
                </a:tc>
                <a:tc>
                  <a:txBody>
                    <a:bodyPr/>
                    <a:lstStyle/>
                    <a:p>
                      <a:r>
                        <a:rPr sz="2175">
                          <a:solidFill>
                            <a:srgbClr val="112F43"/>
                          </a:solidFill>
                          <a:latin typeface="Aptos"/>
                          <a:ea typeface="Aptos"/>
                          <a:cs typeface="Aptos"/>
                        </a:rPr>
                        <a:t>1,184 B</a:t>
                      </a:r>
                    </a:p>
                  </a:txBody>
                  <a:tcPr marL="142875" marR="114300" marT="104775" marB="85725" anchor="ctr">
                    <a:solidFill>
                      <a:srgbClr val="F7F5F0"/>
                    </a:solidFill>
                  </a:tcPr>
                </a:tc>
                <a:tc>
                  <a:txBody>
                    <a:bodyPr/>
                    <a:lstStyle/>
                    <a:p>
                      <a:r>
                        <a:rPr sz="2175">
                          <a:solidFill>
                            <a:srgbClr val="112F43"/>
                          </a:solidFill>
                          <a:latin typeface="Aptos"/>
                          <a:ea typeface="Aptos"/>
                          <a:cs typeface="Aptos"/>
                        </a:rPr>
                        <a:t>1,088 B</a:t>
                      </a:r>
                    </a:p>
                  </a:txBody>
                  <a:tcPr marL="142875" marR="114300" marT="104775" marB="85725" anchor="ctr">
                    <a:solidFill>
                      <a:srgbClr val="F7F5F0"/>
                    </a:solidFill>
                  </a:tcPr>
                </a:tc>
              </a:tr>
              <a:tr h="816769">
                <a:tc>
                  <a:txBody>
                    <a:bodyPr/>
                    <a:lstStyle/>
                    <a:p>
                      <a:r>
                        <a:rPr sz="2175">
                          <a:solidFill>
                            <a:srgbClr val="112F43"/>
                          </a:solidFill>
                          <a:latin typeface="Aptos"/>
                          <a:ea typeface="Aptos"/>
                          <a:cs typeface="Aptos"/>
                        </a:rPr>
                        <a:t>ML-KEM-1024</a:t>
                      </a:r>
                    </a:p>
                  </a:txBody>
                  <a:tcPr marL="142875" marR="114300" marT="104775" marB="85725" anchor="ctr">
                    <a:solidFill>
                      <a:srgbClr val="F7F5F0"/>
                    </a:solidFill>
                  </a:tcPr>
                </a:tc>
                <a:tc>
                  <a:txBody>
                    <a:bodyPr/>
                    <a:lstStyle/>
                    <a:p>
                      <a:r>
                        <a:rPr sz="2175">
                          <a:solidFill>
                            <a:srgbClr val="112F43"/>
                          </a:solidFill>
                          <a:latin typeface="Aptos"/>
                          <a:ea typeface="Aptos"/>
                          <a:cs typeface="Aptos"/>
                        </a:rPr>
                        <a:t>5</a:t>
                      </a:r>
                    </a:p>
                  </a:txBody>
                  <a:tcPr marL="142875" marR="114300" marT="104775" marB="85725" anchor="ctr">
                    <a:solidFill>
                      <a:srgbClr val="F7F5F0"/>
                    </a:solidFill>
                  </a:tcPr>
                </a:tc>
                <a:tc>
                  <a:txBody>
                    <a:bodyPr/>
                    <a:lstStyle/>
                    <a:p>
                      <a:r>
                        <a:rPr sz="2175">
                          <a:solidFill>
                            <a:srgbClr val="112F43"/>
                          </a:solidFill>
                          <a:latin typeface="Aptos"/>
                          <a:ea typeface="Aptos"/>
                          <a:cs typeface="Aptos"/>
                        </a:rPr>
                        <a:t>1,568 B</a:t>
                      </a:r>
                    </a:p>
                  </a:txBody>
                  <a:tcPr marL="142875" marR="114300" marT="104775" marB="85725" anchor="ctr">
                    <a:solidFill>
                      <a:srgbClr val="F7F5F0"/>
                    </a:solidFill>
                  </a:tcPr>
                </a:tc>
                <a:tc>
                  <a:txBody>
                    <a:bodyPr/>
                    <a:lstStyle/>
                    <a:p>
                      <a:r>
                        <a:rPr sz="2175">
                          <a:solidFill>
                            <a:srgbClr val="112F43"/>
                          </a:solidFill>
                          <a:latin typeface="Aptos"/>
                          <a:ea typeface="Aptos"/>
                          <a:cs typeface="Aptos"/>
                        </a:rPr>
                        <a:t>1,568 B</a:t>
                      </a:r>
                    </a:p>
                  </a:txBody>
                  <a:tcPr marL="142875" marR="114300" marT="104775" marB="85725" anchor="ctr">
                    <a:solidFill>
                      <a:srgbClr val="F7F5F0"/>
                    </a:solidFill>
                  </a:tcPr>
                </a:tc>
              </a:tr>
            </a:tbl>
          </a:graphicData>
        </a:graphic>
      </p:graphicFrame>
      <p:sp>
        <p:nvSpPr>
          <p:cNvPr id="5" name="">
            <a:extLst xmlns:a="http://schemas.openxmlformats.org/drawingml/2006/main">
              <a:ext uri="{FF2B5EF4-FFF2-40B4-BE49-F238E27FC236}">
                <a16:creationId xmlns:a16="http://schemas.microsoft.com/office/drawing/2014/main" id="{B7D9AEF0-0429-4972-A401-5A30687AF36A}"/>
              </a:ext>
            </a:extLst>
          </p:cNvPr>
          <p:cNvSpPr>
            <a:spLocks xmlns:a="http://schemas.openxmlformats.org/drawingml/2006/main" noGrp="1"/>
          </p:cNvSpPr>
          <p:nvPr/>
        </p:nvSpPr>
        <p:spPr>
          <a:xfrm xmlns:a="http://schemas.openxmlformats.org/drawingml/2006/main">
            <a:off x="609600" y="5391150"/>
            <a:ext cx="10972800" cy="542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0">
                <a:solidFill>
                  <a:srgbClr val="112F43"/>
                </a:solidFill>
                <a:latin typeface="Aptos"/>
                <a:ea typeface="Aptos"/>
                <a:cs typeface="Aptos"/>
              </a:defRPr>
            </a:pPr>
            <a:r>
              <a:rPr sz="2325" b="0">
                <a:solidFill>
                  <a:srgbClr val="112F43"/>
                </a:solidFill>
                <a:latin typeface="Aptos"/>
                <a:ea typeface="Aptos"/>
                <a:cs typeface="Aptos"/>
              </a:rPr>
              <a:t>Every parameter set outputs a 32-byte shared secret.</a:t>
            </a:r>
          </a:p>
        </p:txBody>
      </p:sp>
      <p:sp>
        <p:nvSpPr>
          <p:cNvPr id="6" name="">
            <a:extLst xmlns:a="http://schemas.openxmlformats.org/drawingml/2006/main">
              <a:ext uri="{FF2B5EF4-FFF2-40B4-BE49-F238E27FC236}">
                <a16:creationId xmlns:a16="http://schemas.microsoft.com/office/drawing/2014/main" id="{2D4A0F89-790D-4C6B-8D9C-803C355D0446}"/>
              </a:ext>
            </a:extLst>
          </p:cNvPr>
          <p:cNvSpPr>
            <a:spLocks xmlns:a="http://schemas.openxmlformats.org/drawingml/2006/main" noGrp="1"/>
          </p:cNvSpPr>
          <p:nvPr/>
        </p:nvSpPr>
        <p:spPr>
          <a:xfrm xmlns:a="http://schemas.openxmlformats.org/drawingml/2006/main">
            <a:off x="609600" y="5962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FIPS 203, Table 3. Parameter names are not counts of symmetric security bits.</a:t>
            </a:r>
          </a:p>
        </p:txBody>
      </p:sp>
    </p:spTree>
    <p:extLst>
      <p:ext uri="{BB962C8B-B14F-4D97-AF65-F5344CB8AC3E}">
        <p14:creationId xmlns:p14="http://schemas.microsoft.com/office/powerpoint/2010/main" val="377903751"/>
      </p:ext>
    </p:extLst>
  </p:cSld>
</p:sld>
</file>

<file path=ppt/slides/slide1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AD5D8F8B-3F56-46E2-A0F0-61B0AF1ABB47}"/>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Communication cost is one reason Kyber stands out</a:t>
            </a:r>
          </a:p>
        </p:txBody>
      </p:sp>
      <p:sp>
        <p:nvSpPr>
          <p:cNvPr id="2" name="">
            <a:extLst xmlns:a="http://schemas.openxmlformats.org/drawingml/2006/main">
              <a:ext uri="{FF2B5EF4-FFF2-40B4-BE49-F238E27FC236}">
                <a16:creationId xmlns:a16="http://schemas.microsoft.com/office/drawing/2014/main" id="{A3C4D8D1-1993-40E2-8F57-0F6B66326C71}"/>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RSA, ML-KEM and an ABW research agenda</a:t>
            </a:r>
          </a:p>
        </p:txBody>
      </p:sp>
      <p:sp>
        <p:nvSpPr>
          <p:cNvPr id="3" name="">
            <a:extLst xmlns:a="http://schemas.openxmlformats.org/drawingml/2006/main">
              <a:ext uri="{FF2B5EF4-FFF2-40B4-BE49-F238E27FC236}">
                <a16:creationId xmlns:a16="http://schemas.microsoft.com/office/drawing/2014/main" id="{2061FE14-B174-45B3-97DA-160873DB541D}"/>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12</a:t>
            </a:r>
          </a:p>
        </p:txBody>
      </p:sp>
      <p:graphicFrame>
        <p:nvGraphicFramePr>
          <p:cNvPr id="9" name="Chart"/>
          <p:cNvGraphicFramePr/>
          <p:nvPr/>
        </p:nvGraphicFramePr>
        <p:xfrm>
          <a:off xmlns:a="http://schemas.openxmlformats.org/drawingml/2006/main" x="609600" y="1695450"/>
          <a:ext xmlns:a="http://schemas.openxmlformats.org/drawingml/2006/main" cx="10972800" cy="3914775"/>
        </p:xfrm>
        <a:graphic xmlns:a="http://schemas.openxmlformats.org/drawingml/2006/main">
          <a:graphicData uri="http://schemas.openxmlformats.org/drawingml/2006/chart">
            <c:chart xmlns:r="http://schemas.openxmlformats.org/officeDocument/2006/relationships" xmlns:c="http://schemas.openxmlformats.org/drawingml/2006/chart" r:id="R8c3610231cb444fd"/>
          </a:graphicData>
        </a:graphic>
      </p:graphicFrame>
      <p:sp>
        <p:nvSpPr>
          <p:cNvPr id="5" name="">
            <a:extLst xmlns:a="http://schemas.openxmlformats.org/drawingml/2006/main">
              <a:ext uri="{FF2B5EF4-FFF2-40B4-BE49-F238E27FC236}">
                <a16:creationId xmlns:a16="http://schemas.microsoft.com/office/drawing/2014/main" id="{701AB403-0851-43C6-B319-FA80BB5AF457}"/>
              </a:ext>
            </a:extLst>
          </p:cNvPr>
          <p:cNvSpPr>
            <a:spLocks xmlns:a="http://schemas.openxmlformats.org/drawingml/2006/main" noGrp="1"/>
          </p:cNvSpPr>
          <p:nvPr/>
        </p:nvSpPr>
        <p:spPr>
          <a:xfrm xmlns:a="http://schemas.openxmlformats.org/drawingml/2006/main">
            <a:off x="609600" y="5962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Public key + one ciphertext, in bytes. Category 1 examples; security margins and runtime differ.</a:t>
            </a:r>
          </a:p>
        </p:txBody>
      </p:sp>
    </p:spTree>
    <p:extLst>
      <p:ext uri="{BB962C8B-B14F-4D97-AF65-F5344CB8AC3E}">
        <p14:creationId xmlns:p14="http://schemas.microsoft.com/office/powerpoint/2010/main" val="1060844207"/>
      </p:ext>
    </p:extLst>
  </p:cSld>
</p:sld>
</file>

<file path=ppt/slides/slide1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D7F3170-B501-4E1F-BA16-2609ED2E3461}"/>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NIST’s choice was a balance of evidence and cost</a:t>
            </a:r>
          </a:p>
        </p:txBody>
      </p:sp>
      <p:sp>
        <p:nvSpPr>
          <p:cNvPr id="2" name="">
            <a:extLst xmlns:a="http://schemas.openxmlformats.org/drawingml/2006/main">
              <a:ext uri="{FF2B5EF4-FFF2-40B4-BE49-F238E27FC236}">
                <a16:creationId xmlns:a16="http://schemas.microsoft.com/office/drawing/2014/main" id="{3BB27324-922C-4929-8824-CE37C36D4B50}"/>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RSA, ML-KEM and an ABW research agenda</a:t>
            </a:r>
          </a:p>
        </p:txBody>
      </p:sp>
      <p:sp>
        <p:nvSpPr>
          <p:cNvPr id="3" name="">
            <a:extLst xmlns:a="http://schemas.openxmlformats.org/drawingml/2006/main">
              <a:ext uri="{FF2B5EF4-FFF2-40B4-BE49-F238E27FC236}">
                <a16:creationId xmlns:a16="http://schemas.microsoft.com/office/drawing/2014/main" id="{3845A038-0937-42CE-814E-8965748E34CC}"/>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13</a:t>
            </a:r>
          </a:p>
        </p:txBody>
      </p:sp>
      <p:graphicFrame>
        <p:nvGraphicFramePr>
          <p:cNvPr id="9" name=""/>
          <p:cNvGraphicFramePr/>
          <p:nvPr/>
        </p:nvGraphicFramePr>
        <p:xfrm>
          <a:off xmlns:a="http://schemas.openxmlformats.org/drawingml/2006/main" x="609600" y="1657350"/>
          <a:ext xmlns:a="http://schemas.openxmlformats.org/drawingml/2006/main" cx="10972800" cy="3752850"/>
        </p:xfrm>
        <a:graphic xmlns:a="http://schemas.openxmlformats.org/drawingml/2006/main">
          <a:graphicData uri="http://schemas.openxmlformats.org/drawingml/2006/table">
            <a:tbl>
              <a:tblPr/>
              <a:tblGrid>
                <a:gridCol w="2971800"/>
                <a:gridCol w="8001000"/>
              </a:tblGrid>
              <a:tr h="750570">
                <a:tc>
                  <a:txBody>
                    <a:bodyPr/>
                    <a:lstStyle/>
                    <a:p>
                      <a:r>
                        <a:rPr sz="1950" b="1">
                          <a:solidFill>
                            <a:srgbClr val="FFFFFF"/>
                          </a:solidFill>
                          <a:latin typeface="Aptos"/>
                          <a:ea typeface="Aptos"/>
                          <a:cs typeface="Aptos"/>
                        </a:rPr>
                        <a:t>Comparison</a:t>
                      </a:r>
                    </a:p>
                  </a:txBody>
                  <a:tcPr marL="142875" marR="114300" marT="104775" marB="85725" anchor="ctr">
                    <a:solidFill>
                      <a:srgbClr val="112F43"/>
                    </a:solidFill>
                  </a:tcPr>
                </a:tc>
                <a:tc>
                  <a:txBody>
                    <a:bodyPr/>
                    <a:lstStyle/>
                    <a:p>
                      <a:r>
                        <a:rPr sz="1950" b="1">
                          <a:solidFill>
                            <a:srgbClr val="FFFFFF"/>
                          </a:solidFill>
                          <a:latin typeface="Aptos"/>
                          <a:ea typeface="Aptos"/>
                          <a:cs typeface="Aptos"/>
                        </a:rPr>
                        <a:t>What distinguished the choice</a:t>
                      </a:r>
                    </a:p>
                  </a:txBody>
                  <a:tcPr marL="142875" marR="114300" marT="104775" marB="85725" anchor="ctr">
                    <a:solidFill>
                      <a:srgbClr val="112F43"/>
                    </a:solidFill>
                  </a:tcPr>
                </a:tc>
              </a:tr>
              <a:tr h="750570">
                <a:tc>
                  <a:txBody>
                    <a:bodyPr/>
                    <a:lstStyle/>
                    <a:p>
                      <a:r>
                        <a:rPr sz="1950">
                          <a:solidFill>
                            <a:srgbClr val="112F43"/>
                          </a:solidFill>
                          <a:latin typeface="Aptos"/>
                          <a:ea typeface="Aptos"/>
                          <a:cs typeface="Aptos"/>
                        </a:rPr>
                        <a:t>NTRU</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Kyber’s key generation and broader performance</a:t>
                      </a:r>
                    </a:p>
                  </a:txBody>
                  <a:tcPr marL="142875" marR="114300" marT="104775" marB="85725" anchor="ctr">
                    <a:solidFill>
                      <a:srgbClr val="F7F5F0"/>
                    </a:solidFill>
                  </a:tcPr>
                </a:tc>
              </a:tr>
              <a:tr h="750570">
                <a:tc>
                  <a:txBody>
                    <a:bodyPr/>
                    <a:lstStyle/>
                    <a:p>
                      <a:r>
                        <a:rPr sz="1950">
                          <a:solidFill>
                            <a:srgbClr val="112F43"/>
                          </a:solidFill>
                          <a:latin typeface="Aptos"/>
                          <a:ea typeface="Aptos"/>
                          <a:cs typeface="Aptos"/>
                        </a:rPr>
                        <a:t>Saber</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Similar efficiency, with more confidence in MLWE evidence</a:t>
                      </a:r>
                    </a:p>
                  </a:txBody>
                  <a:tcPr marL="142875" marR="114300" marT="104775" marB="85725" anchor="ctr">
                    <a:solidFill>
                      <a:srgbClr val="F7F5F0"/>
                    </a:solidFill>
                  </a:tcPr>
                </a:tc>
              </a:tr>
              <a:tr h="750570">
                <a:tc>
                  <a:txBody>
                    <a:bodyPr/>
                    <a:lstStyle/>
                    <a:p>
                      <a:r>
                        <a:rPr sz="1950">
                          <a:solidFill>
                            <a:srgbClr val="112F43"/>
                          </a:solidFill>
                          <a:latin typeface="Aptos"/>
                          <a:ea typeface="Aptos"/>
                          <a:cs typeface="Aptos"/>
                        </a:rPr>
                        <a:t>Unstructured LWE</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Structure offers substantial efficiency savings</a:t>
                      </a:r>
                    </a:p>
                  </a:txBody>
                  <a:tcPr marL="142875" marR="114300" marT="104775" marB="85725" anchor="ctr">
                    <a:solidFill>
                      <a:srgbClr val="F7F5F0"/>
                    </a:solidFill>
                  </a:tcPr>
                </a:tc>
              </a:tr>
              <a:tr h="750570">
                <a:tc>
                  <a:txBody>
                    <a:bodyPr/>
                    <a:lstStyle/>
                    <a:p>
                      <a:r>
                        <a:rPr sz="1950">
                          <a:solidFill>
                            <a:srgbClr val="112F43"/>
                          </a:solidFill>
                          <a:latin typeface="Aptos"/>
                          <a:ea typeface="Aptos"/>
                          <a:cs typeface="Aptos"/>
                        </a:rPr>
                        <a:t>HQC</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A code-based alternative serves assumption diversity</a:t>
                      </a:r>
                    </a:p>
                  </a:txBody>
                  <a:tcPr marL="142875" marR="114300" marT="104775" marB="85725" anchor="ctr">
                    <a:solidFill>
                      <a:srgbClr val="F7F5F0"/>
                    </a:solidFill>
                  </a:tcPr>
                </a:tc>
              </a:tr>
            </a:tbl>
          </a:graphicData>
        </a:graphic>
      </p:graphicFrame>
      <p:sp>
        <p:nvSpPr>
          <p:cNvPr id="5" name="">
            <a:extLst xmlns:a="http://schemas.openxmlformats.org/drawingml/2006/main">
              <a:ext uri="{FF2B5EF4-FFF2-40B4-BE49-F238E27FC236}">
                <a16:creationId xmlns:a16="http://schemas.microsoft.com/office/drawing/2014/main" id="{8E16C4DE-FD66-415E-A0BE-972236A509F8}"/>
              </a:ext>
            </a:extLst>
          </p:cNvPr>
          <p:cNvSpPr>
            <a:spLocks xmlns:a="http://schemas.openxmlformats.org/drawingml/2006/main" noGrp="1"/>
          </p:cNvSpPr>
          <p:nvPr/>
        </p:nvSpPr>
        <p:spPr>
          <a:xfrm xmlns:a="http://schemas.openxmlformats.org/drawingml/2006/main">
            <a:off x="609600" y="5962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NIST assessments in 2022 and 2025. A smaller ciphertext alone does not settle the decision.</a:t>
            </a:r>
          </a:p>
        </p:txBody>
      </p:sp>
    </p:spTree>
    <p:extLst>
      <p:ext uri="{BB962C8B-B14F-4D97-AF65-F5344CB8AC3E}">
        <p14:creationId xmlns:p14="http://schemas.microsoft.com/office/powerpoint/2010/main" val="1719708573"/>
      </p:ext>
    </p:extLst>
  </p:cSld>
</p:sld>
</file>

<file path=ppt/slides/slide1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15D5425-DAD9-4453-8986-CBB3F8EB30EA}"/>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A reusable KEM fits existing systems</a:t>
            </a:r>
          </a:p>
        </p:txBody>
      </p:sp>
      <p:sp>
        <p:nvSpPr>
          <p:cNvPr id="2" name="">
            <a:extLst xmlns:a="http://schemas.openxmlformats.org/drawingml/2006/main">
              <a:ext uri="{FF2B5EF4-FFF2-40B4-BE49-F238E27FC236}">
                <a16:creationId xmlns:a16="http://schemas.microsoft.com/office/drawing/2014/main" id="{C18293AD-4CBE-431C-9BEA-0D8CF246F2C9}"/>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RSA, ML-KEM and an ABW research agenda</a:t>
            </a:r>
          </a:p>
        </p:txBody>
      </p:sp>
      <p:sp>
        <p:nvSpPr>
          <p:cNvPr id="3" name="">
            <a:extLst xmlns:a="http://schemas.openxmlformats.org/drawingml/2006/main">
              <a:ext uri="{FF2B5EF4-FFF2-40B4-BE49-F238E27FC236}">
                <a16:creationId xmlns:a16="http://schemas.microsoft.com/office/drawing/2014/main" id="{7845F3EC-5C7F-46DB-8F54-9EA47DEFF066}"/>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14</a:t>
            </a:r>
          </a:p>
        </p:txBody>
      </p:sp>
      <p:sp>
        <p:nvSpPr>
          <p:cNvPr id="4" name="">
            <a:extLst xmlns:a="http://schemas.openxmlformats.org/drawingml/2006/main">
              <a:ext uri="{FF2B5EF4-FFF2-40B4-BE49-F238E27FC236}">
                <a16:creationId xmlns:a16="http://schemas.microsoft.com/office/drawing/2014/main" id="{4A00B430-4B54-488D-97A3-8281826EEC2C}"/>
              </a:ext>
            </a:extLst>
          </p:cNvPr>
          <p:cNvSpPr>
            <a:spLocks xmlns:a="http://schemas.openxmlformats.org/drawingml/2006/main" noGrp="1"/>
          </p:cNvSpPr>
          <p:nvPr/>
        </p:nvSpPr>
        <p:spPr>
          <a:xfrm xmlns:a="http://schemas.openxmlformats.org/drawingml/2006/main">
            <a:off x="609600" y="1657350"/>
            <a:ext cx="847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087F82"/>
                </a:solidFill>
                <a:latin typeface="Aptos"/>
                <a:ea typeface="Aptos"/>
                <a:cs typeface="Aptos"/>
              </a:defRPr>
            </a:pPr>
            <a:r>
              <a:rPr sz="3225" b="1">
                <a:solidFill>
                  <a:srgbClr val="087F82"/>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0044DABF-A7A8-449F-88D1-59762C04120D}"/>
              </a:ext>
            </a:extLst>
          </p:cNvPr>
          <p:cNvSpPr>
            <a:spLocks xmlns:a="http://schemas.openxmlformats.org/drawingml/2006/main" noGrp="1"/>
          </p:cNvSpPr>
          <p:nvPr/>
        </p:nvSpPr>
        <p:spPr>
          <a:xfrm xmlns:a="http://schemas.openxmlformats.org/drawingml/2006/main">
            <a:off x="1714500" y="1657350"/>
            <a:ext cx="985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12F43"/>
                </a:solidFill>
                <a:latin typeface="Aptos"/>
                <a:ea typeface="Aptos"/>
                <a:cs typeface="Aptos"/>
              </a:defRPr>
            </a:pPr>
            <a:r>
              <a:rPr sz="2250" b="1">
                <a:solidFill>
                  <a:srgbClr val="112F43"/>
                </a:solidFill>
                <a:latin typeface="Aptos"/>
                <a:ea typeface="Aptos"/>
                <a:cs typeface="Aptos"/>
              </a:rPr>
              <a:t>A narrow KeyGen / Encaps / Decaps interface</a:t>
            </a:r>
          </a:p>
        </p:txBody>
      </p:sp>
      <p:sp>
        <p:nvSpPr>
          <p:cNvPr id="6" name="">
            <a:extLst xmlns:a="http://schemas.openxmlformats.org/drawingml/2006/main">
              <a:ext uri="{FF2B5EF4-FFF2-40B4-BE49-F238E27FC236}">
                <a16:creationId xmlns:a16="http://schemas.microsoft.com/office/drawing/2014/main" id="{FDC0B192-23C3-4F5F-9219-7C69D9AF665D}"/>
              </a:ext>
            </a:extLst>
          </p:cNvPr>
          <p:cNvSpPr>
            <a:spLocks xmlns:a="http://schemas.openxmlformats.org/drawingml/2006/main" noGrp="1"/>
          </p:cNvSpPr>
          <p:nvPr/>
        </p:nvSpPr>
        <p:spPr>
          <a:xfrm xmlns:a="http://schemas.openxmlformats.org/drawingml/2006/main">
            <a:off x="1714500" y="2200275"/>
            <a:ext cx="96869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6A74"/>
                </a:solidFill>
                <a:latin typeface="Aptos"/>
                <a:ea typeface="Aptos"/>
                <a:cs typeface="Aptos"/>
              </a:defRPr>
            </a:pPr>
            <a:r>
              <a:rPr sz="2025" b="0">
                <a:solidFill>
                  <a:srgbClr val="556A74"/>
                </a:solidFill>
                <a:latin typeface="Aptos"/>
                <a:ea typeface="Aptos"/>
                <a:cs typeface="Aptos"/>
              </a:rPr>
              <a:t>The KEM supplies a symmetric key for the surrounding protocol.</a:t>
            </a:r>
          </a:p>
        </p:txBody>
      </p:sp>
      <p:sp>
        <p:nvSpPr>
          <p:cNvPr id="7" name="">
            <a:extLst xmlns:a="http://schemas.openxmlformats.org/drawingml/2006/main">
              <a:ext uri="{FF2B5EF4-FFF2-40B4-BE49-F238E27FC236}">
                <a16:creationId xmlns:a16="http://schemas.microsoft.com/office/drawing/2014/main" id="{DEA01CC6-866C-4689-9A75-CFFF586EEA35}"/>
              </a:ext>
            </a:extLst>
          </p:cNvPr>
          <p:cNvSpPr>
            <a:spLocks xmlns:a="http://schemas.openxmlformats.org/drawingml/2006/main" noGrp="1"/>
          </p:cNvSpPr>
          <p:nvPr/>
        </p:nvSpPr>
        <p:spPr>
          <a:xfrm xmlns:a="http://schemas.openxmlformats.org/drawingml/2006/main">
            <a:off x="609600" y="3105150"/>
            <a:ext cx="847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087F82"/>
                </a:solidFill>
                <a:latin typeface="Aptos"/>
                <a:ea typeface="Aptos"/>
                <a:cs typeface="Aptos"/>
              </a:defRPr>
            </a:pPr>
            <a:r>
              <a:rPr sz="3225" b="1">
                <a:solidFill>
                  <a:srgbClr val="087F82"/>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373FFB99-C0BF-4026-90B3-CD35F972A90B}"/>
              </a:ext>
            </a:extLst>
          </p:cNvPr>
          <p:cNvSpPr>
            <a:spLocks xmlns:a="http://schemas.openxmlformats.org/drawingml/2006/main" noGrp="1"/>
          </p:cNvSpPr>
          <p:nvPr/>
        </p:nvSpPr>
        <p:spPr>
          <a:xfrm xmlns:a="http://schemas.openxmlformats.org/drawingml/2006/main">
            <a:off x="1714500" y="3105150"/>
            <a:ext cx="985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12F43"/>
                </a:solidFill>
                <a:latin typeface="Aptos"/>
                <a:ea typeface="Aptos"/>
                <a:cs typeface="Aptos"/>
              </a:defRPr>
            </a:pPr>
            <a:r>
              <a:rPr sz="2250" b="1">
                <a:solidFill>
                  <a:srgbClr val="112F43"/>
                </a:solidFill>
                <a:latin typeface="Aptos"/>
                <a:ea typeface="Aptos"/>
                <a:cs typeface="Aptos"/>
              </a:rPr>
              <a:t>Code, test vectors and standard encodings</a:t>
            </a:r>
          </a:p>
        </p:txBody>
      </p:sp>
      <p:sp>
        <p:nvSpPr>
          <p:cNvPr id="9" name="">
            <a:extLst xmlns:a="http://schemas.openxmlformats.org/drawingml/2006/main">
              <a:ext uri="{FF2B5EF4-FFF2-40B4-BE49-F238E27FC236}">
                <a16:creationId xmlns:a16="http://schemas.microsoft.com/office/drawing/2014/main" id="{4E05DC90-AE72-4B93-9C73-515688B8F0CA}"/>
              </a:ext>
            </a:extLst>
          </p:cNvPr>
          <p:cNvSpPr>
            <a:spLocks xmlns:a="http://schemas.openxmlformats.org/drawingml/2006/main" noGrp="1"/>
          </p:cNvSpPr>
          <p:nvPr/>
        </p:nvSpPr>
        <p:spPr>
          <a:xfrm xmlns:a="http://schemas.openxmlformats.org/drawingml/2006/main">
            <a:off x="1714500" y="3648075"/>
            <a:ext cx="96869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6A74"/>
                </a:solidFill>
                <a:latin typeface="Aptos"/>
                <a:ea typeface="Aptos"/>
                <a:cs typeface="Aptos"/>
              </a:defRPr>
            </a:pPr>
            <a:r>
              <a:rPr sz="2025" b="0">
                <a:solidFill>
                  <a:srgbClr val="556A74"/>
                </a:solidFill>
                <a:latin typeface="Aptos"/>
                <a:ea typeface="Aptos"/>
                <a:cs typeface="Aptos"/>
              </a:rPr>
              <a:t>Applications can reuse implementations, including OpenSSL 3.5 support.</a:t>
            </a:r>
          </a:p>
        </p:txBody>
      </p:sp>
      <p:sp>
        <p:nvSpPr>
          <p:cNvPr id="10" name="">
            <a:extLst xmlns:a="http://schemas.openxmlformats.org/drawingml/2006/main">
              <a:ext uri="{FF2B5EF4-FFF2-40B4-BE49-F238E27FC236}">
                <a16:creationId xmlns:a16="http://schemas.microsoft.com/office/drawing/2014/main" id="{F8854F59-076A-474B-B7F7-1340ECBFB1C6}"/>
              </a:ext>
            </a:extLst>
          </p:cNvPr>
          <p:cNvSpPr>
            <a:spLocks xmlns:a="http://schemas.openxmlformats.org/drawingml/2006/main" noGrp="1"/>
          </p:cNvSpPr>
          <p:nvPr/>
        </p:nvSpPr>
        <p:spPr>
          <a:xfrm xmlns:a="http://schemas.openxmlformats.org/drawingml/2006/main">
            <a:off x="609600" y="4552950"/>
            <a:ext cx="847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087F82"/>
                </a:solidFill>
                <a:latin typeface="Aptos"/>
                <a:ea typeface="Aptos"/>
                <a:cs typeface="Aptos"/>
              </a:defRPr>
            </a:pPr>
            <a:r>
              <a:rPr sz="3225" b="1">
                <a:solidFill>
                  <a:srgbClr val="087F82"/>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8E5B3234-0576-43D8-A024-5C19E641A269}"/>
              </a:ext>
            </a:extLst>
          </p:cNvPr>
          <p:cNvSpPr>
            <a:spLocks xmlns:a="http://schemas.openxmlformats.org/drawingml/2006/main" noGrp="1"/>
          </p:cNvSpPr>
          <p:nvPr/>
        </p:nvSpPr>
        <p:spPr>
          <a:xfrm xmlns:a="http://schemas.openxmlformats.org/drawingml/2006/main">
            <a:off x="1714500" y="4552950"/>
            <a:ext cx="985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12F43"/>
                </a:solidFill>
                <a:latin typeface="Aptos"/>
                <a:ea typeface="Aptos"/>
                <a:cs typeface="Aptos"/>
              </a:defRPr>
            </a:pPr>
            <a:r>
              <a:rPr sz="2250" b="1">
                <a:solidFill>
                  <a:srgbClr val="112F43"/>
                </a:solidFill>
                <a:latin typeface="Aptos"/>
                <a:ea typeface="Aptos"/>
                <a:cs typeface="Aptos"/>
              </a:rPr>
              <a:t>Operational and adoption work</a:t>
            </a:r>
          </a:p>
        </p:txBody>
      </p:sp>
      <p:sp>
        <p:nvSpPr>
          <p:cNvPr id="12" name="">
            <a:extLst xmlns:a="http://schemas.openxmlformats.org/drawingml/2006/main">
              <a:ext uri="{FF2B5EF4-FFF2-40B4-BE49-F238E27FC236}">
                <a16:creationId xmlns:a16="http://schemas.microsoft.com/office/drawing/2014/main" id="{1E1F2E60-0649-43C3-B372-1B4A1B8301A4}"/>
              </a:ext>
            </a:extLst>
          </p:cNvPr>
          <p:cNvSpPr>
            <a:spLocks xmlns:a="http://schemas.openxmlformats.org/drawingml/2006/main" noGrp="1"/>
          </p:cNvSpPr>
          <p:nvPr/>
        </p:nvSpPr>
        <p:spPr>
          <a:xfrm xmlns:a="http://schemas.openxmlformats.org/drawingml/2006/main">
            <a:off x="1714500" y="5095875"/>
            <a:ext cx="96869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6A74"/>
                </a:solidFill>
                <a:latin typeface="Aptos"/>
                <a:ea typeface="Aptos"/>
                <a:cs typeface="Aptos"/>
              </a:defRPr>
            </a:pPr>
            <a:r>
              <a:rPr sz="2025" b="0">
                <a:solidFill>
                  <a:srgbClr val="556A74"/>
                </a:solidFill>
                <a:latin typeface="Aptos"/>
                <a:ea typeface="Aptos"/>
                <a:cs typeface="Aptos"/>
              </a:rPr>
              <a:t>Authentication, validation, interoperability and licensing still matter.</a:t>
            </a:r>
          </a:p>
        </p:txBody>
      </p:sp>
    </p:spTree>
    <p:extLst>
      <p:ext uri="{BB962C8B-B14F-4D97-AF65-F5344CB8AC3E}">
        <p14:creationId xmlns:p14="http://schemas.microsoft.com/office/powerpoint/2010/main" val="1605191691"/>
      </p:ext>
    </p:extLst>
  </p:cSld>
</p:sld>
</file>

<file path=ppt/slides/slide1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5BFC6A43-854C-4169-8B09-A9924F63BFFE}"/>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The use case can change the communication winner</a:t>
            </a:r>
          </a:p>
        </p:txBody>
      </p:sp>
      <p:sp>
        <p:nvSpPr>
          <p:cNvPr id="2" name="">
            <a:extLst xmlns:a="http://schemas.openxmlformats.org/drawingml/2006/main">
              <a:ext uri="{FF2B5EF4-FFF2-40B4-BE49-F238E27FC236}">
                <a16:creationId xmlns:a16="http://schemas.microsoft.com/office/drawing/2014/main" id="{D3C7946D-0EBF-49CD-B2FF-DD1006875E63}"/>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RSA, ML-KEM and an ABW research agenda</a:t>
            </a:r>
          </a:p>
        </p:txBody>
      </p:sp>
      <p:sp>
        <p:nvSpPr>
          <p:cNvPr id="3" name="">
            <a:extLst xmlns:a="http://schemas.openxmlformats.org/drawingml/2006/main">
              <a:ext uri="{FF2B5EF4-FFF2-40B4-BE49-F238E27FC236}">
                <a16:creationId xmlns:a16="http://schemas.microsoft.com/office/drawing/2014/main" id="{A00C2051-AA00-4602-945C-7FD1105CBB37}"/>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15</a:t>
            </a:r>
          </a:p>
        </p:txBody>
      </p:sp>
      <p:graphicFrame>
        <p:nvGraphicFramePr>
          <p:cNvPr id="12" name="Chart"/>
          <p:cNvGraphicFramePr/>
          <p:nvPr/>
        </p:nvGraphicFramePr>
        <p:xfrm>
          <a:off xmlns:a="http://schemas.openxmlformats.org/drawingml/2006/main" x="438150" y="1714500"/>
          <a:ext xmlns:a="http://schemas.openxmlformats.org/drawingml/2006/main" cx="7324725" cy="3876675"/>
        </p:xfrm>
        <a:graphic xmlns:a="http://schemas.openxmlformats.org/drawingml/2006/main">
          <a:graphicData uri="http://schemas.openxmlformats.org/drawingml/2006/chart">
            <c:chart xmlns:r="http://schemas.openxmlformats.org/officeDocument/2006/relationships" xmlns:c="http://schemas.openxmlformats.org/drawingml/2006/chart" r:id="R8a5f18467801446c"/>
          </a:graphicData>
        </a:graphic>
      </p:graphicFrame>
      <p:sp>
        <p:nvSpPr>
          <p:cNvPr id="5" name="">
            <a:extLst xmlns:a="http://schemas.openxmlformats.org/drawingml/2006/main">
              <a:ext uri="{FF2B5EF4-FFF2-40B4-BE49-F238E27FC236}">
                <a16:creationId xmlns:a16="http://schemas.microsoft.com/office/drawing/2014/main" id="{F58F97DA-9C3E-4DD6-B67B-2444E3BEF868}"/>
              </a:ext>
            </a:extLst>
          </p:cNvPr>
          <p:cNvSpPr>
            <a:spLocks xmlns:a="http://schemas.openxmlformats.org/drawingml/2006/main" noGrp="1"/>
          </p:cNvSpPr>
          <p:nvPr/>
        </p:nvSpPr>
        <p:spPr>
          <a:xfrm xmlns:a="http://schemas.openxmlformats.org/drawingml/2006/main">
            <a:off x="8181975" y="1714500"/>
            <a:ext cx="336232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F82"/>
                </a:solidFill>
                <a:latin typeface="Aptos"/>
                <a:ea typeface="Aptos"/>
                <a:cs typeface="Aptos"/>
              </a:defRPr>
            </a:pPr>
            <a:r>
              <a:rPr sz="2175" b="1">
                <a:solidFill>
                  <a:srgbClr val="087F82"/>
                </a:solidFill>
                <a:latin typeface="Aptos"/>
                <a:ea typeface="Aptos"/>
                <a:cs typeface="Aptos"/>
              </a:rPr>
              <a:t>Cached public keys</a:t>
            </a:r>
          </a:p>
        </p:txBody>
      </p:sp>
      <p:sp>
        <p:nvSpPr>
          <p:cNvPr id="6" name="">
            <a:extLst xmlns:a="http://schemas.openxmlformats.org/drawingml/2006/main">
              <a:ext uri="{FF2B5EF4-FFF2-40B4-BE49-F238E27FC236}">
                <a16:creationId xmlns:a16="http://schemas.microsoft.com/office/drawing/2014/main" id="{ECD435BD-0F88-40B1-8678-7434F329CD65}"/>
              </a:ext>
            </a:extLst>
          </p:cNvPr>
          <p:cNvSpPr>
            <a:spLocks xmlns:a="http://schemas.openxmlformats.org/drawingml/2006/main" noGrp="1"/>
          </p:cNvSpPr>
          <p:nvPr/>
        </p:nvSpPr>
        <p:spPr>
          <a:xfrm xmlns:a="http://schemas.openxmlformats.org/drawingml/2006/main">
            <a:off x="8181975" y="2590800"/>
            <a:ext cx="3362325" cy="1266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Small ciphertexts can repay</a:t>
            </a:r>
          </a:p>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a large initial key transfer.</a:t>
            </a:r>
          </a:p>
        </p:txBody>
      </p:sp>
      <p:sp>
        <p:nvSpPr>
          <p:cNvPr id="7" name="">
            <a:extLst xmlns:a="http://schemas.openxmlformats.org/drawingml/2006/main">
              <a:ext uri="{FF2B5EF4-FFF2-40B4-BE49-F238E27FC236}">
                <a16:creationId xmlns:a16="http://schemas.microsoft.com/office/drawing/2014/main" id="{9B9A934B-B71A-4402-A5CA-875C011BA128}"/>
              </a:ext>
            </a:extLst>
          </p:cNvPr>
          <p:cNvSpPr>
            <a:spLocks xmlns:a="http://schemas.openxmlformats.org/drawingml/2006/main" noGrp="1"/>
          </p:cNvSpPr>
          <p:nvPr/>
        </p:nvSpPr>
        <p:spPr>
          <a:xfrm xmlns:a="http://schemas.openxmlformats.org/drawingml/2006/main">
            <a:off x="8181975" y="4429125"/>
            <a:ext cx="3362325"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1">
                <a:solidFill>
                  <a:srgbClr val="C45C48"/>
                </a:solidFill>
                <a:latin typeface="Aptos"/>
                <a:ea typeface="Aptos"/>
                <a:cs typeface="Aptos"/>
              </a:defRPr>
            </a:pPr>
            <a:r>
              <a:rPr sz="3525" b="1">
                <a:solidFill>
                  <a:srgbClr val="C45C48"/>
                </a:solidFill>
                <a:latin typeface="Aptos"/>
                <a:ea typeface="Aptos"/>
                <a:cs typeface="Aptos"/>
              </a:rPr>
              <a:t>T ≥ 388</a:t>
            </a:r>
          </a:p>
        </p:txBody>
      </p:sp>
      <p:sp>
        <p:nvSpPr>
          <p:cNvPr id="8" name="">
            <a:extLst xmlns:a="http://schemas.openxmlformats.org/drawingml/2006/main">
              <a:ext uri="{FF2B5EF4-FFF2-40B4-BE49-F238E27FC236}">
                <a16:creationId xmlns:a16="http://schemas.microsoft.com/office/drawing/2014/main" id="{F10270A9-86C2-4F5B-AD0D-C4827BA4A709}"/>
              </a:ext>
            </a:extLst>
          </p:cNvPr>
          <p:cNvSpPr>
            <a:spLocks xmlns:a="http://schemas.openxmlformats.org/drawingml/2006/main" noGrp="1"/>
          </p:cNvSpPr>
          <p:nvPr/>
        </p:nvSpPr>
        <p:spPr>
          <a:xfrm xmlns:a="http://schemas.openxmlformats.org/drawingml/2006/main">
            <a:off x="609600" y="5962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Calculated wire cost only, with equal increments in T. No runtime ranking is implied.</a:t>
            </a:r>
          </a:p>
        </p:txBody>
      </p:sp>
    </p:spTree>
    <p:extLst>
      <p:ext uri="{BB962C8B-B14F-4D97-AF65-F5344CB8AC3E}">
        <p14:creationId xmlns:p14="http://schemas.microsoft.com/office/powerpoint/2010/main" val="393992284"/>
      </p:ext>
    </p:extLst>
  </p:cSld>
</p:sld>
</file>

<file path=ppt/slides/slide1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6133A728-DFBC-4671-87A8-32E5B3CEA326}"/>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What a new cryptosystem needs to reproduce</a:t>
            </a:r>
          </a:p>
        </p:txBody>
      </p:sp>
      <p:sp>
        <p:nvSpPr>
          <p:cNvPr id="2" name="">
            <a:extLst xmlns:a="http://schemas.openxmlformats.org/drawingml/2006/main">
              <a:ext uri="{FF2B5EF4-FFF2-40B4-BE49-F238E27FC236}">
                <a16:creationId xmlns:a16="http://schemas.microsoft.com/office/drawing/2014/main" id="{71399ADF-20D7-42CA-BD46-F510FFC86338}"/>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RSA, ML-KEM and an ABW research agenda</a:t>
            </a:r>
          </a:p>
        </p:txBody>
      </p:sp>
      <p:sp>
        <p:nvSpPr>
          <p:cNvPr id="3" name="">
            <a:extLst xmlns:a="http://schemas.openxmlformats.org/drawingml/2006/main">
              <a:ext uri="{FF2B5EF4-FFF2-40B4-BE49-F238E27FC236}">
                <a16:creationId xmlns:a16="http://schemas.microsoft.com/office/drawing/2014/main" id="{F896A006-3BC5-4F7F-A4A6-C7A0E1D8BDF8}"/>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16</a:t>
            </a:r>
          </a:p>
        </p:txBody>
      </p:sp>
      <p:graphicFrame>
        <p:nvGraphicFramePr>
          <p:cNvPr id="9" name=""/>
          <p:cNvGraphicFramePr/>
          <p:nvPr/>
        </p:nvGraphicFramePr>
        <p:xfrm>
          <a:off xmlns:a="http://schemas.openxmlformats.org/drawingml/2006/main" x="609600" y="1657350"/>
          <a:ext xmlns:a="http://schemas.openxmlformats.org/drawingml/2006/main" cx="10972800" cy="3752850"/>
        </p:xfrm>
        <a:graphic xmlns:a="http://schemas.openxmlformats.org/drawingml/2006/main">
          <a:graphicData uri="http://schemas.openxmlformats.org/drawingml/2006/table">
            <a:tbl>
              <a:tblPr/>
              <a:tblGrid>
                <a:gridCol w="3486150"/>
                <a:gridCol w="7486650"/>
              </a:tblGrid>
              <a:tr h="750570">
                <a:tc>
                  <a:txBody>
                    <a:bodyPr/>
                    <a:lstStyle/>
                    <a:p>
                      <a:r>
                        <a:rPr sz="1950" b="1">
                          <a:solidFill>
                            <a:srgbClr val="FFFFFF"/>
                          </a:solidFill>
                          <a:latin typeface="Aptos"/>
                          <a:ea typeface="Aptos"/>
                          <a:cs typeface="Aptos"/>
                        </a:rPr>
                        <a:t>Attractive feature</a:t>
                      </a:r>
                    </a:p>
                  </a:txBody>
                  <a:tcPr marL="142875" marR="114300" marT="104775" marB="85725" anchor="ctr">
                    <a:solidFill>
                      <a:srgbClr val="112F43"/>
                    </a:solidFill>
                  </a:tcPr>
                </a:tc>
                <a:tc>
                  <a:txBody>
                    <a:bodyPr/>
                    <a:lstStyle/>
                    <a:p>
                      <a:r>
                        <a:rPr sz="1950" b="1">
                          <a:solidFill>
                            <a:srgbClr val="FFFFFF"/>
                          </a:solidFill>
                          <a:latin typeface="Aptos"/>
                          <a:ea typeface="Aptos"/>
                          <a:cs typeface="Aptos"/>
                        </a:rPr>
                        <a:t>Lesson for an ABW candidate</a:t>
                      </a:r>
                    </a:p>
                  </a:txBody>
                  <a:tcPr marL="142875" marR="114300" marT="104775" marB="85725" anchor="ctr">
                    <a:solidFill>
                      <a:srgbClr val="112F43"/>
                    </a:solidFill>
                  </a:tcPr>
                </a:tc>
              </a:tr>
              <a:tr h="750570">
                <a:tc>
                  <a:txBody>
                    <a:bodyPr/>
                    <a:lstStyle/>
                    <a:p>
                      <a:r>
                        <a:rPr sz="1950">
                          <a:solidFill>
                            <a:srgbClr val="112F43"/>
                          </a:solidFill>
                          <a:latin typeface="Aptos"/>
                          <a:ea typeface="Aptos"/>
                          <a:cs typeface="Aptos"/>
                        </a:rPr>
                        <a:t>Clear useful primitive</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Start with a complete KEM for one deployment setting</a:t>
                      </a:r>
                    </a:p>
                  </a:txBody>
                  <a:tcPr marL="142875" marR="114300" marT="104775" marB="85725" anchor="ctr">
                    <a:solidFill>
                      <a:srgbClr val="F7F5F0"/>
                    </a:solidFill>
                  </a:tcPr>
                </a:tc>
              </a:tr>
              <a:tr h="750570">
                <a:tc>
                  <a:txBody>
                    <a:bodyPr/>
                    <a:lstStyle/>
                    <a:p>
                      <a:r>
                        <a:rPr sz="1950">
                          <a:solidFill>
                            <a:srgbClr val="112F43"/>
                          </a:solidFill>
                          <a:latin typeface="Aptos"/>
                          <a:ea typeface="Aptos"/>
                          <a:cs typeface="Aptos"/>
                        </a:rPr>
                        <a:t>Credible security evidence</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Analyse exact samplers and concrete attack costs</a:t>
                      </a:r>
                    </a:p>
                  </a:txBody>
                  <a:tcPr marL="142875" marR="114300" marT="104775" marB="85725" anchor="ctr">
                    <a:solidFill>
                      <a:srgbClr val="F7F5F0"/>
                    </a:solidFill>
                  </a:tcPr>
                </a:tc>
              </a:tr>
              <a:tr h="750570">
                <a:tc>
                  <a:txBody>
                    <a:bodyPr/>
                    <a:lstStyle/>
                    <a:p>
                      <a:r>
                        <a:rPr sz="1950">
                          <a:solidFill>
                            <a:srgbClr val="112F43"/>
                          </a:solidFill>
                          <a:latin typeface="Aptos"/>
                          <a:ea typeface="Aptos"/>
                          <a:cs typeface="Aptos"/>
                        </a:rPr>
                        <a:t>Balanced total cost</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Count communication, key generation and amplification</a:t>
                      </a:r>
                    </a:p>
                  </a:txBody>
                  <a:tcPr marL="142875" marR="114300" marT="104775" marB="85725" anchor="ctr">
                    <a:solidFill>
                      <a:srgbClr val="F7F5F0"/>
                    </a:solidFill>
                  </a:tcPr>
                </a:tc>
              </a:tr>
              <a:tr h="750570">
                <a:tc>
                  <a:txBody>
                    <a:bodyPr/>
                    <a:lstStyle/>
                    <a:p>
                      <a:r>
                        <a:rPr sz="1950">
                          <a:solidFill>
                            <a:srgbClr val="112F43"/>
                          </a:solidFill>
                          <a:latin typeface="Aptos"/>
                          <a:ea typeface="Aptos"/>
                          <a:cs typeface="Aptos"/>
                        </a:rPr>
                        <a:t>Safe integration</a:t>
                      </a:r>
                    </a:p>
                  </a:txBody>
                  <a:tcPr marL="142875" marR="114300" marT="104775" marB="85725" anchor="ctr">
                    <a:solidFill>
                      <a:srgbClr val="F7F5F0"/>
                    </a:solidFill>
                  </a:tcPr>
                </a:tc>
                <a:tc>
                  <a:txBody>
                    <a:bodyPr/>
                    <a:lstStyle/>
                    <a:p>
                      <a:r>
                        <a:rPr sz="1950">
                          <a:solidFill>
                            <a:srgbClr val="112F43"/>
                          </a:solidFill>
                          <a:latin typeface="Aptos"/>
                          <a:ea typeface="Aptos"/>
                          <a:cs typeface="Aptos"/>
                        </a:rPr>
                        <a:t>Include CCA security, failure handling and implementation</a:t>
                      </a:r>
                    </a:p>
                  </a:txBody>
                  <a:tcPr marL="142875" marR="114300" marT="104775" marB="85725" anchor="ctr">
                    <a:solidFill>
                      <a:srgbClr val="F7F5F0"/>
                    </a:solidFill>
                  </a:tcPr>
                </a:tc>
              </a:tr>
            </a:tbl>
          </a:graphicData>
        </a:graphic>
      </p:graphicFrame>
      <p:sp>
        <p:nvSpPr>
          <p:cNvPr id="5" name="">
            <a:extLst xmlns:a="http://schemas.openxmlformats.org/drawingml/2006/main">
              <a:ext uri="{FF2B5EF4-FFF2-40B4-BE49-F238E27FC236}">
                <a16:creationId xmlns:a16="http://schemas.microsoft.com/office/drawing/2014/main" id="{C6A2F593-A76D-4FB4-8C2E-454CA198601E}"/>
              </a:ext>
            </a:extLst>
          </p:cNvPr>
          <p:cNvSpPr>
            <a:spLocks xmlns:a="http://schemas.openxmlformats.org/drawingml/2006/main" noGrp="1"/>
          </p:cNvSpPr>
          <p:nvPr/>
        </p:nvSpPr>
        <p:spPr>
          <a:xfrm xmlns:a="http://schemas.openxmlformats.org/drawingml/2006/main">
            <a:off x="609600" y="5962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A competitive niche may be a realistic first goal before a general-purpose replacement.</a:t>
            </a:r>
          </a:p>
        </p:txBody>
      </p:sp>
    </p:spTree>
    <p:extLst>
      <p:ext uri="{BB962C8B-B14F-4D97-AF65-F5344CB8AC3E}">
        <p14:creationId xmlns:p14="http://schemas.microsoft.com/office/powerpoint/2010/main" val="510078263"/>
      </p:ext>
    </p:extLst>
  </p:cSld>
</p:sld>
</file>

<file path=ppt/slides/slide1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7FEB5E07-5651-403E-B80B-636B120FA286}"/>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ABW’s sparse noisy-equation foundation</a:t>
            </a:r>
          </a:p>
        </p:txBody>
      </p:sp>
      <p:sp>
        <p:nvSpPr>
          <p:cNvPr id="2" name="">
            <a:extLst xmlns:a="http://schemas.openxmlformats.org/drawingml/2006/main">
              <a:ext uri="{FF2B5EF4-FFF2-40B4-BE49-F238E27FC236}">
                <a16:creationId xmlns:a16="http://schemas.microsoft.com/office/drawing/2014/main" id="{79EA0709-7326-41E7-8D1E-E89F03844DC7}"/>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RSA, ML-KEM and an ABW research agenda</a:t>
            </a:r>
          </a:p>
        </p:txBody>
      </p:sp>
      <p:sp>
        <p:nvSpPr>
          <p:cNvPr id="3" name="">
            <a:extLst xmlns:a="http://schemas.openxmlformats.org/drawingml/2006/main">
              <a:ext uri="{FF2B5EF4-FFF2-40B4-BE49-F238E27FC236}">
                <a16:creationId xmlns:a16="http://schemas.microsoft.com/office/drawing/2014/main" id="{C3DE6578-9D58-413B-81B1-F042893806E0}"/>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17</a:t>
            </a:r>
          </a:p>
        </p:txBody>
      </p:sp>
      <p:pic>
        <p:nvPicPr>
          <p:cNvPr id="11" name=""/>
          <p:cNvPicPr>
            <a:picLocks xmlns:a="http://schemas.openxmlformats.org/drawingml/2006/main" noChangeAspect="1"/>
          </p:cNvPicPr>
          <p:nvPr/>
        </p:nvPicPr>
        <p:blipFill>
          <a:blip xmlns:r="http://schemas.openxmlformats.org/officeDocument/2006/relationships" xmlns:a="http://schemas.openxmlformats.org/drawingml/2006/main" r:embed="R78748fdbfcda4fd1"/>
          <a:stretch xmlns:a="http://schemas.openxmlformats.org/drawingml/2006/main"/>
        </p:blipFill>
        <p:spPr>
          <a:xfrm xmlns:a="http://schemas.openxmlformats.org/drawingml/2006/main">
            <a:off x="797719" y="1866900"/>
            <a:ext cx="5529263" cy="36861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AA453CE7-A6D8-4F16-8E00-F8844BA23C8C}"/>
              </a:ext>
            </a:extLst>
          </p:cNvPr>
          <p:cNvSpPr>
            <a:spLocks xmlns:a="http://schemas.openxmlformats.org/drawingml/2006/main" noGrp="1"/>
          </p:cNvSpPr>
          <p:nvPr/>
        </p:nvSpPr>
        <p:spPr>
          <a:xfrm xmlns:a="http://schemas.openxmlformats.org/drawingml/2006/main">
            <a:off x="7181850" y="1704975"/>
            <a:ext cx="4381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1">
                <a:solidFill>
                  <a:srgbClr val="087F82"/>
                </a:solidFill>
                <a:latin typeface="Aptos"/>
                <a:ea typeface="Aptos"/>
                <a:cs typeface="Aptos"/>
              </a:defRPr>
            </a:pPr>
            <a:r>
              <a:rPr sz="3750" b="1">
                <a:solidFill>
                  <a:srgbClr val="087F82"/>
                </a:solidFill>
                <a:latin typeface="Aptos"/>
                <a:ea typeface="Aptos"/>
                <a:cs typeface="Aptos"/>
              </a:rPr>
              <a:t>b = Mx + e</a:t>
            </a:r>
          </a:p>
        </p:txBody>
      </p:sp>
      <p:sp>
        <p:nvSpPr>
          <p:cNvPr id="6" name="">
            <a:extLst xmlns:a="http://schemas.openxmlformats.org/drawingml/2006/main">
              <a:ext uri="{FF2B5EF4-FFF2-40B4-BE49-F238E27FC236}">
                <a16:creationId xmlns:a16="http://schemas.microsoft.com/office/drawing/2014/main" id="{64C72B63-E033-4C09-B141-4C1B26E616B7}"/>
              </a:ext>
            </a:extLst>
          </p:cNvPr>
          <p:cNvSpPr>
            <a:spLocks xmlns:a="http://schemas.openxmlformats.org/drawingml/2006/main" noGrp="1"/>
          </p:cNvSpPr>
          <p:nvPr/>
        </p:nvSpPr>
        <p:spPr>
          <a:xfrm xmlns:a="http://schemas.openxmlformats.org/drawingml/2006/main">
            <a:off x="7181850" y="2886075"/>
            <a:ext cx="4381500" cy="2228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Sparse binary rows</a:t>
            </a:r>
          </a:p>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Uniform planted x</a:t>
            </a:r>
          </a:p>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Independent output flips</a:t>
            </a:r>
          </a:p>
          <a:p xmlns:a="http://schemas.openxmlformats.org/drawingml/2006/main">
            <a:r>
              <a:t/>
            </a:r>
          </a:p>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Recover x from M and b.</a:t>
            </a:r>
          </a:p>
        </p:txBody>
      </p:sp>
      <p:sp>
        <p:nvSpPr>
          <p:cNvPr id="7" name="">
            <a:extLst xmlns:a="http://schemas.openxmlformats.org/drawingml/2006/main">
              <a:ext uri="{FF2B5EF4-FFF2-40B4-BE49-F238E27FC236}">
                <a16:creationId xmlns:a16="http://schemas.microsoft.com/office/drawing/2014/main" id="{B4C8C7E3-A1EB-45F6-8AEF-53616DB5654A}"/>
              </a:ext>
            </a:extLst>
          </p:cNvPr>
          <p:cNvSpPr>
            <a:spLocks xmlns:a="http://schemas.openxmlformats.org/drawingml/2006/main" noGrp="1"/>
          </p:cNvSpPr>
          <p:nvPr/>
        </p:nvSpPr>
        <p:spPr>
          <a:xfrm xmlns:a="http://schemas.openxmlformats.org/drawingml/2006/main">
            <a:off x="609600" y="5962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Search3LIN: m = Θ(n¹·⁴), ε = Θ(n⁻⁰·²), with suitable constants. Arithmetic is mod 2.</a:t>
            </a:r>
          </a:p>
        </p:txBody>
      </p:sp>
    </p:spTree>
    <p:extLst>
      <p:ext uri="{BB962C8B-B14F-4D97-AF65-F5344CB8AC3E}">
        <p14:creationId xmlns:p14="http://schemas.microsoft.com/office/powerpoint/2010/main" val="1620197294"/>
      </p:ext>
    </p:extLst>
  </p:cSld>
</p:sld>
</file>

<file path=ppt/slides/slide1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E2B7CAA8-2759-4795-9CF0-3BE33902433E}"/>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ABW’s trapdoor is a short row dependency</a:t>
            </a:r>
          </a:p>
        </p:txBody>
      </p:sp>
      <p:sp>
        <p:nvSpPr>
          <p:cNvPr id="2" name="">
            <a:extLst xmlns:a="http://schemas.openxmlformats.org/drawingml/2006/main">
              <a:ext uri="{FF2B5EF4-FFF2-40B4-BE49-F238E27FC236}">
                <a16:creationId xmlns:a16="http://schemas.microsoft.com/office/drawing/2014/main" id="{87691317-CB2D-4205-9BBA-DA0BEF75CCF6}"/>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RSA, ML-KEM and an ABW research agenda</a:t>
            </a:r>
          </a:p>
        </p:txBody>
      </p:sp>
      <p:sp>
        <p:nvSpPr>
          <p:cNvPr id="3" name="">
            <a:extLst xmlns:a="http://schemas.openxmlformats.org/drawingml/2006/main">
              <a:ext uri="{FF2B5EF4-FFF2-40B4-BE49-F238E27FC236}">
                <a16:creationId xmlns:a16="http://schemas.microsoft.com/office/drawing/2014/main" id="{67659953-59BF-445B-B130-EAB4B7AF2AF6}"/>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18</a:t>
            </a:r>
          </a:p>
        </p:txBody>
      </p:sp>
      <p:sp>
        <p:nvSpPr>
          <p:cNvPr id="4" name="">
            <a:extLst xmlns:a="http://schemas.openxmlformats.org/drawingml/2006/main">
              <a:ext uri="{FF2B5EF4-FFF2-40B4-BE49-F238E27FC236}">
                <a16:creationId xmlns:a16="http://schemas.microsoft.com/office/drawing/2014/main" id="{C65282A3-FFAB-4016-AFBE-6C836E685BE9}"/>
              </a:ext>
            </a:extLst>
          </p:cNvPr>
          <p:cNvSpPr>
            <a:spLocks xmlns:a="http://schemas.openxmlformats.org/drawingml/2006/main" noGrp="1"/>
          </p:cNvSpPr>
          <p:nvPr/>
        </p:nvSpPr>
        <p:spPr>
          <a:xfrm xmlns:a="http://schemas.openxmlformats.org/drawingml/2006/main">
            <a:off x="609600" y="16097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087F82"/>
                </a:solidFill>
                <a:latin typeface="Aptos"/>
                <a:ea typeface="Aptos"/>
                <a:cs typeface="Aptos"/>
              </a:defRPr>
            </a:pPr>
            <a:r>
              <a:rPr sz="3375" b="1">
                <a:solidFill>
                  <a:srgbClr val="087F82"/>
                </a:solidFill>
                <a:latin typeface="Aptos"/>
                <a:ea typeface="Aptos"/>
                <a:cs typeface="Aptos"/>
              </a:rPr>
              <a:t>sᵀM = 0      sₘ = 1</a:t>
            </a:r>
          </a:p>
        </p:txBody>
      </p:sp>
      <p:sp>
        <p:nvSpPr>
          <p:cNvPr id="5" name="">
            <a:extLst xmlns:a="http://schemas.openxmlformats.org/drawingml/2006/main">
              <a:ext uri="{FF2B5EF4-FFF2-40B4-BE49-F238E27FC236}">
                <a16:creationId xmlns:a16="http://schemas.microsoft.com/office/drawing/2014/main" id="{0C5B0A1D-DAE8-4635-BF00-8603939883B9}"/>
              </a:ext>
            </a:extLst>
          </p:cNvPr>
          <p:cNvSpPr>
            <a:spLocks xmlns:a="http://schemas.openxmlformats.org/drawingml/2006/main" noGrp="1"/>
          </p:cNvSpPr>
          <p:nvPr/>
        </p:nvSpPr>
        <p:spPr>
          <a:xfrm xmlns:a="http://schemas.openxmlformats.org/drawingml/2006/main">
            <a:off x="609600" y="3000375"/>
            <a:ext cx="1097280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087F82"/>
                </a:solidFill>
                <a:latin typeface="Aptos"/>
                <a:ea typeface="Aptos"/>
                <a:cs typeface="Aptos"/>
              </a:defRPr>
            </a:pPr>
            <a:r>
              <a:rPr sz="3450" b="1">
                <a:solidFill>
                  <a:srgbClr val="087F82"/>
                </a:solidFill>
                <a:latin typeface="Aptos"/>
                <a:ea typeface="Aptos"/>
                <a:cs typeface="Aptos"/>
              </a:rPr>
              <a:t>c = Mx + e + μuₘ</a:t>
            </a:r>
          </a:p>
        </p:txBody>
      </p:sp>
      <p:sp>
        <p:nvSpPr>
          <p:cNvPr id="6" name="">
            <a:extLst xmlns:a="http://schemas.openxmlformats.org/drawingml/2006/main">
              <a:ext uri="{FF2B5EF4-FFF2-40B4-BE49-F238E27FC236}">
                <a16:creationId xmlns:a16="http://schemas.microsoft.com/office/drawing/2014/main" id="{99EE9807-5EE6-4445-ABB1-2B03A91B9E74}"/>
              </a:ext>
            </a:extLst>
          </p:cNvPr>
          <p:cNvSpPr>
            <a:spLocks xmlns:a="http://schemas.openxmlformats.org/drawingml/2006/main" noGrp="1"/>
          </p:cNvSpPr>
          <p:nvPr/>
        </p:nvSpPr>
        <p:spPr>
          <a:xfrm xmlns:a="http://schemas.openxmlformats.org/drawingml/2006/main">
            <a:off x="609600" y="43910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450" b="1">
                <a:solidFill>
                  <a:srgbClr val="087F82"/>
                </a:solidFill>
                <a:latin typeface="Aptos"/>
                <a:ea typeface="Aptos"/>
                <a:cs typeface="Aptos"/>
              </a:defRPr>
            </a:pPr>
            <a:r>
              <a:rPr sz="3450" b="1">
                <a:solidFill>
                  <a:srgbClr val="087F82"/>
                </a:solidFill>
                <a:latin typeface="Aptos"/>
                <a:ea typeface="Aptos"/>
                <a:cs typeface="Aptos"/>
              </a:rPr>
              <a:t>sᵀc = μ + sᵀe</a:t>
            </a:r>
          </a:p>
        </p:txBody>
      </p:sp>
      <p:sp>
        <p:nvSpPr>
          <p:cNvPr id="7" name="">
            <a:extLst xmlns:a="http://schemas.openxmlformats.org/drawingml/2006/main">
              <a:ext uri="{FF2B5EF4-FFF2-40B4-BE49-F238E27FC236}">
                <a16:creationId xmlns:a16="http://schemas.microsoft.com/office/drawing/2014/main" id="{9A352EFD-87D0-4A55-BB73-3F859CC19A83}"/>
              </a:ext>
            </a:extLst>
          </p:cNvPr>
          <p:cNvSpPr>
            <a:spLocks xmlns:a="http://schemas.openxmlformats.org/drawingml/2006/main" noGrp="1"/>
          </p:cNvSpPr>
          <p:nvPr/>
        </p:nvSpPr>
        <p:spPr>
          <a:xfrm xmlns:a="http://schemas.openxmlformats.org/drawingml/2006/main">
            <a:off x="609600" y="5962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This raw bit mechanism needs correctness and security amplification before becoming a finished primitive.</a:t>
            </a:r>
          </a:p>
        </p:txBody>
      </p:sp>
    </p:spTree>
    <p:extLst>
      <p:ext uri="{BB962C8B-B14F-4D97-AF65-F5344CB8AC3E}">
        <p14:creationId xmlns:p14="http://schemas.microsoft.com/office/powerpoint/2010/main" val="412956108"/>
      </p:ext>
    </p:extLst>
  </p:cSld>
</p:sld>
</file>

<file path=ppt/slides/slide1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C8A3752F-7C56-4310-B6A8-FEEFCC69D725}"/>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Correctness is a central cost bottleneck</a:t>
            </a:r>
          </a:p>
        </p:txBody>
      </p:sp>
      <p:sp>
        <p:nvSpPr>
          <p:cNvPr id="2" name="">
            <a:extLst xmlns:a="http://schemas.openxmlformats.org/drawingml/2006/main">
              <a:ext uri="{FF2B5EF4-FFF2-40B4-BE49-F238E27FC236}">
                <a16:creationId xmlns:a16="http://schemas.microsoft.com/office/drawing/2014/main" id="{856737EB-41CD-40C0-BA1B-28DC5E117C74}"/>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RSA, ML-KEM and an ABW research agenda</a:t>
            </a:r>
          </a:p>
        </p:txBody>
      </p:sp>
      <p:sp>
        <p:nvSpPr>
          <p:cNvPr id="3" name="">
            <a:extLst xmlns:a="http://schemas.openxmlformats.org/drawingml/2006/main">
              <a:ext uri="{FF2B5EF4-FFF2-40B4-BE49-F238E27FC236}">
                <a16:creationId xmlns:a16="http://schemas.microsoft.com/office/drawing/2014/main" id="{34569746-C002-4B05-BC6F-91A21108FA2C}"/>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19</a:t>
            </a:r>
          </a:p>
        </p:txBody>
      </p:sp>
      <p:graphicFrame>
        <p:nvGraphicFramePr>
          <p:cNvPr id="12" name="Chart"/>
          <p:cNvGraphicFramePr/>
          <p:nvPr/>
        </p:nvGraphicFramePr>
        <p:xfrm>
          <a:off xmlns:a="http://schemas.openxmlformats.org/drawingml/2006/main" x="419100" y="1981200"/>
          <a:ext xmlns:a="http://schemas.openxmlformats.org/drawingml/2006/main" cx="7381875" cy="3619500"/>
        </p:xfrm>
        <a:graphic xmlns:a="http://schemas.openxmlformats.org/drawingml/2006/main">
          <a:graphicData uri="http://schemas.openxmlformats.org/drawingml/2006/chart">
            <c:chart xmlns:r="http://schemas.openxmlformats.org/officeDocument/2006/relationships" xmlns:c="http://schemas.openxmlformats.org/drawingml/2006/chart" r:id="R83b16561f542455e"/>
          </a:graphicData>
        </a:graphic>
      </p:graphicFrame>
      <p:sp>
        <p:nvSpPr>
          <p:cNvPr id="5" name="">
            <a:extLst xmlns:a="http://schemas.openxmlformats.org/drawingml/2006/main">
              <a:ext uri="{FF2B5EF4-FFF2-40B4-BE49-F238E27FC236}">
                <a16:creationId xmlns:a16="http://schemas.microsoft.com/office/drawing/2014/main" id="{CA4C8AC3-BB00-415D-84B7-24C7CEE4F7E2}"/>
              </a:ext>
            </a:extLst>
          </p:cNvPr>
          <p:cNvSpPr>
            <a:spLocks xmlns:a="http://schemas.openxmlformats.org/drawingml/2006/main" noGrp="1"/>
          </p:cNvSpPr>
          <p:nvPr/>
        </p:nvSpPr>
        <p:spPr>
          <a:xfrm xmlns:a="http://schemas.openxmlformats.org/drawingml/2006/main">
            <a:off x="8172450" y="1676400"/>
            <a:ext cx="3381375" cy="1323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087F82"/>
                </a:solidFill>
                <a:latin typeface="Aptos"/>
                <a:ea typeface="Aptos"/>
                <a:cs typeface="Aptos"/>
              </a:defRPr>
            </a:pPr>
            <a:r>
              <a:rPr sz="2250" b="1">
                <a:solidFill>
                  <a:srgbClr val="087F82"/>
                </a:solidFill>
                <a:latin typeface="Aptos"/>
                <a:ea typeface="Aptos"/>
                <a:cs typeface="Aptos"/>
              </a:rPr>
              <a:t>P[error] =</a:t>
            </a:r>
          </a:p>
          <a:p xmlns:a="http://schemas.openxmlformats.org/drawingml/2006/main">
            <a:pPr algn="l">
              <a:defRPr sz="2250" b="1">
                <a:solidFill>
                  <a:srgbClr val="087F82"/>
                </a:solidFill>
                <a:latin typeface="Aptos"/>
                <a:ea typeface="Aptos"/>
                <a:cs typeface="Aptos"/>
              </a:defRPr>
            </a:pPr>
            <a:r>
              <a:rPr sz="2250" b="1">
                <a:solidFill>
                  <a:srgbClr val="087F82"/>
                </a:solidFill>
                <a:latin typeface="Aptos"/>
                <a:ea typeface="Aptos"/>
                <a:cs typeface="Aptos"/>
              </a:rPr>
              <a:t>½[1 − (1 − 2ε)ʳ]</a:t>
            </a:r>
          </a:p>
        </p:txBody>
      </p:sp>
      <p:sp>
        <p:nvSpPr>
          <p:cNvPr id="6" name="">
            <a:extLst xmlns:a="http://schemas.openxmlformats.org/drawingml/2006/main">
              <a:ext uri="{FF2B5EF4-FFF2-40B4-BE49-F238E27FC236}">
                <a16:creationId xmlns:a16="http://schemas.microsoft.com/office/drawing/2014/main" id="{0025C830-F2F3-4ADE-8D3F-CF60F21301DC}"/>
              </a:ext>
            </a:extLst>
          </p:cNvPr>
          <p:cNvSpPr>
            <a:spLocks xmlns:a="http://schemas.openxmlformats.org/drawingml/2006/main" noGrp="1"/>
          </p:cNvSpPr>
          <p:nvPr/>
        </p:nvSpPr>
        <p:spPr>
          <a:xfrm xmlns:a="http://schemas.openxmlformats.org/drawingml/2006/main">
            <a:off x="8172450" y="3524250"/>
            <a:ext cx="3381375"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C45C48"/>
                </a:solidFill>
                <a:latin typeface="Aptos"/>
                <a:ea typeface="Aptos"/>
                <a:cs typeface="Aptos"/>
              </a:defRPr>
            </a:pPr>
            <a:r>
              <a:rPr sz="1875" b="1">
                <a:solidFill>
                  <a:srgbClr val="C45C48"/>
                </a:solidFill>
                <a:latin typeface="Aptos"/>
                <a:ea typeface="Aptos"/>
                <a:cs typeface="Aptos"/>
              </a:rPr>
              <a:t>At r = 32, ε = 0.01</a:t>
            </a:r>
          </a:p>
        </p:txBody>
      </p:sp>
      <p:sp>
        <p:nvSpPr>
          <p:cNvPr id="7" name="">
            <a:extLst xmlns:a="http://schemas.openxmlformats.org/drawingml/2006/main">
              <a:ext uri="{FF2B5EF4-FFF2-40B4-BE49-F238E27FC236}">
                <a16:creationId xmlns:a16="http://schemas.microsoft.com/office/drawing/2014/main" id="{54C0C6B6-4A66-47B0-A6BF-977BD9C0C6A9}"/>
              </a:ext>
            </a:extLst>
          </p:cNvPr>
          <p:cNvSpPr>
            <a:spLocks xmlns:a="http://schemas.openxmlformats.org/drawingml/2006/main" noGrp="1"/>
          </p:cNvSpPr>
          <p:nvPr/>
        </p:nvSpPr>
        <p:spPr>
          <a:xfrm xmlns:a="http://schemas.openxmlformats.org/drawingml/2006/main">
            <a:off x="8172450" y="4333875"/>
            <a:ext cx="3381375"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775" b="1">
                <a:solidFill>
                  <a:srgbClr val="C45C48"/>
                </a:solidFill>
                <a:latin typeface="Aptos"/>
                <a:ea typeface="Aptos"/>
                <a:cs typeface="Aptos"/>
              </a:defRPr>
            </a:pPr>
            <a:r>
              <a:rPr sz="2775" b="1">
                <a:solidFill>
                  <a:srgbClr val="C45C48"/>
                </a:solidFill>
                <a:latin typeface="Aptos"/>
                <a:ea typeface="Aptos"/>
                <a:cs typeface="Aptos"/>
              </a:rPr>
              <a:t>23.8% error</a:t>
            </a:r>
          </a:p>
        </p:txBody>
      </p:sp>
      <p:sp>
        <p:nvSpPr>
          <p:cNvPr id="8" name="">
            <a:extLst xmlns:a="http://schemas.openxmlformats.org/drawingml/2006/main">
              <a:ext uri="{FF2B5EF4-FFF2-40B4-BE49-F238E27FC236}">
                <a16:creationId xmlns:a16="http://schemas.microsoft.com/office/drawing/2014/main" id="{84076DA9-1A2A-4E56-93E0-32C4F7ACCB50}"/>
              </a:ext>
            </a:extLst>
          </p:cNvPr>
          <p:cNvSpPr>
            <a:spLocks xmlns:a="http://schemas.openxmlformats.org/drawingml/2006/main" noGrp="1"/>
          </p:cNvSpPr>
          <p:nvPr/>
        </p:nvSpPr>
        <p:spPr>
          <a:xfrm xmlns:a="http://schemas.openxmlformats.org/drawingml/2006/main">
            <a:off x="609600" y="5962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Calculated curves. Complete correctness amplification has real communication and key costs.</a:t>
            </a:r>
          </a:p>
        </p:txBody>
      </p:sp>
    </p:spTree>
    <p:extLst>
      <p:ext uri="{BB962C8B-B14F-4D97-AF65-F5344CB8AC3E}">
        <p14:creationId xmlns:p14="http://schemas.microsoft.com/office/powerpoint/2010/main" val="36256244"/>
      </p:ext>
    </p:extLst>
  </p:cSld>
</p:sld>
</file>

<file path=ppt/slides/slide2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1901A82A-5B7A-4B5C-A05D-B0A5A5BE666E}"/>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Research track 1: cheaper correctness amplification</a:t>
            </a:r>
          </a:p>
        </p:txBody>
      </p:sp>
      <p:sp>
        <p:nvSpPr>
          <p:cNvPr id="2" name="">
            <a:extLst xmlns:a="http://schemas.openxmlformats.org/drawingml/2006/main">
              <a:ext uri="{FF2B5EF4-FFF2-40B4-BE49-F238E27FC236}">
                <a16:creationId xmlns:a16="http://schemas.microsoft.com/office/drawing/2014/main" id="{3F9F2E55-DD3B-419C-855B-B7C121F13F66}"/>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RSA, ML-KEM and an ABW research agenda</a:t>
            </a:r>
          </a:p>
        </p:txBody>
      </p:sp>
      <p:sp>
        <p:nvSpPr>
          <p:cNvPr id="3" name="">
            <a:extLst xmlns:a="http://schemas.openxmlformats.org/drawingml/2006/main">
              <a:ext uri="{FF2B5EF4-FFF2-40B4-BE49-F238E27FC236}">
                <a16:creationId xmlns:a16="http://schemas.microsoft.com/office/drawing/2014/main" id="{0784FE2F-5460-4A62-B267-7E67F24E7A8E}"/>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20</a:t>
            </a:r>
          </a:p>
        </p:txBody>
      </p:sp>
      <p:pic>
        <p:nvPicPr>
          <p:cNvPr id="13" name=""/>
          <p:cNvPicPr>
            <a:picLocks xmlns:a="http://schemas.openxmlformats.org/drawingml/2006/main" noChangeAspect="1"/>
          </p:cNvPicPr>
          <p:nvPr/>
        </p:nvPicPr>
        <p:blipFill>
          <a:blip xmlns:r="http://schemas.openxmlformats.org/officeDocument/2006/relationships" xmlns:a="http://schemas.openxmlformats.org/drawingml/2006/main" r:embed="R3702e276a7434533"/>
          <a:stretch xmlns:a="http://schemas.openxmlformats.org/drawingml/2006/main"/>
        </p:blipFill>
        <p:spPr>
          <a:xfrm xmlns:a="http://schemas.openxmlformats.org/drawingml/2006/main">
            <a:off x="1245394" y="2247900"/>
            <a:ext cx="4443413" cy="2962275"/>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0D0111BA-2DDE-4DE9-A03C-96CF3605295B}"/>
              </a:ext>
            </a:extLst>
          </p:cNvPr>
          <p:cNvSpPr>
            <a:spLocks xmlns:a="http://schemas.openxmlformats.org/drawingml/2006/main" noGrp="1"/>
          </p:cNvSpPr>
          <p:nvPr/>
        </p:nvSpPr>
        <p:spPr>
          <a:xfrm xmlns:a="http://schemas.openxmlformats.org/drawingml/2006/main">
            <a:off x="7029450" y="1685925"/>
            <a:ext cx="4533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F82"/>
                </a:solidFill>
                <a:latin typeface="Aptos"/>
                <a:ea typeface="Aptos"/>
                <a:cs typeface="Aptos"/>
              </a:defRPr>
            </a:pPr>
            <a:r>
              <a:rPr sz="2175" b="1">
                <a:solidFill>
                  <a:srgbClr val="087F82"/>
                </a:solidFill>
                <a:latin typeface="Aptos"/>
                <a:ea typeface="Aptos"/>
                <a:cs typeface="Aptos"/>
              </a:rPr>
              <a:t>The possible improvement</a:t>
            </a:r>
          </a:p>
        </p:txBody>
      </p:sp>
      <p:sp>
        <p:nvSpPr>
          <p:cNvPr id="6" name="">
            <a:extLst xmlns:a="http://schemas.openxmlformats.org/drawingml/2006/main">
              <a:ext uri="{FF2B5EF4-FFF2-40B4-BE49-F238E27FC236}">
                <a16:creationId xmlns:a16="http://schemas.microsoft.com/office/drawing/2014/main" id="{DCA81244-4501-454E-9281-771FA5B14F90}"/>
              </a:ext>
            </a:extLst>
          </p:cNvPr>
          <p:cNvSpPr>
            <a:spLocks xmlns:a="http://schemas.openxmlformats.org/drawingml/2006/main" noGrp="1"/>
          </p:cNvSpPr>
          <p:nvPr/>
        </p:nvSpPr>
        <p:spPr>
          <a:xfrm xmlns:a="http://schemas.openxmlformats.org/drawingml/2006/main">
            <a:off x="7029450" y="2476500"/>
            <a:ext cx="4533900" cy="1371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Retain useful decoding bias</a:t>
            </a:r>
          </a:p>
          <a:p xmlns:a="http://schemas.openxmlformats.org/drawingml/2006/main">
            <a:pPr algn="l">
              <a:defRPr sz="2250" b="0">
                <a:solidFill>
                  <a:srgbClr val="112F43"/>
                </a:solidFill>
                <a:latin typeface="Aptos"/>
                <a:ea typeface="Aptos"/>
                <a:cs typeface="Aptos"/>
              </a:defRPr>
            </a:pPr>
            <a:r>
              <a:rPr sz="2250" b="0">
                <a:solidFill>
                  <a:srgbClr val="112F43"/>
                </a:solidFill>
                <a:latin typeface="Aptos"/>
                <a:ea typeface="Aptos"/>
                <a:cs typeface="Aptos"/>
              </a:rPr>
              <a:t>with less repetition or coding overhead.</a:t>
            </a:r>
          </a:p>
        </p:txBody>
      </p:sp>
      <p:sp>
        <p:nvSpPr>
          <p:cNvPr id="7" name="">
            <a:extLst xmlns:a="http://schemas.openxmlformats.org/drawingml/2006/main">
              <a:ext uri="{FF2B5EF4-FFF2-40B4-BE49-F238E27FC236}">
                <a16:creationId xmlns:a16="http://schemas.microsoft.com/office/drawing/2014/main" id="{48C8FD67-0B37-4088-8C86-037CE735A29C}"/>
              </a:ext>
            </a:extLst>
          </p:cNvPr>
          <p:cNvSpPr>
            <a:spLocks xmlns:a="http://schemas.openxmlformats.org/drawingml/2006/main" noGrp="1"/>
          </p:cNvSpPr>
          <p:nvPr/>
        </p:nvSpPr>
        <p:spPr>
          <a:xfrm xmlns:a="http://schemas.openxmlformats.org/drawingml/2006/main">
            <a:off x="7029450" y="4229100"/>
            <a:ext cx="45339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45C48"/>
                </a:solidFill>
                <a:latin typeface="Aptos"/>
                <a:ea typeface="Aptos"/>
                <a:cs typeface="Aptos"/>
              </a:defRPr>
            </a:pPr>
            <a:r>
              <a:rPr sz="2175" b="1">
                <a:solidFill>
                  <a:srgbClr val="C45C48"/>
                </a:solidFill>
                <a:latin typeface="Aptos"/>
                <a:ea typeface="Aptos"/>
                <a:cs typeface="Aptos"/>
              </a:rPr>
              <a:t>The security obligation</a:t>
            </a:r>
          </a:p>
        </p:txBody>
      </p:sp>
      <p:sp>
        <p:nvSpPr>
          <p:cNvPr id="8" name="">
            <a:extLst xmlns:a="http://schemas.openxmlformats.org/drawingml/2006/main">
              <a:ext uri="{FF2B5EF4-FFF2-40B4-BE49-F238E27FC236}">
                <a16:creationId xmlns:a16="http://schemas.microsoft.com/office/drawing/2014/main" id="{0834AA73-C63D-46C1-BA62-0260A2A49039}"/>
              </a:ext>
            </a:extLst>
          </p:cNvPr>
          <p:cNvSpPr>
            <a:spLocks xmlns:a="http://schemas.openxmlformats.org/drawingml/2006/main" noGrp="1"/>
          </p:cNvSpPr>
          <p:nvPr/>
        </p:nvSpPr>
        <p:spPr>
          <a:xfrm xmlns:a="http://schemas.openxmlformats.org/drawingml/2006/main">
            <a:off x="7029450" y="5029200"/>
            <a:ext cx="45339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Keep short relations hidden.</a:t>
            </a:r>
          </a:p>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Control correlated error events.</a:t>
            </a:r>
          </a:p>
        </p:txBody>
      </p:sp>
      <p:sp>
        <p:nvSpPr>
          <p:cNvPr id="9" name="">
            <a:extLst xmlns:a="http://schemas.openxmlformats.org/drawingml/2006/main">
              <a:ext uri="{FF2B5EF4-FFF2-40B4-BE49-F238E27FC236}">
                <a16:creationId xmlns:a16="http://schemas.microsoft.com/office/drawing/2014/main" id="{5D25683D-38E0-4FB7-815E-9245DC578567}"/>
              </a:ext>
            </a:extLst>
          </p:cNvPr>
          <p:cNvSpPr>
            <a:spLocks xmlns:a="http://schemas.openxmlformats.org/drawingml/2006/main" noGrp="1"/>
          </p:cNvSpPr>
          <p:nvPr/>
        </p:nvSpPr>
        <p:spPr>
          <a:xfrm xmlns:a="http://schemas.openxmlformats.org/drawingml/2006/main">
            <a:off x="609600" y="5962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Research proposal. Shorter trapdoors improve correctness and may also help the attacker.</a:t>
            </a:r>
          </a:p>
        </p:txBody>
      </p:sp>
    </p:spTree>
    <p:extLst>
      <p:ext uri="{BB962C8B-B14F-4D97-AF65-F5344CB8AC3E}">
        <p14:creationId xmlns:p14="http://schemas.microsoft.com/office/powerpoint/2010/main" val="643737977"/>
      </p:ext>
    </p:extLst>
  </p:cSld>
</p:sld>
</file>

<file path=ppt/slides/slide21.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275CDDE-0FD0-4EE3-AF5D-053332ADC014}"/>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Research track 2: increase payload per ciphertext</a:t>
            </a:r>
          </a:p>
        </p:txBody>
      </p:sp>
      <p:sp>
        <p:nvSpPr>
          <p:cNvPr id="2" name="">
            <a:extLst xmlns:a="http://schemas.openxmlformats.org/drawingml/2006/main">
              <a:ext uri="{FF2B5EF4-FFF2-40B4-BE49-F238E27FC236}">
                <a16:creationId xmlns:a16="http://schemas.microsoft.com/office/drawing/2014/main" id="{F28D837E-38B8-4C00-8C06-FD865D79B4DF}"/>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RSA, ML-KEM and an ABW research agenda</a:t>
            </a:r>
          </a:p>
        </p:txBody>
      </p:sp>
      <p:sp>
        <p:nvSpPr>
          <p:cNvPr id="3" name="">
            <a:extLst xmlns:a="http://schemas.openxmlformats.org/drawingml/2006/main">
              <a:ext uri="{FF2B5EF4-FFF2-40B4-BE49-F238E27FC236}">
                <a16:creationId xmlns:a16="http://schemas.microsoft.com/office/drawing/2014/main" id="{C0F38866-19C1-44B7-9D3B-CD803184EA5D}"/>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21</a:t>
            </a:r>
          </a:p>
        </p:txBody>
      </p:sp>
      <p:sp>
        <p:nvSpPr>
          <p:cNvPr id="4" name="">
            <a:extLst xmlns:a="http://schemas.openxmlformats.org/drawingml/2006/main">
              <a:ext uri="{FF2B5EF4-FFF2-40B4-BE49-F238E27FC236}">
                <a16:creationId xmlns:a16="http://schemas.microsoft.com/office/drawing/2014/main" id="{B4A4E33B-9998-47C4-B4A6-9B92A750660A}"/>
              </a:ext>
            </a:extLst>
          </p:cNvPr>
          <p:cNvSpPr>
            <a:spLocks xmlns:a="http://schemas.openxmlformats.org/drawingml/2006/main" noGrp="1"/>
          </p:cNvSpPr>
          <p:nvPr/>
        </p:nvSpPr>
        <p:spPr>
          <a:xfrm xmlns:a="http://schemas.openxmlformats.org/drawingml/2006/main">
            <a:off x="609600" y="1600200"/>
            <a:ext cx="10972800" cy="866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087F82"/>
                </a:solidFill>
                <a:latin typeface="Aptos"/>
                <a:ea typeface="Aptos"/>
                <a:cs typeface="Aptos"/>
              </a:defRPr>
            </a:pPr>
            <a:r>
              <a:rPr sz="3375" b="1">
                <a:solidFill>
                  <a:srgbClr val="087F82"/>
                </a:solidFill>
                <a:latin typeface="Aptos"/>
                <a:ea typeface="Aptos"/>
                <a:cs typeface="Aptos"/>
              </a:rPr>
              <a:t>SᵀM = 0      SᵀG = Iℓ</a:t>
            </a:r>
          </a:p>
        </p:txBody>
      </p:sp>
      <p:sp>
        <p:nvSpPr>
          <p:cNvPr id="5" name="">
            <a:extLst xmlns:a="http://schemas.openxmlformats.org/drawingml/2006/main">
              <a:ext uri="{FF2B5EF4-FFF2-40B4-BE49-F238E27FC236}">
                <a16:creationId xmlns:a16="http://schemas.microsoft.com/office/drawing/2014/main" id="{3D360C9F-91E3-4405-B88A-7FE5C33B7C51}"/>
              </a:ext>
            </a:extLst>
          </p:cNvPr>
          <p:cNvSpPr>
            <a:spLocks xmlns:a="http://schemas.openxmlformats.org/drawingml/2006/main" noGrp="1"/>
          </p:cNvSpPr>
          <p:nvPr/>
        </p:nvSpPr>
        <p:spPr>
          <a:xfrm xmlns:a="http://schemas.openxmlformats.org/drawingml/2006/main">
            <a:off x="609600" y="292417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087F82"/>
                </a:solidFill>
                <a:latin typeface="Aptos"/>
                <a:ea typeface="Aptos"/>
                <a:cs typeface="Aptos"/>
              </a:defRPr>
            </a:pPr>
            <a:r>
              <a:rPr sz="3375" b="1">
                <a:solidFill>
                  <a:srgbClr val="087F82"/>
                </a:solidFill>
                <a:latin typeface="Aptos"/>
                <a:ea typeface="Aptos"/>
                <a:cs typeface="Aptos"/>
              </a:rPr>
              <a:t>c = Mx + e + Gμ</a:t>
            </a:r>
          </a:p>
        </p:txBody>
      </p:sp>
      <p:sp>
        <p:nvSpPr>
          <p:cNvPr id="6" name="">
            <a:extLst xmlns:a="http://schemas.openxmlformats.org/drawingml/2006/main">
              <a:ext uri="{FF2B5EF4-FFF2-40B4-BE49-F238E27FC236}">
                <a16:creationId xmlns:a16="http://schemas.microsoft.com/office/drawing/2014/main" id="{532D6756-756A-421D-80F0-CA3DA619AB72}"/>
              </a:ext>
            </a:extLst>
          </p:cNvPr>
          <p:cNvSpPr>
            <a:spLocks xmlns:a="http://schemas.openxmlformats.org/drawingml/2006/main" noGrp="1"/>
          </p:cNvSpPr>
          <p:nvPr/>
        </p:nvSpPr>
        <p:spPr>
          <a:xfrm xmlns:a="http://schemas.openxmlformats.org/drawingml/2006/main">
            <a:off x="609600" y="4238625"/>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087F82"/>
                </a:solidFill>
                <a:latin typeface="Aptos"/>
                <a:ea typeface="Aptos"/>
                <a:cs typeface="Aptos"/>
              </a:defRPr>
            </a:pPr>
            <a:r>
              <a:rPr sz="3375" b="1">
                <a:solidFill>
                  <a:srgbClr val="087F82"/>
                </a:solidFill>
                <a:latin typeface="Aptos"/>
                <a:ea typeface="Aptos"/>
                <a:cs typeface="Aptos"/>
              </a:rPr>
              <a:t>Sᵀc = μ + Sᵀe</a:t>
            </a:r>
          </a:p>
        </p:txBody>
      </p:sp>
      <p:sp>
        <p:nvSpPr>
          <p:cNvPr id="7" name="">
            <a:extLst xmlns:a="http://schemas.openxmlformats.org/drawingml/2006/main">
              <a:ext uri="{FF2B5EF4-FFF2-40B4-BE49-F238E27FC236}">
                <a16:creationId xmlns:a16="http://schemas.microsoft.com/office/drawing/2014/main" id="{9478F034-774B-4CCE-9365-8068C05F6914}"/>
              </a:ext>
            </a:extLst>
          </p:cNvPr>
          <p:cNvSpPr>
            <a:spLocks xmlns:a="http://schemas.openxmlformats.org/drawingml/2006/main" noGrp="1"/>
          </p:cNvSpPr>
          <p:nvPr/>
        </p:nvSpPr>
        <p:spPr>
          <a:xfrm xmlns:a="http://schemas.openxmlformats.org/drawingml/2006/main">
            <a:off x="609600" y="5962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Proposed ℓ-bit interface. A sampler, noise analysis and security proof remain open obligations.</a:t>
            </a:r>
          </a:p>
        </p:txBody>
      </p:sp>
    </p:spTree>
    <p:extLst>
      <p:ext uri="{BB962C8B-B14F-4D97-AF65-F5344CB8AC3E}">
        <p14:creationId xmlns:p14="http://schemas.microsoft.com/office/powerpoint/2010/main" val="1395597294"/>
      </p:ext>
    </p:extLst>
  </p:cSld>
</p:sld>
</file>

<file path=ppt/slides/slide22.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DEAD73FF-C418-4F6B-BE3F-77A9B8A58393}"/>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Research track 3: compact public keys</a:t>
            </a:r>
          </a:p>
        </p:txBody>
      </p:sp>
      <p:sp>
        <p:nvSpPr>
          <p:cNvPr id="2" name="">
            <a:extLst xmlns:a="http://schemas.openxmlformats.org/drawingml/2006/main">
              <a:ext uri="{FF2B5EF4-FFF2-40B4-BE49-F238E27FC236}">
                <a16:creationId xmlns:a16="http://schemas.microsoft.com/office/drawing/2014/main" id="{FE1CAE0D-4CF5-4751-B62D-4D3F84358117}"/>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RSA, ML-KEM and an ABW research agenda</a:t>
            </a:r>
          </a:p>
        </p:txBody>
      </p:sp>
      <p:sp>
        <p:nvSpPr>
          <p:cNvPr id="3" name="">
            <a:extLst xmlns:a="http://schemas.openxmlformats.org/drawingml/2006/main">
              <a:ext uri="{FF2B5EF4-FFF2-40B4-BE49-F238E27FC236}">
                <a16:creationId xmlns:a16="http://schemas.microsoft.com/office/drawing/2014/main" id="{206B541E-A72D-4824-947E-05E457277F0A}"/>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22</a:t>
            </a:r>
          </a:p>
        </p:txBody>
      </p:sp>
      <p:sp>
        <p:nvSpPr>
          <p:cNvPr id="4" name="">
            <a:extLst xmlns:a="http://schemas.openxmlformats.org/drawingml/2006/main">
              <a:ext uri="{FF2B5EF4-FFF2-40B4-BE49-F238E27FC236}">
                <a16:creationId xmlns:a16="http://schemas.microsoft.com/office/drawing/2014/main" id="{4107405E-DE47-415A-A5B3-E085E75A380A}"/>
              </a:ext>
            </a:extLst>
          </p:cNvPr>
          <p:cNvSpPr>
            <a:spLocks xmlns:a="http://schemas.openxmlformats.org/drawingml/2006/main" noGrp="1"/>
          </p:cNvSpPr>
          <p:nvPr/>
        </p:nvSpPr>
        <p:spPr>
          <a:xfrm xmlns:a="http://schemas.openxmlformats.org/drawingml/2006/main">
            <a:off x="609600" y="1676400"/>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087F82"/>
                </a:solidFill>
                <a:latin typeface="Aptos"/>
                <a:ea typeface="Aptos"/>
                <a:cs typeface="Aptos"/>
              </a:defRPr>
            </a:pPr>
            <a:r>
              <a:rPr sz="2175" b="1">
                <a:solidFill>
                  <a:srgbClr val="087F82"/>
                </a:solidFill>
                <a:latin typeface="Aptos"/>
                <a:ea typeface="Aptos"/>
                <a:cs typeface="Aptos"/>
              </a:rPr>
              <a:t>An appealing compression idea</a:t>
            </a:r>
          </a:p>
        </p:txBody>
      </p:sp>
      <p:sp>
        <p:nvSpPr>
          <p:cNvPr id="5" name="">
            <a:extLst xmlns:a="http://schemas.openxmlformats.org/drawingml/2006/main">
              <a:ext uri="{FF2B5EF4-FFF2-40B4-BE49-F238E27FC236}">
                <a16:creationId xmlns:a16="http://schemas.microsoft.com/office/drawing/2014/main" id="{C40A3BBB-EDC3-433C-A0AC-523AC6413AA1}"/>
              </a:ext>
            </a:extLst>
          </p:cNvPr>
          <p:cNvSpPr>
            <a:spLocks xmlns:a="http://schemas.openxmlformats.org/drawingml/2006/main" noGrp="1"/>
          </p:cNvSpPr>
          <p:nvPr/>
        </p:nvSpPr>
        <p:spPr>
          <a:xfrm xmlns:a="http://schemas.openxmlformats.org/drawingml/2006/main">
            <a:off x="609600" y="2619375"/>
            <a:ext cx="10972800"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087F82"/>
                </a:solidFill>
                <a:latin typeface="Aptos"/>
                <a:ea typeface="Aptos"/>
                <a:cs typeface="Aptos"/>
              </a:defRPr>
            </a:pPr>
            <a:r>
              <a:rPr sz="3300" b="1">
                <a:solidFill>
                  <a:srgbClr val="087F82"/>
                </a:solidFill>
                <a:latin typeface="Aptos"/>
                <a:ea typeface="Aptos"/>
                <a:cs typeface="Aptos"/>
              </a:rPr>
              <a:t>M = Expand(ρ) + Δ</a:t>
            </a:r>
          </a:p>
        </p:txBody>
      </p:sp>
      <p:sp>
        <p:nvSpPr>
          <p:cNvPr id="6" name="">
            <a:extLst xmlns:a="http://schemas.openxmlformats.org/drawingml/2006/main">
              <a:ext uri="{FF2B5EF4-FFF2-40B4-BE49-F238E27FC236}">
                <a16:creationId xmlns:a16="http://schemas.microsoft.com/office/drawing/2014/main" id="{2EB1C545-3A2A-44C9-996E-A42424F5176A}"/>
              </a:ext>
            </a:extLst>
          </p:cNvPr>
          <p:cNvSpPr>
            <a:spLocks xmlns:a="http://schemas.openxmlformats.org/drawingml/2006/main" noGrp="1"/>
          </p:cNvSpPr>
          <p:nvPr/>
        </p:nvSpPr>
        <p:spPr>
          <a:xfrm xmlns:a="http://schemas.openxmlformats.org/drawingml/2006/main">
            <a:off x="609600" y="4010025"/>
            <a:ext cx="109728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a:solidFill>
                  <a:srgbClr val="C45C48"/>
                </a:solidFill>
                <a:latin typeface="Aptos"/>
                <a:ea typeface="Aptos"/>
                <a:cs typeface="Aptos"/>
              </a:defRPr>
            </a:pPr>
            <a:r>
              <a:rPr sz="2175" b="1">
                <a:solidFill>
                  <a:srgbClr val="C45C48"/>
                </a:solidFill>
                <a:latin typeface="Aptos"/>
                <a:ea typeface="Aptos"/>
                <a:cs typeface="Aptos"/>
              </a:rPr>
              <a:t>What publishing ρ also reveals</a:t>
            </a:r>
          </a:p>
        </p:txBody>
      </p:sp>
      <p:sp>
        <p:nvSpPr>
          <p:cNvPr id="7" name="">
            <a:extLst xmlns:a="http://schemas.openxmlformats.org/drawingml/2006/main">
              <a:ext uri="{FF2B5EF4-FFF2-40B4-BE49-F238E27FC236}">
                <a16:creationId xmlns:a16="http://schemas.microsoft.com/office/drawing/2014/main" id="{F4385439-8379-449C-AA20-7C6CAF215565}"/>
              </a:ext>
            </a:extLst>
          </p:cNvPr>
          <p:cNvSpPr>
            <a:spLocks xmlns:a="http://schemas.openxmlformats.org/drawingml/2006/main" noGrp="1"/>
          </p:cNvSpPr>
          <p:nvPr/>
        </p:nvSpPr>
        <p:spPr>
          <a:xfrm xmlns:a="http://schemas.openxmlformats.org/drawingml/2006/main">
            <a:off x="609600" y="4943475"/>
            <a:ext cx="10972800"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C45C48"/>
                </a:solidFill>
                <a:latin typeface="Aptos"/>
                <a:ea typeface="Aptos"/>
                <a:cs typeface="Aptos"/>
              </a:defRPr>
            </a:pPr>
            <a:r>
              <a:rPr sz="3300" b="1">
                <a:solidFill>
                  <a:srgbClr val="C45C48"/>
                </a:solidFill>
                <a:latin typeface="Aptos"/>
                <a:ea typeface="Aptos"/>
                <a:cs typeface="Aptos"/>
              </a:rPr>
              <a:t>Δ = M + Expand(ρ)</a:t>
            </a:r>
          </a:p>
        </p:txBody>
      </p:sp>
      <p:sp>
        <p:nvSpPr>
          <p:cNvPr id="8" name="">
            <a:extLst xmlns:a="http://schemas.openxmlformats.org/drawingml/2006/main">
              <a:ext uri="{FF2B5EF4-FFF2-40B4-BE49-F238E27FC236}">
                <a16:creationId xmlns:a16="http://schemas.microsoft.com/office/drawing/2014/main" id="{EA0D2B77-CC82-4D4B-9591-EF59C7E978AC}"/>
              </a:ext>
            </a:extLst>
          </p:cNvPr>
          <p:cNvSpPr>
            <a:spLocks xmlns:a="http://schemas.openxmlformats.org/drawingml/2006/main" noGrp="1"/>
          </p:cNvSpPr>
          <p:nvPr/>
        </p:nvSpPr>
        <p:spPr>
          <a:xfrm xmlns:a="http://schemas.openxmlformats.org/drawingml/2006/main">
            <a:off x="609600" y="5962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A public base seed can expose planting edits. Compression requires a new distribution analysis.</a:t>
            </a:r>
          </a:p>
        </p:txBody>
      </p:sp>
    </p:spTree>
    <p:extLst>
      <p:ext uri="{BB962C8B-B14F-4D97-AF65-F5344CB8AC3E}">
        <p14:creationId xmlns:p14="http://schemas.microsoft.com/office/powerpoint/2010/main" val="1581700181"/>
      </p:ext>
    </p:extLst>
  </p:cSld>
</p:sld>
</file>

<file path=ppt/slides/slide23.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EC81B62C-8088-4217-95F0-35A878C491CC}"/>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A competitive scheme needs CCA and quantum analysis</a:t>
            </a:r>
          </a:p>
        </p:txBody>
      </p:sp>
      <p:sp>
        <p:nvSpPr>
          <p:cNvPr id="2" name="">
            <a:extLst xmlns:a="http://schemas.openxmlformats.org/drawingml/2006/main">
              <a:ext uri="{FF2B5EF4-FFF2-40B4-BE49-F238E27FC236}">
                <a16:creationId xmlns:a16="http://schemas.microsoft.com/office/drawing/2014/main" id="{D028AFBC-17BA-49C6-A1C5-CEC618E60A45}"/>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RSA, ML-KEM and an ABW research agenda</a:t>
            </a:r>
          </a:p>
        </p:txBody>
      </p:sp>
      <p:sp>
        <p:nvSpPr>
          <p:cNvPr id="3" name="">
            <a:extLst xmlns:a="http://schemas.openxmlformats.org/drawingml/2006/main">
              <a:ext uri="{FF2B5EF4-FFF2-40B4-BE49-F238E27FC236}">
                <a16:creationId xmlns:a16="http://schemas.microsoft.com/office/drawing/2014/main" id="{81DFA908-E8A9-44A7-B9B0-3E7E884C7025}"/>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23</a:t>
            </a:r>
          </a:p>
        </p:txBody>
      </p:sp>
      <p:sp>
        <p:nvSpPr>
          <p:cNvPr id="4" name="">
            <a:extLst xmlns:a="http://schemas.openxmlformats.org/drawingml/2006/main">
              <a:ext uri="{FF2B5EF4-FFF2-40B4-BE49-F238E27FC236}">
                <a16:creationId xmlns:a16="http://schemas.microsoft.com/office/drawing/2014/main" id="{023C7770-2B4C-4953-BCED-EF4205DE7434}"/>
              </a:ext>
            </a:extLst>
          </p:cNvPr>
          <p:cNvSpPr>
            <a:spLocks xmlns:a="http://schemas.openxmlformats.org/drawingml/2006/main" noGrp="1"/>
          </p:cNvSpPr>
          <p:nvPr/>
        </p:nvSpPr>
        <p:spPr>
          <a:xfrm xmlns:a="http://schemas.openxmlformats.org/drawingml/2006/main">
            <a:off x="609600" y="159067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C45C48"/>
                </a:solidFill>
                <a:latin typeface="Aptos"/>
                <a:ea typeface="Aptos"/>
                <a:cs typeface="Aptos"/>
              </a:defRPr>
            </a:pPr>
            <a:r>
              <a:rPr sz="3225" b="1">
                <a:solidFill>
                  <a:srgbClr val="C45C48"/>
                </a:solidFill>
                <a:latin typeface="Aptos"/>
                <a:ea typeface="Aptos"/>
                <a:cs typeface="Aptos"/>
              </a:rPr>
              <a:t>Raw Dec(uᵢ) = sᵢ</a:t>
            </a:r>
          </a:p>
        </p:txBody>
      </p:sp>
      <p:sp>
        <p:nvSpPr>
          <p:cNvPr id="5" name="">
            <a:extLst xmlns:a="http://schemas.openxmlformats.org/drawingml/2006/main">
              <a:ext uri="{FF2B5EF4-FFF2-40B4-BE49-F238E27FC236}">
                <a16:creationId xmlns:a16="http://schemas.microsoft.com/office/drawing/2014/main" id="{01507419-545F-4FA2-A1E9-C8AD3AE98BB0}"/>
              </a:ext>
            </a:extLst>
          </p:cNvPr>
          <p:cNvSpPr>
            <a:spLocks xmlns:a="http://schemas.openxmlformats.org/drawingml/2006/main" noGrp="1"/>
          </p:cNvSpPr>
          <p:nvPr/>
        </p:nvSpPr>
        <p:spPr>
          <a:xfrm xmlns:a="http://schemas.openxmlformats.org/drawingml/2006/main">
            <a:off x="609600" y="2990850"/>
            <a:ext cx="847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087F82"/>
                </a:solidFill>
                <a:latin typeface="Aptos"/>
                <a:ea typeface="Aptos"/>
                <a:cs typeface="Aptos"/>
              </a:defRPr>
            </a:pPr>
            <a:r>
              <a:rPr sz="3225" b="1">
                <a:solidFill>
                  <a:srgbClr val="087F82"/>
                </a:solidFill>
                <a:latin typeface="Aptos"/>
                <a:ea typeface="Aptos"/>
                <a:cs typeface="Aptos"/>
              </a:rPr>
              <a:t>01</a:t>
            </a:r>
          </a:p>
        </p:txBody>
      </p:sp>
      <p:sp>
        <p:nvSpPr>
          <p:cNvPr id="6" name="">
            <a:extLst xmlns:a="http://schemas.openxmlformats.org/drawingml/2006/main">
              <a:ext uri="{FF2B5EF4-FFF2-40B4-BE49-F238E27FC236}">
                <a16:creationId xmlns:a16="http://schemas.microsoft.com/office/drawing/2014/main" id="{174204EA-39DF-48DE-BC13-7C8939D38430}"/>
              </a:ext>
            </a:extLst>
          </p:cNvPr>
          <p:cNvSpPr>
            <a:spLocks xmlns:a="http://schemas.openxmlformats.org/drawingml/2006/main" noGrp="1"/>
          </p:cNvSpPr>
          <p:nvPr/>
        </p:nvSpPr>
        <p:spPr>
          <a:xfrm xmlns:a="http://schemas.openxmlformats.org/drawingml/2006/main">
            <a:off x="1714500" y="2990850"/>
            <a:ext cx="985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12F43"/>
                </a:solidFill>
                <a:latin typeface="Aptos"/>
                <a:ea typeface="Aptos"/>
                <a:cs typeface="Aptos"/>
              </a:defRPr>
            </a:pPr>
            <a:r>
              <a:rPr sz="2250" b="1">
                <a:solidFill>
                  <a:srgbClr val="112F43"/>
                </a:solidFill>
                <a:latin typeface="Aptos"/>
                <a:ea typeface="Aptos"/>
                <a:cs typeface="Aptos"/>
              </a:rPr>
              <a:t>A strong CPA foundation</a:t>
            </a:r>
          </a:p>
        </p:txBody>
      </p:sp>
      <p:sp>
        <p:nvSpPr>
          <p:cNvPr id="7" name="">
            <a:extLst xmlns:a="http://schemas.openxmlformats.org/drawingml/2006/main">
              <a:ext uri="{FF2B5EF4-FFF2-40B4-BE49-F238E27FC236}">
                <a16:creationId xmlns:a16="http://schemas.microsoft.com/office/drawing/2014/main" id="{FBFA769E-6792-4052-8A36-A38203059DDD}"/>
              </a:ext>
            </a:extLst>
          </p:cNvPr>
          <p:cNvSpPr>
            <a:spLocks xmlns:a="http://schemas.openxmlformats.org/drawingml/2006/main" noGrp="1"/>
          </p:cNvSpPr>
          <p:nvPr/>
        </p:nvSpPr>
        <p:spPr>
          <a:xfrm xmlns:a="http://schemas.openxmlformats.org/drawingml/2006/main">
            <a:off x="1714500" y="3533775"/>
            <a:ext cx="96869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6A74"/>
                </a:solidFill>
                <a:latin typeface="Aptos"/>
                <a:ea typeface="Aptos"/>
                <a:cs typeface="Aptos"/>
              </a:defRPr>
            </a:pPr>
            <a:r>
              <a:rPr sz="2025" b="0">
                <a:solidFill>
                  <a:srgbClr val="556A74"/>
                </a:solidFill>
                <a:latin typeface="Aptos"/>
                <a:ea typeface="Aptos"/>
                <a:cs typeface="Aptos"/>
              </a:rPr>
              <a:t>Resolve correctness, repeated ciphertexts and quantitative security.</a:t>
            </a:r>
          </a:p>
        </p:txBody>
      </p:sp>
      <p:sp>
        <p:nvSpPr>
          <p:cNvPr id="8" name="">
            <a:extLst xmlns:a="http://schemas.openxmlformats.org/drawingml/2006/main">
              <a:ext uri="{FF2B5EF4-FFF2-40B4-BE49-F238E27FC236}">
                <a16:creationId xmlns:a16="http://schemas.microsoft.com/office/drawing/2014/main" id="{89EE8FBA-B3EB-433A-A83A-E55590CD74D9}"/>
              </a:ext>
            </a:extLst>
          </p:cNvPr>
          <p:cNvSpPr>
            <a:spLocks xmlns:a="http://schemas.openxmlformats.org/drawingml/2006/main" noGrp="1"/>
          </p:cNvSpPr>
          <p:nvPr/>
        </p:nvSpPr>
        <p:spPr>
          <a:xfrm xmlns:a="http://schemas.openxmlformats.org/drawingml/2006/main">
            <a:off x="609600" y="4514850"/>
            <a:ext cx="847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087F82"/>
                </a:solidFill>
                <a:latin typeface="Aptos"/>
                <a:ea typeface="Aptos"/>
                <a:cs typeface="Aptos"/>
              </a:defRPr>
            </a:pPr>
            <a:r>
              <a:rPr sz="3225" b="1">
                <a:solidFill>
                  <a:srgbClr val="087F82"/>
                </a:solidFill>
                <a:latin typeface="Aptos"/>
                <a:ea typeface="Aptos"/>
                <a:cs typeface="Aptos"/>
              </a:rPr>
              <a:t>02</a:t>
            </a:r>
          </a:p>
        </p:txBody>
      </p:sp>
      <p:sp>
        <p:nvSpPr>
          <p:cNvPr id="9" name="">
            <a:extLst xmlns:a="http://schemas.openxmlformats.org/drawingml/2006/main">
              <a:ext uri="{FF2B5EF4-FFF2-40B4-BE49-F238E27FC236}">
                <a16:creationId xmlns:a16="http://schemas.microsoft.com/office/drawing/2014/main" id="{5750B981-558A-43BB-BE56-544B147CF810}"/>
              </a:ext>
            </a:extLst>
          </p:cNvPr>
          <p:cNvSpPr>
            <a:spLocks xmlns:a="http://schemas.openxmlformats.org/drawingml/2006/main" noGrp="1"/>
          </p:cNvSpPr>
          <p:nvPr/>
        </p:nvSpPr>
        <p:spPr>
          <a:xfrm xmlns:a="http://schemas.openxmlformats.org/drawingml/2006/main">
            <a:off x="1714500" y="4514850"/>
            <a:ext cx="985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12F43"/>
                </a:solidFill>
                <a:latin typeface="Aptos"/>
                <a:ea typeface="Aptos"/>
                <a:cs typeface="Aptos"/>
              </a:defRPr>
            </a:pPr>
            <a:r>
              <a:rPr sz="2250" b="1">
                <a:solidFill>
                  <a:srgbClr val="112F43"/>
                </a:solidFill>
                <a:latin typeface="Aptos"/>
                <a:ea typeface="Aptos"/>
                <a:cs typeface="Aptos"/>
              </a:rPr>
              <a:t>A justified CCA-secure KEM</a:t>
            </a:r>
          </a:p>
        </p:txBody>
      </p:sp>
      <p:sp>
        <p:nvSpPr>
          <p:cNvPr id="10" name="">
            <a:extLst xmlns:a="http://schemas.openxmlformats.org/drawingml/2006/main">
              <a:ext uri="{FF2B5EF4-FFF2-40B4-BE49-F238E27FC236}">
                <a16:creationId xmlns:a16="http://schemas.microsoft.com/office/drawing/2014/main" id="{F980BF27-EA2C-485B-9C93-31D13E822801}"/>
              </a:ext>
            </a:extLst>
          </p:cNvPr>
          <p:cNvSpPr>
            <a:spLocks xmlns:a="http://schemas.openxmlformats.org/drawingml/2006/main" noGrp="1"/>
          </p:cNvSpPr>
          <p:nvPr/>
        </p:nvSpPr>
        <p:spPr>
          <a:xfrm xmlns:a="http://schemas.openxmlformats.org/drawingml/2006/main">
            <a:off x="1714500" y="5057775"/>
            <a:ext cx="96869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6A74"/>
                </a:solidFill>
                <a:latin typeface="Aptos"/>
                <a:ea typeface="Aptos"/>
                <a:cs typeface="Aptos"/>
              </a:defRPr>
            </a:pPr>
            <a:r>
              <a:rPr sz="2025" b="0">
                <a:solidFill>
                  <a:srgbClr val="556A74"/>
                </a:solidFill>
                <a:latin typeface="Aptos"/>
                <a:ea typeface="Aptos"/>
                <a:cs typeface="Aptos"/>
              </a:rPr>
              <a:t>Analyse rejection, reduction losses and quantum adversaries.</a:t>
            </a:r>
          </a:p>
        </p:txBody>
      </p:sp>
      <p:sp>
        <p:nvSpPr>
          <p:cNvPr id="11" name="">
            <a:extLst xmlns:a="http://schemas.openxmlformats.org/drawingml/2006/main">
              <a:ext uri="{FF2B5EF4-FFF2-40B4-BE49-F238E27FC236}">
                <a16:creationId xmlns:a16="http://schemas.microsoft.com/office/drawing/2014/main" id="{0C7779DD-758D-4A41-A943-A974EE620637}"/>
              </a:ext>
            </a:extLst>
          </p:cNvPr>
          <p:cNvSpPr>
            <a:spLocks xmlns:a="http://schemas.openxmlformats.org/drawingml/2006/main" noGrp="1"/>
          </p:cNvSpPr>
          <p:nvPr/>
        </p:nvSpPr>
        <p:spPr>
          <a:xfrm xmlns:a="http://schemas.openxmlformats.org/drawingml/2006/main">
            <a:off x="609600" y="5962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A generic hash of the raw bit output does not supply a secure KEM.</a:t>
            </a:r>
          </a:p>
        </p:txBody>
      </p:sp>
    </p:spTree>
    <p:extLst>
      <p:ext uri="{BB962C8B-B14F-4D97-AF65-F5344CB8AC3E}">
        <p14:creationId xmlns:p14="http://schemas.microsoft.com/office/powerpoint/2010/main" val="787608646"/>
      </p:ext>
    </p:extLst>
  </p:cSld>
</p:sld>
</file>

<file path=ppt/slides/slide24.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49EA639B-9ECF-4027-8FF1-CAEA813942D4}"/>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A bounded first project and decision gates</a:t>
            </a:r>
          </a:p>
        </p:txBody>
      </p:sp>
      <p:sp>
        <p:nvSpPr>
          <p:cNvPr id="2" name="">
            <a:extLst xmlns:a="http://schemas.openxmlformats.org/drawingml/2006/main">
              <a:ext uri="{FF2B5EF4-FFF2-40B4-BE49-F238E27FC236}">
                <a16:creationId xmlns:a16="http://schemas.microsoft.com/office/drawing/2014/main" id="{D0B3D219-B4B0-4E7C-BACD-82381624A307}"/>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RSA, ML-KEM and an ABW research agenda</a:t>
            </a:r>
          </a:p>
        </p:txBody>
      </p:sp>
      <p:sp>
        <p:nvSpPr>
          <p:cNvPr id="3" name="">
            <a:extLst xmlns:a="http://schemas.openxmlformats.org/drawingml/2006/main">
              <a:ext uri="{FF2B5EF4-FFF2-40B4-BE49-F238E27FC236}">
                <a16:creationId xmlns:a16="http://schemas.microsoft.com/office/drawing/2014/main" id="{5437FAF4-9187-4ABC-829A-A3CBC19961CC}"/>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24</a:t>
            </a:r>
          </a:p>
        </p:txBody>
      </p:sp>
      <p:graphicFrame>
        <p:nvGraphicFramePr>
          <p:cNvPr id="9" name=""/>
          <p:cNvGraphicFramePr/>
          <p:nvPr/>
        </p:nvGraphicFramePr>
        <p:xfrm>
          <a:off xmlns:a="http://schemas.openxmlformats.org/drawingml/2006/main" x="609600" y="1657350"/>
          <a:ext xmlns:a="http://schemas.openxmlformats.org/drawingml/2006/main" cx="10972800" cy="3486150"/>
        </p:xfrm>
        <a:graphic xmlns:a="http://schemas.openxmlformats.org/drawingml/2006/main">
          <a:graphicData uri="http://schemas.openxmlformats.org/drawingml/2006/table">
            <a:tbl>
              <a:tblPr/>
              <a:tblGrid>
                <a:gridCol w="2009775"/>
                <a:gridCol w="4895850"/>
                <a:gridCol w="4067175"/>
              </a:tblGrid>
              <a:tr h="871538">
                <a:tc>
                  <a:txBody>
                    <a:bodyPr/>
                    <a:lstStyle/>
                    <a:p>
                      <a:r>
                        <a:rPr sz="1875" b="1">
                          <a:solidFill>
                            <a:srgbClr val="FFFFFF"/>
                          </a:solidFill>
                          <a:latin typeface="Aptos"/>
                          <a:ea typeface="Aptos"/>
                          <a:cs typeface="Aptos"/>
                        </a:rPr>
                        <a:t>Phase</a:t>
                      </a:r>
                    </a:p>
                  </a:txBody>
                  <a:tcPr marL="142875" marR="114300" marT="104775" marB="85725" anchor="ctr">
                    <a:solidFill>
                      <a:srgbClr val="112F43"/>
                    </a:solidFill>
                  </a:tcPr>
                </a:tc>
                <a:tc>
                  <a:txBody>
                    <a:bodyPr/>
                    <a:lstStyle/>
                    <a:p>
                      <a:r>
                        <a:rPr sz="1875" b="1">
                          <a:solidFill>
                            <a:srgbClr val="FFFFFF"/>
                          </a:solidFill>
                          <a:latin typeface="Aptos"/>
                          <a:ea typeface="Aptos"/>
                          <a:cs typeface="Aptos"/>
                        </a:rPr>
                        <a:t>Concrete result</a:t>
                      </a:r>
                    </a:p>
                  </a:txBody>
                  <a:tcPr marL="142875" marR="114300" marT="104775" marB="85725" anchor="ctr">
                    <a:solidFill>
                      <a:srgbClr val="112F43"/>
                    </a:solidFill>
                  </a:tcPr>
                </a:tc>
                <a:tc>
                  <a:txBody>
                    <a:bodyPr/>
                    <a:lstStyle/>
                    <a:p>
                      <a:r>
                        <a:rPr sz="1875" b="1">
                          <a:solidFill>
                            <a:srgbClr val="FFFFFF"/>
                          </a:solidFill>
                          <a:latin typeface="Aptos"/>
                          <a:ea typeface="Aptos"/>
                          <a:cs typeface="Aptos"/>
                        </a:rPr>
                        <a:t>Decision gate</a:t>
                      </a:r>
                    </a:p>
                  </a:txBody>
                  <a:tcPr marL="142875" marR="114300" marT="104775" marB="85725" anchor="ctr">
                    <a:solidFill>
                      <a:srgbClr val="112F43"/>
                    </a:solidFill>
                  </a:tcPr>
                </a:tc>
              </a:tr>
              <a:tr h="871538">
                <a:tc>
                  <a:txBody>
                    <a:bodyPr/>
                    <a:lstStyle/>
                    <a:p>
                      <a:r>
                        <a:rPr sz="1875">
                          <a:solidFill>
                            <a:srgbClr val="112F43"/>
                          </a:solidFill>
                          <a:latin typeface="Aptos"/>
                          <a:ea typeface="Aptos"/>
                          <a:cs typeface="Aptos"/>
                        </a:rPr>
                        <a:t>Weeks 1–3</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Exact sampler, assumptions and cost ledger</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Can we reproduce the foundation?</a:t>
                      </a:r>
                    </a:p>
                  </a:txBody>
                  <a:tcPr marL="142875" marR="114300" marT="104775" marB="85725" anchor="ctr">
                    <a:solidFill>
                      <a:srgbClr val="F7F5F0"/>
                    </a:solidFill>
                  </a:tcPr>
                </a:tc>
              </a:tr>
              <a:tr h="871538">
                <a:tc>
                  <a:txBody>
                    <a:bodyPr/>
                    <a:lstStyle/>
                    <a:p>
                      <a:r>
                        <a:rPr sz="1875">
                          <a:solidFill>
                            <a:srgbClr val="112F43"/>
                          </a:solidFill>
                          <a:latin typeface="Aptos"/>
                          <a:ea typeface="Aptos"/>
                          <a:cs typeface="Aptos"/>
                        </a:rPr>
                        <a:t>Weeks 4–8</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Attacks and complete baseline measurements</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Is any credible parameter window left?</a:t>
                      </a:r>
                    </a:p>
                  </a:txBody>
                  <a:tcPr marL="142875" marR="114300" marT="104775" marB="85725" anchor="ctr">
                    <a:solidFill>
                      <a:srgbClr val="F7F5F0"/>
                    </a:solidFill>
                  </a:tcPr>
                </a:tc>
              </a:tr>
              <a:tr h="871538">
                <a:tc>
                  <a:txBody>
                    <a:bodyPr/>
                    <a:lstStyle/>
                    <a:p>
                      <a:r>
                        <a:rPr sz="1875">
                          <a:solidFill>
                            <a:srgbClr val="112F43"/>
                          </a:solidFill>
                          <a:latin typeface="Aptos"/>
                          <a:ea typeface="Aptos"/>
                          <a:cs typeface="Aptos"/>
                        </a:rPr>
                        <a:t>Weeks 9–12</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One focused improvement and proof audit</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Does the saving survive the full scheme?</a:t>
                      </a:r>
                    </a:p>
                  </a:txBody>
                  <a:tcPr marL="142875" marR="114300" marT="104775" marB="85725" anchor="ctr">
                    <a:solidFill>
                      <a:srgbClr val="F7F5F0"/>
                    </a:solidFill>
                  </a:tcPr>
                </a:tc>
              </a:tr>
            </a:tbl>
          </a:graphicData>
        </a:graphic>
      </p:graphicFrame>
      <p:sp>
        <p:nvSpPr>
          <p:cNvPr id="5" name="">
            <a:extLst xmlns:a="http://schemas.openxmlformats.org/drawingml/2006/main">
              <a:ext uri="{FF2B5EF4-FFF2-40B4-BE49-F238E27FC236}">
                <a16:creationId xmlns:a16="http://schemas.microsoft.com/office/drawing/2014/main" id="{6F796E7D-3243-47E1-A625-9C6AD0D99C3F}"/>
              </a:ext>
            </a:extLst>
          </p:cNvPr>
          <p:cNvSpPr>
            <a:spLocks xmlns:a="http://schemas.openxmlformats.org/drawingml/2006/main" noGrp="1"/>
          </p:cNvSpPr>
          <p:nvPr/>
        </p:nvSpPr>
        <p:spPr>
          <a:xfrm xmlns:a="http://schemas.openxmlformats.org/drawingml/2006/main">
            <a:off x="609600" y="5553075"/>
            <a:ext cx="109728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00" b="0">
                <a:solidFill>
                  <a:srgbClr val="112F43"/>
                </a:solidFill>
                <a:latin typeface="Aptos"/>
                <a:ea typeface="Aptos"/>
                <a:cs typeface="Aptos"/>
              </a:defRPr>
            </a:pPr>
            <a:r>
              <a:rPr sz="2100" b="0">
                <a:solidFill>
                  <a:srgbClr val="112F43"/>
                </a:solidFill>
                <a:latin typeface="Aptos"/>
                <a:ea typeface="Aptos"/>
                <a:cs typeface="Aptos"/>
              </a:rPr>
              <a:t>Initial objective: a defensible feasibility result or a specific cryptanalytic finding.</a:t>
            </a:r>
          </a:p>
        </p:txBody>
      </p:sp>
    </p:spTree>
    <p:extLst>
      <p:ext uri="{BB962C8B-B14F-4D97-AF65-F5344CB8AC3E}">
        <p14:creationId xmlns:p14="http://schemas.microsoft.com/office/powerpoint/2010/main" val="560945059"/>
      </p:ext>
    </p:extLst>
  </p:cSld>
</p:sld>
</file>

<file path=ppt/slides/slide25.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1E56136-1F55-48B8-999B-37C6A8CD9E3C}"/>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Appendix: RSA arithmetic on a small example</a:t>
            </a:r>
          </a:p>
        </p:txBody>
      </p:sp>
      <p:sp>
        <p:nvSpPr>
          <p:cNvPr id="2" name="">
            <a:extLst xmlns:a="http://schemas.openxmlformats.org/drawingml/2006/main">
              <a:ext uri="{FF2B5EF4-FFF2-40B4-BE49-F238E27FC236}">
                <a16:creationId xmlns:a16="http://schemas.microsoft.com/office/drawing/2014/main" id="{9F96FC46-48F6-4A45-AC94-BBFD58481F03}"/>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Technical appendix</a:t>
            </a:r>
          </a:p>
        </p:txBody>
      </p:sp>
      <p:sp>
        <p:nvSpPr>
          <p:cNvPr id="3" name="">
            <a:extLst xmlns:a="http://schemas.openxmlformats.org/drawingml/2006/main">
              <a:ext uri="{FF2B5EF4-FFF2-40B4-BE49-F238E27FC236}">
                <a16:creationId xmlns:a16="http://schemas.microsoft.com/office/drawing/2014/main" id="{92B2A53E-18DF-4307-8FBB-ECF2D6D3EE41}"/>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25</a:t>
            </a:r>
          </a:p>
        </p:txBody>
      </p:sp>
      <p:sp>
        <p:nvSpPr>
          <p:cNvPr id="4" name="">
            <a:extLst xmlns:a="http://schemas.openxmlformats.org/drawingml/2006/main">
              <a:ext uri="{FF2B5EF4-FFF2-40B4-BE49-F238E27FC236}">
                <a16:creationId xmlns:a16="http://schemas.microsoft.com/office/drawing/2014/main" id="{A6E53364-0539-4F9F-9DC2-EA345CA49807}"/>
              </a:ext>
            </a:extLst>
          </p:cNvPr>
          <p:cNvSpPr>
            <a:spLocks xmlns:a="http://schemas.openxmlformats.org/drawingml/2006/main" noGrp="1"/>
          </p:cNvSpPr>
          <p:nvPr/>
        </p:nvSpPr>
        <p:spPr>
          <a:xfrm xmlns:a="http://schemas.openxmlformats.org/drawingml/2006/main">
            <a:off x="609600" y="1647825"/>
            <a:ext cx="109728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087F82"/>
                </a:solidFill>
                <a:latin typeface="Aptos"/>
                <a:ea typeface="Aptos"/>
                <a:cs typeface="Aptos"/>
              </a:defRPr>
            </a:pPr>
            <a:r>
              <a:rPr sz="3075" b="1">
                <a:solidFill>
                  <a:srgbClr val="087F82"/>
                </a:solidFill>
                <a:latin typeface="Aptos"/>
                <a:ea typeface="Aptos"/>
                <a:cs typeface="Aptos"/>
              </a:rPr>
              <a:t>p = 61      q = 53      N = 3233</a:t>
            </a:r>
          </a:p>
        </p:txBody>
      </p:sp>
      <p:sp>
        <p:nvSpPr>
          <p:cNvPr id="5" name="">
            <a:extLst xmlns:a="http://schemas.openxmlformats.org/drawingml/2006/main">
              <a:ext uri="{FF2B5EF4-FFF2-40B4-BE49-F238E27FC236}">
                <a16:creationId xmlns:a16="http://schemas.microsoft.com/office/drawing/2014/main" id="{BF3D122D-C5C2-4609-99FC-4A4BE7F62E55}"/>
              </a:ext>
            </a:extLst>
          </p:cNvPr>
          <p:cNvSpPr>
            <a:spLocks xmlns:a="http://schemas.openxmlformats.org/drawingml/2006/main" noGrp="1"/>
          </p:cNvSpPr>
          <p:nvPr/>
        </p:nvSpPr>
        <p:spPr>
          <a:xfrm xmlns:a="http://schemas.openxmlformats.org/drawingml/2006/main">
            <a:off x="609600" y="2952750"/>
            <a:ext cx="109728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75" b="1">
                <a:solidFill>
                  <a:srgbClr val="087F82"/>
                </a:solidFill>
                <a:latin typeface="Aptos"/>
                <a:ea typeface="Aptos"/>
                <a:cs typeface="Aptos"/>
              </a:defRPr>
            </a:pPr>
            <a:r>
              <a:rPr sz="3375" b="1">
                <a:solidFill>
                  <a:srgbClr val="087F82"/>
                </a:solidFill>
                <a:latin typeface="Aptos"/>
                <a:ea typeface="Aptos"/>
                <a:cs typeface="Aptos"/>
              </a:rPr>
              <a:t>e = 17      d = 2753</a:t>
            </a:r>
          </a:p>
        </p:txBody>
      </p:sp>
      <p:sp>
        <p:nvSpPr>
          <p:cNvPr id="6" name="">
            <a:extLst xmlns:a="http://schemas.openxmlformats.org/drawingml/2006/main">
              <a:ext uri="{FF2B5EF4-FFF2-40B4-BE49-F238E27FC236}">
                <a16:creationId xmlns:a16="http://schemas.microsoft.com/office/drawing/2014/main" id="{E2483283-C759-4656-B744-4F257EEE56A5}"/>
              </a:ext>
            </a:extLst>
          </p:cNvPr>
          <p:cNvSpPr>
            <a:spLocks xmlns:a="http://schemas.openxmlformats.org/drawingml/2006/main" noGrp="1"/>
          </p:cNvSpPr>
          <p:nvPr/>
        </p:nvSpPr>
        <p:spPr>
          <a:xfrm xmlns:a="http://schemas.openxmlformats.org/drawingml/2006/main">
            <a:off x="609600" y="4276725"/>
            <a:ext cx="10972800" cy="771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087F82"/>
                </a:solidFill>
                <a:latin typeface="Aptos"/>
                <a:ea typeface="Aptos"/>
                <a:cs typeface="Aptos"/>
              </a:defRPr>
            </a:pPr>
            <a:r>
              <a:rPr sz="3225" b="1">
                <a:solidFill>
                  <a:srgbClr val="087F82"/>
                </a:solidFill>
                <a:latin typeface="Aptos"/>
                <a:ea typeface="Aptos"/>
                <a:cs typeface="Aptos"/>
              </a:rPr>
              <a:t>65¹⁷ mod 3233 = 2790</a:t>
            </a:r>
          </a:p>
        </p:txBody>
      </p:sp>
      <p:sp>
        <p:nvSpPr>
          <p:cNvPr id="7" name="">
            <a:extLst xmlns:a="http://schemas.openxmlformats.org/drawingml/2006/main">
              <a:ext uri="{FF2B5EF4-FFF2-40B4-BE49-F238E27FC236}">
                <a16:creationId xmlns:a16="http://schemas.microsoft.com/office/drawing/2014/main" id="{5A14DC4F-213B-422F-A99F-E30C15D4FEB8}"/>
              </a:ext>
            </a:extLst>
          </p:cNvPr>
          <p:cNvSpPr>
            <a:spLocks xmlns:a="http://schemas.openxmlformats.org/drawingml/2006/main" noGrp="1"/>
          </p:cNvSpPr>
          <p:nvPr/>
        </p:nvSpPr>
        <p:spPr>
          <a:xfrm xmlns:a="http://schemas.openxmlformats.org/drawingml/2006/main">
            <a:off x="609600" y="5381625"/>
            <a:ext cx="10972800" cy="561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625" b="0">
                <a:solidFill>
                  <a:srgbClr val="112F43"/>
                </a:solidFill>
                <a:latin typeface="Aptos"/>
                <a:ea typeface="Aptos"/>
                <a:cs typeface="Aptos"/>
              </a:defRPr>
            </a:pPr>
            <a:r>
              <a:rPr sz="2625" b="0">
                <a:solidFill>
                  <a:srgbClr val="112F43"/>
                </a:solidFill>
                <a:latin typeface="Aptos"/>
                <a:ea typeface="Aptos"/>
                <a:cs typeface="Aptos"/>
              </a:rPr>
              <a:t>2790²⁷⁵³ mod 3233 = 65</a:t>
            </a:r>
          </a:p>
        </p:txBody>
      </p:sp>
      <p:sp>
        <p:nvSpPr>
          <p:cNvPr id="8" name="">
            <a:extLst xmlns:a="http://schemas.openxmlformats.org/drawingml/2006/main">
              <a:ext uri="{FF2B5EF4-FFF2-40B4-BE49-F238E27FC236}">
                <a16:creationId xmlns:a16="http://schemas.microsoft.com/office/drawing/2014/main" id="{6832DF5B-0054-4353-AB3D-848A41CD2714}"/>
              </a:ext>
            </a:extLst>
          </p:cNvPr>
          <p:cNvSpPr>
            <a:spLocks xmlns:a="http://schemas.openxmlformats.org/drawingml/2006/main" noGrp="1"/>
          </p:cNvSpPr>
          <p:nvPr/>
        </p:nvSpPr>
        <p:spPr>
          <a:xfrm xmlns:a="http://schemas.openxmlformats.org/drawingml/2006/main">
            <a:off x="609600" y="5962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Tiny textbook arithmetic only. It provides no practical security.</a:t>
            </a:r>
          </a:p>
        </p:txBody>
      </p:sp>
    </p:spTree>
    <p:extLst>
      <p:ext uri="{BB962C8B-B14F-4D97-AF65-F5344CB8AC3E}">
        <p14:creationId xmlns:p14="http://schemas.microsoft.com/office/powerpoint/2010/main" val="1248293003"/>
      </p:ext>
    </p:extLst>
  </p:cSld>
</p:sld>
</file>

<file path=ppt/slides/slide26.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8F4272E6-36BB-4D51-AEE5-493FC1D249BC}"/>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Appendix: MLWE cancellation and its noise budget</a:t>
            </a:r>
          </a:p>
        </p:txBody>
      </p:sp>
      <p:sp>
        <p:nvSpPr>
          <p:cNvPr id="2" name="">
            <a:extLst xmlns:a="http://schemas.openxmlformats.org/drawingml/2006/main">
              <a:ext uri="{FF2B5EF4-FFF2-40B4-BE49-F238E27FC236}">
                <a16:creationId xmlns:a16="http://schemas.microsoft.com/office/drawing/2014/main" id="{804E167F-5FE1-41F1-A4FD-4C2795071322}"/>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Technical appendix</a:t>
            </a:r>
          </a:p>
        </p:txBody>
      </p:sp>
      <p:sp>
        <p:nvSpPr>
          <p:cNvPr id="3" name="">
            <a:extLst xmlns:a="http://schemas.openxmlformats.org/drawingml/2006/main">
              <a:ext uri="{FF2B5EF4-FFF2-40B4-BE49-F238E27FC236}">
                <a16:creationId xmlns:a16="http://schemas.microsoft.com/office/drawing/2014/main" id="{3FD5A65E-77B0-43BD-9E4A-E1D80D159C64}"/>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26</a:t>
            </a:r>
          </a:p>
        </p:txBody>
      </p:sp>
      <p:sp>
        <p:nvSpPr>
          <p:cNvPr id="4" name="">
            <a:extLst xmlns:a="http://schemas.openxmlformats.org/drawingml/2006/main">
              <a:ext uri="{FF2B5EF4-FFF2-40B4-BE49-F238E27FC236}">
                <a16:creationId xmlns:a16="http://schemas.microsoft.com/office/drawing/2014/main" id="{AF82D471-2A74-4883-B2BC-E37D22DD447C}"/>
              </a:ext>
            </a:extLst>
          </p:cNvPr>
          <p:cNvSpPr>
            <a:spLocks xmlns:a="http://schemas.openxmlformats.org/drawingml/2006/main" noGrp="1"/>
          </p:cNvSpPr>
          <p:nvPr/>
        </p:nvSpPr>
        <p:spPr>
          <a:xfrm xmlns:a="http://schemas.openxmlformats.org/drawingml/2006/main">
            <a:off x="609600" y="1685925"/>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075" b="1">
                <a:solidFill>
                  <a:srgbClr val="087F82"/>
                </a:solidFill>
                <a:latin typeface="Aptos"/>
                <a:ea typeface="Aptos"/>
                <a:cs typeface="Aptos"/>
              </a:defRPr>
            </a:pPr>
            <a:r>
              <a:rPr sz="3075" b="1">
                <a:solidFill>
                  <a:srgbClr val="087F82"/>
                </a:solidFill>
                <a:latin typeface="Aptos"/>
                <a:ea typeface="Aptos"/>
                <a:cs typeface="Aptos"/>
              </a:rPr>
              <a:t>v − sᵀu = Encode(μ) + ν</a:t>
            </a:r>
          </a:p>
        </p:txBody>
      </p:sp>
      <p:sp>
        <p:nvSpPr>
          <p:cNvPr id="5" name="">
            <a:extLst xmlns:a="http://schemas.openxmlformats.org/drawingml/2006/main">
              <a:ext uri="{FF2B5EF4-FFF2-40B4-BE49-F238E27FC236}">
                <a16:creationId xmlns:a16="http://schemas.microsoft.com/office/drawing/2014/main" id="{CABC1A76-A252-4720-A400-278CA1CFFEE9}"/>
              </a:ext>
            </a:extLst>
          </p:cNvPr>
          <p:cNvSpPr>
            <a:spLocks xmlns:a="http://schemas.openxmlformats.org/drawingml/2006/main" noGrp="1"/>
          </p:cNvSpPr>
          <p:nvPr/>
        </p:nvSpPr>
        <p:spPr>
          <a:xfrm xmlns:a="http://schemas.openxmlformats.org/drawingml/2006/main">
            <a:off x="609600" y="3086100"/>
            <a:ext cx="10972800" cy="8477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087F82"/>
                </a:solidFill>
                <a:latin typeface="Aptos"/>
                <a:ea typeface="Aptos"/>
                <a:cs typeface="Aptos"/>
              </a:defRPr>
            </a:pPr>
            <a:r>
              <a:rPr sz="3225" b="1">
                <a:solidFill>
                  <a:srgbClr val="087F82"/>
                </a:solidFill>
                <a:latin typeface="Aptos"/>
                <a:ea typeface="Aptos"/>
                <a:cs typeface="Aptos"/>
              </a:rPr>
              <a:t>ν = eᵀr + e₂ − sᵀe₁</a:t>
            </a:r>
          </a:p>
        </p:txBody>
      </p:sp>
      <p:sp>
        <p:nvSpPr>
          <p:cNvPr id="6" name="">
            <a:extLst xmlns:a="http://schemas.openxmlformats.org/drawingml/2006/main">
              <a:ext uri="{FF2B5EF4-FFF2-40B4-BE49-F238E27FC236}">
                <a16:creationId xmlns:a16="http://schemas.microsoft.com/office/drawing/2014/main" id="{EBF37C0F-B067-4100-A0BC-BDAFAFC960CA}"/>
              </a:ext>
            </a:extLst>
          </p:cNvPr>
          <p:cNvSpPr>
            <a:spLocks xmlns:a="http://schemas.openxmlformats.org/drawingml/2006/main" noGrp="1"/>
          </p:cNvSpPr>
          <p:nvPr/>
        </p:nvSpPr>
        <p:spPr>
          <a:xfrm xmlns:a="http://schemas.openxmlformats.org/drawingml/2006/main">
            <a:off x="609600" y="4752975"/>
            <a:ext cx="10972800" cy="9239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The real noise budget also includes compression error.</a:t>
            </a:r>
          </a:p>
          <a:p xmlns:a="http://schemas.openxmlformats.org/drawingml/2006/main">
            <a:pPr algn="l">
              <a:defRPr sz="2175" b="0">
                <a:solidFill>
                  <a:srgbClr val="112F43"/>
                </a:solidFill>
                <a:latin typeface="Aptos"/>
                <a:ea typeface="Aptos"/>
                <a:cs typeface="Aptos"/>
              </a:defRPr>
            </a:pPr>
            <a:r>
              <a:rPr sz="2175" b="0">
                <a:solidFill>
                  <a:srgbClr val="112F43"/>
                </a:solidFill>
                <a:latin typeface="Aptos"/>
                <a:ea typeface="Aptos"/>
                <a:cs typeface="Aptos"/>
              </a:rPr>
              <a:t>The full scheme needs a tail bound and failure-safe rejection.</a:t>
            </a:r>
          </a:p>
        </p:txBody>
      </p:sp>
      <p:sp>
        <p:nvSpPr>
          <p:cNvPr id="7" name="">
            <a:extLst xmlns:a="http://schemas.openxmlformats.org/drawingml/2006/main">
              <a:ext uri="{FF2B5EF4-FFF2-40B4-BE49-F238E27FC236}">
                <a16:creationId xmlns:a16="http://schemas.microsoft.com/office/drawing/2014/main" id="{917F1C6D-286A-40C4-AC2B-BFBE9A8B2271}"/>
              </a:ext>
            </a:extLst>
          </p:cNvPr>
          <p:cNvSpPr>
            <a:spLocks xmlns:a="http://schemas.openxmlformats.org/drawingml/2006/main" noGrp="1"/>
          </p:cNvSpPr>
          <p:nvPr/>
        </p:nvSpPr>
        <p:spPr>
          <a:xfrm xmlns:a="http://schemas.openxmlformats.org/drawingml/2006/main">
            <a:off x="609600" y="5962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FIPS 203 failure estimates average over honest generation. They do not bound every key separately.</a:t>
            </a:r>
          </a:p>
        </p:txBody>
      </p:sp>
    </p:spTree>
    <p:extLst>
      <p:ext uri="{BB962C8B-B14F-4D97-AF65-F5344CB8AC3E}">
        <p14:creationId xmlns:p14="http://schemas.microsoft.com/office/powerpoint/2010/main" val="1140459601"/>
      </p:ext>
    </p:extLst>
  </p:cSld>
</p:sld>
</file>

<file path=ppt/slides/slide27.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39C9AD43-88D5-49F0-902E-3777AC657B23}"/>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Appendix: the comparison data ledger</a:t>
            </a:r>
          </a:p>
        </p:txBody>
      </p:sp>
      <p:sp>
        <p:nvSpPr>
          <p:cNvPr id="2" name="">
            <a:extLst xmlns:a="http://schemas.openxmlformats.org/drawingml/2006/main">
              <a:ext uri="{FF2B5EF4-FFF2-40B4-BE49-F238E27FC236}">
                <a16:creationId xmlns:a16="http://schemas.microsoft.com/office/drawing/2014/main" id="{C3756257-96D9-4F44-8A06-8BE2F0EDBC2F}"/>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Technical appendix</a:t>
            </a:r>
          </a:p>
        </p:txBody>
      </p:sp>
      <p:sp>
        <p:nvSpPr>
          <p:cNvPr id="3" name="">
            <a:extLst xmlns:a="http://schemas.openxmlformats.org/drawingml/2006/main">
              <a:ext uri="{FF2B5EF4-FFF2-40B4-BE49-F238E27FC236}">
                <a16:creationId xmlns:a16="http://schemas.microsoft.com/office/drawing/2014/main" id="{DF32E3A6-D2AB-4E37-8073-94C805A578CC}"/>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27</a:t>
            </a:r>
          </a:p>
        </p:txBody>
      </p:sp>
      <p:graphicFrame>
        <p:nvGraphicFramePr>
          <p:cNvPr id="9" name=""/>
          <p:cNvGraphicFramePr/>
          <p:nvPr/>
        </p:nvGraphicFramePr>
        <p:xfrm>
          <a:off xmlns:a="http://schemas.openxmlformats.org/drawingml/2006/main" x="609600" y="1657350"/>
          <a:ext xmlns:a="http://schemas.openxmlformats.org/drawingml/2006/main" cx="10972800" cy="3581400"/>
        </p:xfrm>
        <a:graphic xmlns:a="http://schemas.openxmlformats.org/drawingml/2006/main">
          <a:graphicData uri="http://schemas.openxmlformats.org/drawingml/2006/table">
            <a:tbl>
              <a:tblPr/>
              <a:tblGrid>
                <a:gridCol w="4495800"/>
                <a:gridCol w="2057400"/>
                <a:gridCol w="2095500"/>
                <a:gridCol w="2324100"/>
              </a:tblGrid>
              <a:tr h="716280">
                <a:tc>
                  <a:txBody>
                    <a:bodyPr/>
                    <a:lstStyle/>
                    <a:p>
                      <a:r>
                        <a:rPr sz="1875" b="1">
                          <a:solidFill>
                            <a:srgbClr val="FFFFFF"/>
                          </a:solidFill>
                          <a:latin typeface="Aptos"/>
                          <a:ea typeface="Aptos"/>
                          <a:cs typeface="Aptos"/>
                        </a:rPr>
                        <a:t>Category 1 variant</a:t>
                      </a:r>
                    </a:p>
                  </a:txBody>
                  <a:tcPr marL="142875" marR="114300" marT="104775" marB="85725" anchor="ctr">
                    <a:solidFill>
                      <a:srgbClr val="112F43"/>
                    </a:solidFill>
                  </a:tcPr>
                </a:tc>
                <a:tc>
                  <a:txBody>
                    <a:bodyPr/>
                    <a:lstStyle/>
                    <a:p>
                      <a:r>
                        <a:rPr sz="1875" b="1">
                          <a:solidFill>
                            <a:srgbClr val="FFFFFF"/>
                          </a:solidFill>
                          <a:latin typeface="Aptos"/>
                          <a:ea typeface="Aptos"/>
                          <a:cs typeface="Aptos"/>
                        </a:rPr>
                        <a:t>Public key</a:t>
                      </a:r>
                    </a:p>
                  </a:txBody>
                  <a:tcPr marL="142875" marR="114300" marT="104775" marB="85725" anchor="ctr">
                    <a:solidFill>
                      <a:srgbClr val="112F43"/>
                    </a:solidFill>
                  </a:tcPr>
                </a:tc>
                <a:tc>
                  <a:txBody>
                    <a:bodyPr/>
                    <a:lstStyle/>
                    <a:p>
                      <a:r>
                        <a:rPr sz="1875" b="1">
                          <a:solidFill>
                            <a:srgbClr val="FFFFFF"/>
                          </a:solidFill>
                          <a:latin typeface="Aptos"/>
                          <a:ea typeface="Aptos"/>
                          <a:cs typeface="Aptos"/>
                        </a:rPr>
                        <a:t>Ciphertext</a:t>
                      </a:r>
                    </a:p>
                  </a:txBody>
                  <a:tcPr marL="142875" marR="114300" marT="104775" marB="85725" anchor="ctr">
                    <a:solidFill>
                      <a:srgbClr val="112F43"/>
                    </a:solidFill>
                  </a:tcPr>
                </a:tc>
                <a:tc>
                  <a:txBody>
                    <a:bodyPr/>
                    <a:lstStyle/>
                    <a:p>
                      <a:r>
                        <a:rPr sz="1875" b="1">
                          <a:solidFill>
                            <a:srgbClr val="FFFFFF"/>
                          </a:solidFill>
                          <a:latin typeface="Aptos"/>
                          <a:ea typeface="Aptos"/>
                          <a:cs typeface="Aptos"/>
                        </a:rPr>
                        <a:t>PK + CT</a:t>
                      </a:r>
                    </a:p>
                  </a:txBody>
                  <a:tcPr marL="142875" marR="114300" marT="104775" marB="85725" anchor="ctr">
                    <a:solidFill>
                      <a:srgbClr val="112F43"/>
                    </a:solidFill>
                  </a:tcPr>
                </a:tc>
              </a:tr>
              <a:tr h="716280">
                <a:tc>
                  <a:txBody>
                    <a:bodyPr/>
                    <a:lstStyle/>
                    <a:p>
                      <a:r>
                        <a:rPr sz="1875">
                          <a:solidFill>
                            <a:srgbClr val="112F43"/>
                          </a:solidFill>
                          <a:latin typeface="Aptos"/>
                          <a:ea typeface="Aptos"/>
                          <a:cs typeface="Aptos"/>
                        </a:rPr>
                        <a:t>ML-KEM-512</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800</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768</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1,568</a:t>
                      </a:r>
                    </a:p>
                  </a:txBody>
                  <a:tcPr marL="142875" marR="114300" marT="104775" marB="85725" anchor="ctr">
                    <a:solidFill>
                      <a:srgbClr val="F7F5F0"/>
                    </a:solidFill>
                  </a:tcPr>
                </a:tc>
              </a:tr>
              <a:tr h="716280">
                <a:tc>
                  <a:txBody>
                    <a:bodyPr/>
                    <a:lstStyle/>
                    <a:p>
                      <a:r>
                        <a:rPr sz="1875">
                          <a:solidFill>
                            <a:srgbClr val="112F43"/>
                          </a:solidFill>
                          <a:latin typeface="Aptos"/>
                          <a:ea typeface="Aptos"/>
                          <a:cs typeface="Aptos"/>
                        </a:rPr>
                        <a:t>HQC-1 (Aug 2025)</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2,241</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4,433</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6,674</a:t>
                      </a:r>
                    </a:p>
                  </a:txBody>
                  <a:tcPr marL="142875" marR="114300" marT="104775" marB="85725" anchor="ctr">
                    <a:solidFill>
                      <a:srgbClr val="F7F5F0"/>
                    </a:solidFill>
                  </a:tcPr>
                </a:tc>
              </a:tr>
              <a:tr h="716280">
                <a:tc>
                  <a:txBody>
                    <a:bodyPr/>
                    <a:lstStyle/>
                    <a:p>
                      <a:r>
                        <a:rPr sz="1875">
                          <a:solidFill>
                            <a:srgbClr val="112F43"/>
                          </a:solidFill>
                          <a:latin typeface="Aptos"/>
                          <a:ea typeface="Aptos"/>
                          <a:cs typeface="Aptos"/>
                        </a:rPr>
                        <a:t>FrodoKEM-640 (Sep 2025)</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9,616</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9,752</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19,368</a:t>
                      </a:r>
                    </a:p>
                  </a:txBody>
                  <a:tcPr marL="142875" marR="114300" marT="104775" marB="85725" anchor="ctr">
                    <a:solidFill>
                      <a:srgbClr val="F7F5F0"/>
                    </a:solidFill>
                  </a:tcPr>
                </a:tc>
              </a:tr>
              <a:tr h="716280">
                <a:tc>
                  <a:txBody>
                    <a:bodyPr/>
                    <a:lstStyle/>
                    <a:p>
                      <a:r>
                        <a:rPr sz="1875">
                          <a:solidFill>
                            <a:srgbClr val="112F43"/>
                          </a:solidFill>
                          <a:latin typeface="Aptos"/>
                          <a:ea typeface="Aptos"/>
                          <a:cs typeface="Aptos"/>
                        </a:rPr>
                        <a:t>mceliece348864</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261,120</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96</a:t>
                      </a:r>
                    </a:p>
                  </a:txBody>
                  <a:tcPr marL="142875" marR="114300" marT="104775" marB="85725" anchor="ctr">
                    <a:solidFill>
                      <a:srgbClr val="F7F5F0"/>
                    </a:solidFill>
                  </a:tcPr>
                </a:tc>
                <a:tc>
                  <a:txBody>
                    <a:bodyPr/>
                    <a:lstStyle/>
                    <a:p>
                      <a:r>
                        <a:rPr sz="1875">
                          <a:solidFill>
                            <a:srgbClr val="112F43"/>
                          </a:solidFill>
                          <a:latin typeface="Aptos"/>
                          <a:ea typeface="Aptos"/>
                          <a:cs typeface="Aptos"/>
                        </a:rPr>
                        <a:t>261,216</a:t>
                      </a:r>
                    </a:p>
                  </a:txBody>
                  <a:tcPr marL="142875" marR="114300" marT="104775" marB="85725" anchor="ctr">
                    <a:solidFill>
                      <a:srgbClr val="F7F5F0"/>
                    </a:solidFill>
                  </a:tcPr>
                </a:tc>
              </a:tr>
            </a:tbl>
          </a:graphicData>
        </a:graphic>
      </p:graphicFrame>
      <p:sp>
        <p:nvSpPr>
          <p:cNvPr id="5" name="">
            <a:extLst xmlns:a="http://schemas.openxmlformats.org/drawingml/2006/main">
              <a:ext uri="{FF2B5EF4-FFF2-40B4-BE49-F238E27FC236}">
                <a16:creationId xmlns:a16="http://schemas.microsoft.com/office/drawing/2014/main" id="{4A4BB0E6-8EAF-4800-8278-ED6DCC24FD29}"/>
              </a:ext>
            </a:extLst>
          </p:cNvPr>
          <p:cNvSpPr>
            <a:spLocks xmlns:a="http://schemas.openxmlformats.org/drawingml/2006/main" noGrp="1"/>
          </p:cNvSpPr>
          <p:nvPr/>
        </p:nvSpPr>
        <p:spPr>
          <a:xfrm xmlns:a="http://schemas.openxmlformats.org/drawingml/2006/main">
            <a:off x="609600" y="5962650"/>
            <a:ext cx="109728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00" b="0">
                <a:solidFill>
                  <a:srgbClr val="556A74"/>
                </a:solidFill>
                <a:latin typeface="Aptos"/>
                <a:ea typeface="Aptos"/>
                <a:cs typeface="Aptos"/>
              </a:defRPr>
            </a:pPr>
            <a:r>
              <a:rPr sz="1500" b="0">
                <a:solidFill>
                  <a:srgbClr val="556A74"/>
                </a:solidFill>
                <a:latin typeface="Aptos"/>
                <a:ea typeface="Aptos"/>
                <a:cs typeface="Aptos"/>
              </a:rPr>
              <a:t>All sizes are bytes. Variant and specification dates matter, especially for HQC and FrodoKEM.</a:t>
            </a:r>
          </a:p>
        </p:txBody>
      </p:sp>
    </p:spTree>
    <p:extLst>
      <p:ext uri="{BB962C8B-B14F-4D97-AF65-F5344CB8AC3E}">
        <p14:creationId xmlns:p14="http://schemas.microsoft.com/office/powerpoint/2010/main" val="669889116"/>
      </p:ext>
    </p:extLst>
  </p:cSld>
</p:sld>
</file>

<file path=ppt/slides/slide28.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EDB99FF-1443-4A03-AE3E-3E373FA34996}"/>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Appendix: related directions sharpen the agenda</a:t>
            </a:r>
          </a:p>
        </p:txBody>
      </p:sp>
      <p:sp>
        <p:nvSpPr>
          <p:cNvPr id="2" name="">
            <a:extLst xmlns:a="http://schemas.openxmlformats.org/drawingml/2006/main">
              <a:ext uri="{FF2B5EF4-FFF2-40B4-BE49-F238E27FC236}">
                <a16:creationId xmlns:a16="http://schemas.microsoft.com/office/drawing/2014/main" id="{AF9058B3-7AD8-4AFA-B909-FD9D76C131C1}"/>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Technical appendix</a:t>
            </a:r>
          </a:p>
        </p:txBody>
      </p:sp>
      <p:sp>
        <p:nvSpPr>
          <p:cNvPr id="3" name="">
            <a:extLst xmlns:a="http://schemas.openxmlformats.org/drawingml/2006/main">
              <a:ext uri="{FF2B5EF4-FFF2-40B4-BE49-F238E27FC236}">
                <a16:creationId xmlns:a16="http://schemas.microsoft.com/office/drawing/2014/main" id="{CDA75EEE-A9B1-4D4E-8E21-20E71F4DA4AA}"/>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28</a:t>
            </a:r>
          </a:p>
        </p:txBody>
      </p:sp>
      <p:sp>
        <p:nvSpPr>
          <p:cNvPr id="4" name="">
            <a:extLst xmlns:a="http://schemas.openxmlformats.org/drawingml/2006/main">
              <a:ext uri="{FF2B5EF4-FFF2-40B4-BE49-F238E27FC236}">
                <a16:creationId xmlns:a16="http://schemas.microsoft.com/office/drawing/2014/main" id="{992F85DC-2152-4EAF-8759-7C4C107971A0}"/>
              </a:ext>
            </a:extLst>
          </p:cNvPr>
          <p:cNvSpPr>
            <a:spLocks xmlns:a="http://schemas.openxmlformats.org/drawingml/2006/main" noGrp="1"/>
          </p:cNvSpPr>
          <p:nvPr/>
        </p:nvSpPr>
        <p:spPr>
          <a:xfrm xmlns:a="http://schemas.openxmlformats.org/drawingml/2006/main">
            <a:off x="609600" y="1657350"/>
            <a:ext cx="847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087F82"/>
                </a:solidFill>
                <a:latin typeface="Aptos"/>
                <a:ea typeface="Aptos"/>
                <a:cs typeface="Aptos"/>
              </a:defRPr>
            </a:pPr>
            <a:r>
              <a:rPr sz="3225" b="1">
                <a:solidFill>
                  <a:srgbClr val="087F82"/>
                </a:solidFill>
                <a:latin typeface="Aptos"/>
                <a:ea typeface="Aptos"/>
                <a:cs typeface="Aptos"/>
              </a:rPr>
              <a:t>01</a:t>
            </a:r>
          </a:p>
        </p:txBody>
      </p:sp>
      <p:sp>
        <p:nvSpPr>
          <p:cNvPr id="5" name="">
            <a:extLst xmlns:a="http://schemas.openxmlformats.org/drawingml/2006/main">
              <a:ext uri="{FF2B5EF4-FFF2-40B4-BE49-F238E27FC236}">
                <a16:creationId xmlns:a16="http://schemas.microsoft.com/office/drawing/2014/main" id="{B509EDC0-1551-473A-ABFA-438E3BF763E6}"/>
              </a:ext>
            </a:extLst>
          </p:cNvPr>
          <p:cNvSpPr>
            <a:spLocks xmlns:a="http://schemas.openxmlformats.org/drawingml/2006/main" noGrp="1"/>
          </p:cNvSpPr>
          <p:nvPr/>
        </p:nvSpPr>
        <p:spPr>
          <a:xfrm xmlns:a="http://schemas.openxmlformats.org/drawingml/2006/main">
            <a:off x="1714500" y="1657350"/>
            <a:ext cx="985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12F43"/>
                </a:solidFill>
                <a:latin typeface="Aptos"/>
                <a:ea typeface="Aptos"/>
                <a:cs typeface="Aptos"/>
              </a:defRPr>
            </a:pPr>
            <a:r>
              <a:rPr sz="2250" b="1">
                <a:solidFill>
                  <a:srgbClr val="112F43"/>
                </a:solidFill>
                <a:latin typeface="Aptos"/>
                <a:ea typeface="Aptos"/>
                <a:cs typeface="Aptos"/>
              </a:rPr>
              <a:t>Local PRGs and low-degree analysis</a:t>
            </a:r>
          </a:p>
        </p:txBody>
      </p:sp>
      <p:sp>
        <p:nvSpPr>
          <p:cNvPr id="6" name="">
            <a:extLst xmlns:a="http://schemas.openxmlformats.org/drawingml/2006/main">
              <a:ext uri="{FF2B5EF4-FFF2-40B4-BE49-F238E27FC236}">
                <a16:creationId xmlns:a16="http://schemas.microsoft.com/office/drawing/2014/main" id="{D79728E2-D5A0-4D33-B6D1-AA500ED1AA11}"/>
              </a:ext>
            </a:extLst>
          </p:cNvPr>
          <p:cNvSpPr>
            <a:spLocks xmlns:a="http://schemas.openxmlformats.org/drawingml/2006/main" noGrp="1"/>
          </p:cNvSpPr>
          <p:nvPr/>
        </p:nvSpPr>
        <p:spPr>
          <a:xfrm xmlns:a="http://schemas.openxmlformats.org/drawingml/2006/main">
            <a:off x="1714500" y="2200275"/>
            <a:ext cx="96869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6A74"/>
                </a:solidFill>
                <a:latin typeface="Aptos"/>
                <a:ea typeface="Aptos"/>
                <a:cs typeface="Aptos"/>
              </a:defRPr>
            </a:pPr>
            <a:r>
              <a:rPr sz="2025" b="0">
                <a:solidFill>
                  <a:srgbClr val="556A74"/>
                </a:solidFill>
                <a:latin typeface="Aptos"/>
                <a:ea typeface="Aptos"/>
                <a:cs typeface="Aptos"/>
              </a:rPr>
              <a:t>Bogdanov–Kothari–Rosen (2023): a related ABW construction route.</a:t>
            </a:r>
          </a:p>
        </p:txBody>
      </p:sp>
      <p:sp>
        <p:nvSpPr>
          <p:cNvPr id="7" name="">
            <a:extLst xmlns:a="http://schemas.openxmlformats.org/drawingml/2006/main">
              <a:ext uri="{FF2B5EF4-FFF2-40B4-BE49-F238E27FC236}">
                <a16:creationId xmlns:a16="http://schemas.microsoft.com/office/drawing/2014/main" id="{1E7EBD72-193F-4082-B260-73C88F39C7DE}"/>
              </a:ext>
            </a:extLst>
          </p:cNvPr>
          <p:cNvSpPr>
            <a:spLocks xmlns:a="http://schemas.openxmlformats.org/drawingml/2006/main" noGrp="1"/>
          </p:cNvSpPr>
          <p:nvPr/>
        </p:nvSpPr>
        <p:spPr>
          <a:xfrm xmlns:a="http://schemas.openxmlformats.org/drawingml/2006/main">
            <a:off x="609600" y="3105150"/>
            <a:ext cx="847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087F82"/>
                </a:solidFill>
                <a:latin typeface="Aptos"/>
                <a:ea typeface="Aptos"/>
                <a:cs typeface="Aptos"/>
              </a:defRPr>
            </a:pPr>
            <a:r>
              <a:rPr sz="3225" b="1">
                <a:solidFill>
                  <a:srgbClr val="087F82"/>
                </a:solidFill>
                <a:latin typeface="Aptos"/>
                <a:ea typeface="Aptos"/>
                <a:cs typeface="Aptos"/>
              </a:rPr>
              <a:t>02</a:t>
            </a:r>
          </a:p>
        </p:txBody>
      </p:sp>
      <p:sp>
        <p:nvSpPr>
          <p:cNvPr id="8" name="">
            <a:extLst xmlns:a="http://schemas.openxmlformats.org/drawingml/2006/main">
              <a:ext uri="{FF2B5EF4-FFF2-40B4-BE49-F238E27FC236}">
                <a16:creationId xmlns:a16="http://schemas.microsoft.com/office/drawing/2014/main" id="{B12F4135-F2AD-4B05-A92D-6C0A00DA7208}"/>
              </a:ext>
            </a:extLst>
          </p:cNvPr>
          <p:cNvSpPr>
            <a:spLocks xmlns:a="http://schemas.openxmlformats.org/drawingml/2006/main" noGrp="1"/>
          </p:cNvSpPr>
          <p:nvPr/>
        </p:nvSpPr>
        <p:spPr>
          <a:xfrm xmlns:a="http://schemas.openxmlformats.org/drawingml/2006/main">
            <a:off x="1714500" y="3105150"/>
            <a:ext cx="985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12F43"/>
                </a:solidFill>
                <a:latin typeface="Aptos"/>
                <a:ea typeface="Aptos"/>
                <a:cs typeface="Aptos"/>
              </a:defRPr>
            </a:pPr>
            <a:r>
              <a:rPr sz="2250" b="1">
                <a:solidFill>
                  <a:srgbClr val="112F43"/>
                </a:solidFill>
                <a:latin typeface="Aptos"/>
                <a:ea typeface="Aptos"/>
                <a:cs typeface="Aptos"/>
              </a:rPr>
              <a:t>Dense-Sparse LPN and lossy trapdoors</a:t>
            </a:r>
          </a:p>
        </p:txBody>
      </p:sp>
      <p:sp>
        <p:nvSpPr>
          <p:cNvPr id="9" name="">
            <a:extLst xmlns:a="http://schemas.openxmlformats.org/drawingml/2006/main">
              <a:ext uri="{FF2B5EF4-FFF2-40B4-BE49-F238E27FC236}">
                <a16:creationId xmlns:a16="http://schemas.microsoft.com/office/drawing/2014/main" id="{5A6647C3-ED77-4026-B999-4459C1818607}"/>
              </a:ext>
            </a:extLst>
          </p:cNvPr>
          <p:cNvSpPr>
            <a:spLocks xmlns:a="http://schemas.openxmlformats.org/drawingml/2006/main" noGrp="1"/>
          </p:cNvSpPr>
          <p:nvPr/>
        </p:nvSpPr>
        <p:spPr>
          <a:xfrm xmlns:a="http://schemas.openxmlformats.org/drawingml/2006/main">
            <a:off x="1714500" y="3648075"/>
            <a:ext cx="96869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6A74"/>
                </a:solidFill>
                <a:latin typeface="Aptos"/>
                <a:ea typeface="Aptos"/>
                <a:cs typeface="Aptos"/>
              </a:defRPr>
            </a:pPr>
            <a:r>
              <a:rPr sz="2025" b="0">
                <a:solidFill>
                  <a:srgbClr val="556A74"/>
                </a:solidFill>
                <a:latin typeface="Aptos"/>
                <a:ea typeface="Aptos"/>
                <a:cs typeface="Aptos"/>
              </a:rPr>
              <a:t>Dao–Jain (2024): a changed distribution and different capabilities.</a:t>
            </a:r>
          </a:p>
        </p:txBody>
      </p:sp>
      <p:sp>
        <p:nvSpPr>
          <p:cNvPr id="10" name="">
            <a:extLst xmlns:a="http://schemas.openxmlformats.org/drawingml/2006/main">
              <a:ext uri="{FF2B5EF4-FFF2-40B4-BE49-F238E27FC236}">
                <a16:creationId xmlns:a16="http://schemas.microsoft.com/office/drawing/2014/main" id="{41F5F318-E8F2-4A09-BB25-514E3C956608}"/>
              </a:ext>
            </a:extLst>
          </p:cNvPr>
          <p:cNvSpPr>
            <a:spLocks xmlns:a="http://schemas.openxmlformats.org/drawingml/2006/main" noGrp="1"/>
          </p:cNvSpPr>
          <p:nvPr/>
        </p:nvSpPr>
        <p:spPr>
          <a:xfrm xmlns:a="http://schemas.openxmlformats.org/drawingml/2006/main">
            <a:off x="609600" y="4552950"/>
            <a:ext cx="847725"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225" b="1">
                <a:solidFill>
                  <a:srgbClr val="087F82"/>
                </a:solidFill>
                <a:latin typeface="Aptos"/>
                <a:ea typeface="Aptos"/>
                <a:cs typeface="Aptos"/>
              </a:defRPr>
            </a:pPr>
            <a:r>
              <a:rPr sz="3225" b="1">
                <a:solidFill>
                  <a:srgbClr val="087F82"/>
                </a:solidFill>
                <a:latin typeface="Aptos"/>
                <a:ea typeface="Aptos"/>
                <a:cs typeface="Aptos"/>
              </a:rPr>
              <a:t>03</a:t>
            </a:r>
          </a:p>
        </p:txBody>
      </p:sp>
      <p:sp>
        <p:nvSpPr>
          <p:cNvPr id="11" name="">
            <a:extLst xmlns:a="http://schemas.openxmlformats.org/drawingml/2006/main">
              <a:ext uri="{FF2B5EF4-FFF2-40B4-BE49-F238E27FC236}">
                <a16:creationId xmlns:a16="http://schemas.microsoft.com/office/drawing/2014/main" id="{69B9CC35-E501-4A7C-8CF1-5FF6A0CEF7FE}"/>
              </a:ext>
            </a:extLst>
          </p:cNvPr>
          <p:cNvSpPr>
            <a:spLocks xmlns:a="http://schemas.openxmlformats.org/drawingml/2006/main" noGrp="1"/>
          </p:cNvSpPr>
          <p:nvPr/>
        </p:nvSpPr>
        <p:spPr>
          <a:xfrm xmlns:a="http://schemas.openxmlformats.org/drawingml/2006/main">
            <a:off x="1714500" y="4552950"/>
            <a:ext cx="9858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1">
                <a:solidFill>
                  <a:srgbClr val="112F43"/>
                </a:solidFill>
                <a:latin typeface="Aptos"/>
                <a:ea typeface="Aptos"/>
                <a:cs typeface="Aptos"/>
              </a:defRPr>
            </a:pPr>
            <a:r>
              <a:rPr sz="2250" b="1">
                <a:solidFill>
                  <a:srgbClr val="112F43"/>
                </a:solidFill>
                <a:latin typeface="Aptos"/>
                <a:ea typeface="Aptos"/>
                <a:cs typeface="Aptos"/>
              </a:rPr>
              <a:t>High-corruption CSP trapdoors</a:t>
            </a:r>
          </a:p>
        </p:txBody>
      </p:sp>
      <p:sp>
        <p:nvSpPr>
          <p:cNvPr id="12" name="">
            <a:extLst xmlns:a="http://schemas.openxmlformats.org/drawingml/2006/main">
              <a:ext uri="{FF2B5EF4-FFF2-40B4-BE49-F238E27FC236}">
                <a16:creationId xmlns:a16="http://schemas.microsoft.com/office/drawing/2014/main" id="{BAB24FDF-2404-463E-A0F5-47A6AE65053F}"/>
              </a:ext>
            </a:extLst>
          </p:cNvPr>
          <p:cNvSpPr>
            <a:spLocks xmlns:a="http://schemas.openxmlformats.org/drawingml/2006/main" noGrp="1"/>
          </p:cNvSpPr>
          <p:nvPr/>
        </p:nvSpPr>
        <p:spPr>
          <a:xfrm xmlns:a="http://schemas.openxmlformats.org/drawingml/2006/main">
            <a:off x="1714500" y="5095875"/>
            <a:ext cx="9686925"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a:solidFill>
                  <a:srgbClr val="556A74"/>
                </a:solidFill>
                <a:latin typeface="Aptos"/>
                <a:ea typeface="Aptos"/>
                <a:cs typeface="Aptos"/>
              </a:defRPr>
            </a:pPr>
            <a:r>
              <a:rPr sz="2025" b="0">
                <a:solidFill>
                  <a:srgbClr val="556A74"/>
                </a:solidFill>
                <a:latin typeface="Aptos"/>
                <a:ea typeface="Aptos"/>
                <a:cs typeface="Aptos"/>
              </a:rPr>
              <a:t>Hair–Sahai (2026 preprint): a different planting and decoding approach.</a:t>
            </a:r>
          </a:p>
        </p:txBody>
      </p:sp>
    </p:spTree>
    <p:extLst>
      <p:ext uri="{BB962C8B-B14F-4D97-AF65-F5344CB8AC3E}">
        <p14:creationId xmlns:p14="http://schemas.microsoft.com/office/powerpoint/2010/main" val="2061248828"/>
      </p:ext>
    </p:extLst>
  </p:cSld>
</p:sld>
</file>

<file path=ppt/slides/slide29.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D848FE8-A4C2-4A81-B633-A10FA8958043}"/>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References: case-study foundations</a:t>
            </a:r>
          </a:p>
        </p:txBody>
      </p:sp>
      <p:sp>
        <p:nvSpPr>
          <p:cNvPr id="2" name="">
            <a:extLst xmlns:a="http://schemas.openxmlformats.org/drawingml/2006/main">
              <a:ext uri="{FF2B5EF4-FFF2-40B4-BE49-F238E27FC236}">
                <a16:creationId xmlns:a16="http://schemas.microsoft.com/office/drawing/2014/main" id="{CD249E8F-3F52-4575-89DC-476826B83B9D}"/>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Technical appendix</a:t>
            </a:r>
          </a:p>
        </p:txBody>
      </p:sp>
      <p:sp>
        <p:nvSpPr>
          <p:cNvPr id="3" name="">
            <a:extLst xmlns:a="http://schemas.openxmlformats.org/drawingml/2006/main">
              <a:ext uri="{FF2B5EF4-FFF2-40B4-BE49-F238E27FC236}">
                <a16:creationId xmlns:a16="http://schemas.microsoft.com/office/drawing/2014/main" id="{20991B89-7C1F-417B-A40F-6EDB6F7461F5}"/>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29</a:t>
            </a:r>
          </a:p>
        </p:txBody>
      </p:sp>
      <p:sp>
        <p:nvSpPr>
          <p:cNvPr id="4" name="">
            <a:extLst xmlns:a="http://schemas.openxmlformats.org/drawingml/2006/main">
              <a:ext uri="{FF2B5EF4-FFF2-40B4-BE49-F238E27FC236}">
                <a16:creationId xmlns:a16="http://schemas.microsoft.com/office/drawing/2014/main" id="{D5B5F05F-6622-4986-B6F7-B39DCE67E680}"/>
              </a:ext>
            </a:extLst>
          </p:cNvPr>
          <p:cNvSpPr>
            <a:spLocks xmlns:a="http://schemas.openxmlformats.org/drawingml/2006/main" noGrp="1"/>
          </p:cNvSpPr>
          <p:nvPr/>
        </p:nvSpPr>
        <p:spPr>
          <a:xfrm xmlns:a="http://schemas.openxmlformats.org/drawingml/2006/main">
            <a:off x="609600" y="15144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Aptos"/>
                <a:ea typeface="Aptos"/>
                <a:cs typeface="Aptos"/>
              </a:defRPr>
            </a:pPr>
            <a:r>
              <a:rPr sz="1875" b="1">
                <a:solidFill>
                  <a:srgbClr val="087F82"/>
                </a:solidFill>
                <a:latin typeface="Aptos"/>
                <a:ea typeface="Aptos"/>
                <a:cs typeface="Aptos"/>
              </a:rPr>
              <a:t>Rivest–Shamir–Adleman (1978)</a:t>
            </a:r>
          </a:p>
        </p:txBody>
      </p:sp>
      <p:sp>
        <p:nvSpPr>
          <p:cNvPr id="5" name="">
            <a:extLst xmlns:a="http://schemas.openxmlformats.org/drawingml/2006/main">
              <a:ext uri="{FF2B5EF4-FFF2-40B4-BE49-F238E27FC236}">
                <a16:creationId xmlns:a16="http://schemas.microsoft.com/office/drawing/2014/main" id="{A0CEE2E3-9B05-4B18-BAA5-BC4D0B6EE42A}"/>
              </a:ext>
            </a:extLst>
          </p:cNvPr>
          <p:cNvSpPr>
            <a:spLocks xmlns:a="http://schemas.openxmlformats.org/drawingml/2006/main" noGrp="1"/>
          </p:cNvSpPr>
          <p:nvPr/>
        </p:nvSpPr>
        <p:spPr>
          <a:xfrm xmlns:a="http://schemas.openxmlformats.org/drawingml/2006/main">
            <a:off x="609600" y="18859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12F43"/>
                </a:solidFill>
                <a:latin typeface="Aptos"/>
                <a:ea typeface="Aptos"/>
                <a:cs typeface="Aptos"/>
              </a:defRPr>
            </a:pPr>
            <a:r>
              <a:rPr sz="1725" b="0">
                <a:solidFill>
                  <a:srgbClr val="112F43"/>
                </a:solidFill>
                <a:latin typeface="Aptos"/>
                <a:ea typeface="Aptos"/>
                <a:cs typeface="Aptos"/>
              </a:rPr>
              <a:t>A Method for Obtaining Digital Signatures and Public-Key Cryptosystems</a:t>
            </a:r>
          </a:p>
        </p:txBody>
      </p:sp>
      <p:sp>
        <p:nvSpPr>
          <p:cNvPr id="6" name="">
            <a:extLst xmlns:a="http://schemas.openxmlformats.org/drawingml/2006/main">
              <a:ext uri="{FF2B5EF4-FFF2-40B4-BE49-F238E27FC236}">
                <a16:creationId xmlns:a16="http://schemas.microsoft.com/office/drawing/2014/main" id="{B25286BA-0F01-4147-9C04-FD2759B4A952}"/>
              </a:ext>
            </a:extLst>
          </p:cNvPr>
          <p:cNvSpPr>
            <a:spLocks xmlns:a="http://schemas.openxmlformats.org/drawingml/2006/main" noGrp="1"/>
          </p:cNvSpPr>
          <p:nvPr/>
        </p:nvSpPr>
        <p:spPr>
          <a:xfrm xmlns:a="http://schemas.openxmlformats.org/drawingml/2006/main">
            <a:off x="609600" y="22574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Aptos"/>
                <a:ea typeface="Aptos"/>
                <a:cs typeface="Aptos"/>
              </a:defRPr>
            </a:pPr>
            <a:r>
              <a:rPr sz="1875" b="1">
                <a:solidFill>
                  <a:srgbClr val="087F82"/>
                </a:solidFill>
                <a:latin typeface="Aptos"/>
                <a:ea typeface="Aptos"/>
                <a:cs typeface="Aptos"/>
              </a:rPr>
              <a:t>RFC 8017 and RFC 5280</a:t>
            </a:r>
          </a:p>
        </p:txBody>
      </p:sp>
      <p:sp>
        <p:nvSpPr>
          <p:cNvPr id="7" name="">
            <a:extLst xmlns:a="http://schemas.openxmlformats.org/drawingml/2006/main">
              <a:ext uri="{FF2B5EF4-FFF2-40B4-BE49-F238E27FC236}">
                <a16:creationId xmlns:a16="http://schemas.microsoft.com/office/drawing/2014/main" id="{10ADB933-1792-4D73-B84A-D22527FE09D4}"/>
              </a:ext>
            </a:extLst>
          </p:cNvPr>
          <p:cNvSpPr>
            <a:spLocks xmlns:a="http://schemas.openxmlformats.org/drawingml/2006/main" noGrp="1"/>
          </p:cNvSpPr>
          <p:nvPr/>
        </p:nvSpPr>
        <p:spPr>
          <a:xfrm xmlns:a="http://schemas.openxmlformats.org/drawingml/2006/main">
            <a:off x="609600" y="26289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12F43"/>
                </a:solidFill>
                <a:latin typeface="Aptos"/>
                <a:ea typeface="Aptos"/>
                <a:cs typeface="Aptos"/>
              </a:defRPr>
            </a:pPr>
            <a:r>
              <a:rPr sz="1725" b="0">
                <a:solidFill>
                  <a:srgbClr val="112F43"/>
                </a:solidFill>
                <a:latin typeface="Aptos"/>
                <a:ea typeface="Aptos"/>
                <a:cs typeface="Aptos"/>
              </a:rPr>
              <a:t>RSA schemes, encoding and the public-key certificate framework</a:t>
            </a:r>
          </a:p>
        </p:txBody>
      </p:sp>
      <p:sp>
        <p:nvSpPr>
          <p:cNvPr id="8" name="">
            <a:extLst xmlns:a="http://schemas.openxmlformats.org/drawingml/2006/main">
              <a:ext uri="{FF2B5EF4-FFF2-40B4-BE49-F238E27FC236}">
                <a16:creationId xmlns:a16="http://schemas.microsoft.com/office/drawing/2014/main" id="{28A66020-1F72-4BDF-B050-CB8CA4411206}"/>
              </a:ext>
            </a:extLst>
          </p:cNvPr>
          <p:cNvSpPr>
            <a:spLocks xmlns:a="http://schemas.openxmlformats.org/drawingml/2006/main" noGrp="1"/>
          </p:cNvSpPr>
          <p:nvPr/>
        </p:nvSpPr>
        <p:spPr>
          <a:xfrm xmlns:a="http://schemas.openxmlformats.org/drawingml/2006/main">
            <a:off x="609600" y="30003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Aptos"/>
                <a:ea typeface="Aptos"/>
                <a:cs typeface="Aptos"/>
              </a:defRPr>
            </a:pPr>
            <a:r>
              <a:rPr sz="1875" b="1">
                <a:solidFill>
                  <a:srgbClr val="087F82"/>
                </a:solidFill>
                <a:latin typeface="Aptos"/>
                <a:ea typeface="Aptos"/>
                <a:cs typeface="Aptos"/>
              </a:rPr>
              <a:t>RFC 8446 and Shor (1995 / 1997)</a:t>
            </a:r>
          </a:p>
        </p:txBody>
      </p:sp>
      <p:sp>
        <p:nvSpPr>
          <p:cNvPr id="9" name="">
            <a:extLst xmlns:a="http://schemas.openxmlformats.org/drawingml/2006/main">
              <a:ext uri="{FF2B5EF4-FFF2-40B4-BE49-F238E27FC236}">
                <a16:creationId xmlns:a16="http://schemas.microsoft.com/office/drawing/2014/main" id="{A33F6394-048A-4733-ACBF-2F62E6D77B0A}"/>
              </a:ext>
            </a:extLst>
          </p:cNvPr>
          <p:cNvSpPr>
            <a:spLocks xmlns:a="http://schemas.openxmlformats.org/drawingml/2006/main" noGrp="1"/>
          </p:cNvSpPr>
          <p:nvPr/>
        </p:nvSpPr>
        <p:spPr>
          <a:xfrm xmlns:a="http://schemas.openxmlformats.org/drawingml/2006/main">
            <a:off x="609600" y="33718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12F43"/>
                </a:solidFill>
                <a:latin typeface="Aptos"/>
                <a:ea typeface="Aptos"/>
                <a:cs typeface="Aptos"/>
              </a:defRPr>
            </a:pPr>
            <a:r>
              <a:rPr sz="1725" b="0">
                <a:solidFill>
                  <a:srgbClr val="112F43"/>
                </a:solidFill>
                <a:latin typeface="Aptos"/>
                <a:ea typeface="Aptos"/>
                <a:cs typeface="Aptos"/>
              </a:rPr>
              <a:t>TLS 1.3 and quantum factoring limitations</a:t>
            </a:r>
          </a:p>
        </p:txBody>
      </p:sp>
      <p:sp>
        <p:nvSpPr>
          <p:cNvPr id="10" name="">
            <a:extLst xmlns:a="http://schemas.openxmlformats.org/drawingml/2006/main">
              <a:ext uri="{FF2B5EF4-FFF2-40B4-BE49-F238E27FC236}">
                <a16:creationId xmlns:a16="http://schemas.microsoft.com/office/drawing/2014/main" id="{A4A67D50-AD3F-4CD6-9715-88E3D3355686}"/>
              </a:ext>
            </a:extLst>
          </p:cNvPr>
          <p:cNvSpPr>
            <a:spLocks xmlns:a="http://schemas.openxmlformats.org/drawingml/2006/main" noGrp="1"/>
          </p:cNvSpPr>
          <p:nvPr/>
        </p:nvSpPr>
        <p:spPr>
          <a:xfrm xmlns:a="http://schemas.openxmlformats.org/drawingml/2006/main">
            <a:off x="609600" y="37433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Aptos"/>
                <a:ea typeface="Aptos"/>
                <a:cs typeface="Aptos"/>
              </a:defRPr>
            </a:pPr>
            <a:r>
              <a:rPr sz="1875" b="1">
                <a:solidFill>
                  <a:srgbClr val="087F82"/>
                </a:solidFill>
                <a:latin typeface="Aptos"/>
                <a:ea typeface="Aptos"/>
                <a:cs typeface="Aptos"/>
              </a:rPr>
              <a:t>CRYSTALS-Kyber specification, v3.02 (2021)</a:t>
            </a:r>
          </a:p>
        </p:txBody>
      </p:sp>
      <p:sp>
        <p:nvSpPr>
          <p:cNvPr id="11" name="">
            <a:extLst xmlns:a="http://schemas.openxmlformats.org/drawingml/2006/main">
              <a:ext uri="{FF2B5EF4-FFF2-40B4-BE49-F238E27FC236}">
                <a16:creationId xmlns:a16="http://schemas.microsoft.com/office/drawing/2014/main" id="{E67BFD3F-6D62-48B9-BF72-DD21FE798D99}"/>
              </a:ext>
            </a:extLst>
          </p:cNvPr>
          <p:cNvSpPr>
            <a:spLocks xmlns:a="http://schemas.openxmlformats.org/drawingml/2006/main" noGrp="1"/>
          </p:cNvSpPr>
          <p:nvPr/>
        </p:nvSpPr>
        <p:spPr>
          <a:xfrm xmlns:a="http://schemas.openxmlformats.org/drawingml/2006/main">
            <a:off x="609600" y="41148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12F43"/>
                </a:solidFill>
                <a:latin typeface="Aptos"/>
                <a:ea typeface="Aptos"/>
                <a:cs typeface="Aptos"/>
              </a:defRPr>
            </a:pPr>
            <a:r>
              <a:rPr sz="1725" b="0">
                <a:solidFill>
                  <a:srgbClr val="112F43"/>
                </a:solidFill>
                <a:latin typeface="Aptos"/>
                <a:ea typeface="Aptos"/>
                <a:cs typeface="Aptos"/>
              </a:rPr>
              <a:t>Module-LWE design and implementation rationale</a:t>
            </a:r>
          </a:p>
        </p:txBody>
      </p:sp>
      <p:sp>
        <p:nvSpPr>
          <p:cNvPr id="12" name="">
            <a:extLst xmlns:a="http://schemas.openxmlformats.org/drawingml/2006/main">
              <a:ext uri="{FF2B5EF4-FFF2-40B4-BE49-F238E27FC236}">
                <a16:creationId xmlns:a16="http://schemas.microsoft.com/office/drawing/2014/main" id="{B453C0B8-3911-46B6-A8BB-9B13EE9CC8C9}"/>
              </a:ext>
            </a:extLst>
          </p:cNvPr>
          <p:cNvSpPr>
            <a:spLocks xmlns:a="http://schemas.openxmlformats.org/drawingml/2006/main" noGrp="1"/>
          </p:cNvSpPr>
          <p:nvPr/>
        </p:nvSpPr>
        <p:spPr>
          <a:xfrm xmlns:a="http://schemas.openxmlformats.org/drawingml/2006/main">
            <a:off x="609600" y="44862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Aptos"/>
                <a:ea typeface="Aptos"/>
                <a:cs typeface="Aptos"/>
              </a:defRPr>
            </a:pPr>
            <a:r>
              <a:rPr sz="1875" b="1">
                <a:solidFill>
                  <a:srgbClr val="087F82"/>
                </a:solidFill>
                <a:latin typeface="Aptos"/>
                <a:ea typeface="Aptos"/>
                <a:cs typeface="Aptos"/>
              </a:rPr>
              <a:t>NIST FIPS 203 and IR 8413-upd1</a:t>
            </a:r>
          </a:p>
        </p:txBody>
      </p:sp>
      <p:sp>
        <p:nvSpPr>
          <p:cNvPr id="13" name="">
            <a:extLst xmlns:a="http://schemas.openxmlformats.org/drawingml/2006/main">
              <a:ext uri="{FF2B5EF4-FFF2-40B4-BE49-F238E27FC236}">
                <a16:creationId xmlns:a16="http://schemas.microsoft.com/office/drawing/2014/main" id="{EDC2CD51-1C01-4B17-8BD2-516CBF206E68}"/>
              </a:ext>
            </a:extLst>
          </p:cNvPr>
          <p:cNvSpPr>
            <a:spLocks xmlns:a="http://schemas.openxmlformats.org/drawingml/2006/main" noGrp="1"/>
          </p:cNvSpPr>
          <p:nvPr/>
        </p:nvSpPr>
        <p:spPr>
          <a:xfrm xmlns:a="http://schemas.openxmlformats.org/drawingml/2006/main">
            <a:off x="609600" y="48577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12F43"/>
                </a:solidFill>
                <a:latin typeface="Aptos"/>
                <a:ea typeface="Aptos"/>
                <a:cs typeface="Aptos"/>
              </a:defRPr>
            </a:pPr>
            <a:r>
              <a:rPr sz="1725" b="0">
                <a:solidFill>
                  <a:srgbClr val="112F43"/>
                </a:solidFill>
                <a:latin typeface="Aptos"/>
                <a:ea typeface="Aptos"/>
                <a:cs typeface="Aptos"/>
              </a:rPr>
              <a:t>ML-KEM parameters and NIST’s third-round selection analysis</a:t>
            </a:r>
          </a:p>
        </p:txBody>
      </p:sp>
      <p:sp>
        <p:nvSpPr>
          <p:cNvPr id="14" name="">
            <a:extLst xmlns:a="http://schemas.openxmlformats.org/drawingml/2006/main">
              <a:ext uri="{FF2B5EF4-FFF2-40B4-BE49-F238E27FC236}">
                <a16:creationId xmlns:a16="http://schemas.microsoft.com/office/drawing/2014/main" id="{78A5F4CA-FBBD-46F4-86C8-C893D9317D41}"/>
              </a:ext>
            </a:extLst>
          </p:cNvPr>
          <p:cNvSpPr>
            <a:spLocks xmlns:a="http://schemas.openxmlformats.org/drawingml/2006/main" noGrp="1"/>
          </p:cNvSpPr>
          <p:nvPr/>
        </p:nvSpPr>
        <p:spPr>
          <a:xfrm xmlns:a="http://schemas.openxmlformats.org/drawingml/2006/main">
            <a:off x="609600" y="52292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Aptos"/>
                <a:ea typeface="Aptos"/>
                <a:cs typeface="Aptos"/>
              </a:defRPr>
            </a:pPr>
            <a:r>
              <a:rPr sz="1875" b="1">
                <a:solidFill>
                  <a:srgbClr val="087F82"/>
                </a:solidFill>
                <a:latin typeface="Aptos"/>
                <a:ea typeface="Aptos"/>
                <a:cs typeface="Aptos"/>
              </a:rPr>
              <a:t>OpenSSL 3.5 documentation</a:t>
            </a:r>
          </a:p>
        </p:txBody>
      </p:sp>
      <p:sp>
        <p:nvSpPr>
          <p:cNvPr id="15" name="">
            <a:extLst xmlns:a="http://schemas.openxmlformats.org/drawingml/2006/main">
              <a:ext uri="{FF2B5EF4-FFF2-40B4-BE49-F238E27FC236}">
                <a16:creationId xmlns:a16="http://schemas.microsoft.com/office/drawing/2014/main" id="{0DD10368-91C0-4309-92C0-1BC0937E80B2}"/>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12F43"/>
                </a:solidFill>
                <a:latin typeface="Aptos"/>
                <a:ea typeface="Aptos"/>
                <a:cs typeface="Aptos"/>
              </a:defRPr>
            </a:pPr>
            <a:r>
              <a:rPr sz="1725" b="0">
                <a:solidFill>
                  <a:srgbClr val="112F43"/>
                </a:solidFill>
                <a:latin typeface="Aptos"/>
                <a:ea typeface="Aptos"/>
                <a:cs typeface="Aptos"/>
              </a:rPr>
              <a:t>ML-KEM API and integration support</a:t>
            </a:r>
          </a:p>
        </p:txBody>
      </p:sp>
    </p:spTree>
    <p:extLst>
      <p:ext uri="{BB962C8B-B14F-4D97-AF65-F5344CB8AC3E}">
        <p14:creationId xmlns:p14="http://schemas.microsoft.com/office/powerpoint/2010/main" val="1795958379"/>
      </p:ext>
    </p:extLst>
  </p:cSld>
</p:sld>
</file>

<file path=ppt/slides/slide30.xml><?xml version="1.0" encoding="utf-8"?>
<p:sld xmlns:p="http://schemas.openxmlformats.org/presentationml/2006/main">
  <p:cSld>
    <p:bg>
      <p:bgPr>
        <a:solidFill xmlns:a="http://schemas.openxmlformats.org/drawingml/2006/main">
          <a:srgbClr val="F7F5F0"/>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1E4989A4-C511-4945-9FF3-D1865AD14A5B}"/>
              </a:ext>
            </a:extLst>
          </p:cNvPr>
          <p:cNvSpPr>
            <a:spLocks xmlns:a="http://schemas.openxmlformats.org/drawingml/2006/main" noGrp="1"/>
          </p:cNvSpPr>
          <p:nvPr/>
        </p:nvSpPr>
        <p:spPr>
          <a:xfrm xmlns:a="http://schemas.openxmlformats.org/drawingml/2006/main">
            <a:off x="609600" y="428625"/>
            <a:ext cx="10972800" cy="9429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300" b="1">
                <a:solidFill>
                  <a:srgbClr val="112F43"/>
                </a:solidFill>
                <a:latin typeface="Aptos"/>
                <a:ea typeface="Aptos"/>
                <a:cs typeface="Aptos"/>
              </a:defRPr>
            </a:pPr>
            <a:r>
              <a:rPr sz="3300" b="1">
                <a:solidFill>
                  <a:srgbClr val="112F43"/>
                </a:solidFill>
                <a:latin typeface="Aptos"/>
                <a:ea typeface="Aptos"/>
                <a:cs typeface="Aptos"/>
              </a:rPr>
              <a:t>References: comparisons and the ABW programme</a:t>
            </a:r>
          </a:p>
        </p:txBody>
      </p:sp>
      <p:sp>
        <p:nvSpPr>
          <p:cNvPr id="2" name="">
            <a:extLst xmlns:a="http://schemas.openxmlformats.org/drawingml/2006/main">
              <a:ext uri="{FF2B5EF4-FFF2-40B4-BE49-F238E27FC236}">
                <a16:creationId xmlns:a16="http://schemas.microsoft.com/office/drawing/2014/main" id="{17EFB78E-40E4-4DFC-8380-7681A61835F8}"/>
              </a:ext>
            </a:extLst>
          </p:cNvPr>
          <p:cNvSpPr>
            <a:spLocks xmlns:a="http://schemas.openxmlformats.org/drawingml/2006/main" noGrp="1"/>
          </p:cNvSpPr>
          <p:nvPr/>
        </p:nvSpPr>
        <p:spPr>
          <a:xfrm xmlns:a="http://schemas.openxmlformats.org/drawingml/2006/main">
            <a:off x="609600" y="6419850"/>
            <a:ext cx="8858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200" b="0">
                <a:solidFill>
                  <a:srgbClr val="556A74"/>
                </a:solidFill>
                <a:latin typeface="Aptos"/>
                <a:ea typeface="Aptos"/>
                <a:cs typeface="Aptos"/>
              </a:defRPr>
            </a:pPr>
            <a:r>
              <a:rPr sz="1200" b="0">
                <a:solidFill>
                  <a:srgbClr val="556A74"/>
                </a:solidFill>
                <a:latin typeface="Aptos"/>
                <a:ea typeface="Aptos"/>
                <a:cs typeface="Aptos"/>
              </a:rPr>
              <a:t>Technical appendix</a:t>
            </a:r>
          </a:p>
        </p:txBody>
      </p:sp>
      <p:sp>
        <p:nvSpPr>
          <p:cNvPr id="3" name="">
            <a:extLst xmlns:a="http://schemas.openxmlformats.org/drawingml/2006/main">
              <a:ext uri="{FF2B5EF4-FFF2-40B4-BE49-F238E27FC236}">
                <a16:creationId xmlns:a16="http://schemas.microsoft.com/office/drawing/2014/main" id="{3EF0F39B-9B65-4688-AB6F-E3A60B850202}"/>
              </a:ext>
            </a:extLst>
          </p:cNvPr>
          <p:cNvSpPr>
            <a:spLocks xmlns:a="http://schemas.openxmlformats.org/drawingml/2006/main" noGrp="1"/>
          </p:cNvSpPr>
          <p:nvPr/>
        </p:nvSpPr>
        <p:spPr>
          <a:xfrm xmlns:a="http://schemas.openxmlformats.org/drawingml/2006/main">
            <a:off x="10925175" y="6353175"/>
            <a:ext cx="62865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500" b="0">
                <a:solidFill>
                  <a:srgbClr val="556A74"/>
                </a:solidFill>
                <a:latin typeface="Aptos"/>
                <a:ea typeface="Aptos"/>
                <a:cs typeface="Aptos"/>
              </a:defRPr>
            </a:pPr>
            <a:r>
              <a:rPr sz="1500" b="0">
                <a:solidFill>
                  <a:srgbClr val="556A74"/>
                </a:solidFill>
                <a:latin typeface="Aptos"/>
                <a:ea typeface="Aptos"/>
                <a:cs typeface="Aptos"/>
              </a:rPr>
              <a:t>30</a:t>
            </a:r>
          </a:p>
        </p:txBody>
      </p:sp>
      <p:sp>
        <p:nvSpPr>
          <p:cNvPr id="4" name="">
            <a:extLst xmlns:a="http://schemas.openxmlformats.org/drawingml/2006/main">
              <a:ext uri="{FF2B5EF4-FFF2-40B4-BE49-F238E27FC236}">
                <a16:creationId xmlns:a16="http://schemas.microsoft.com/office/drawing/2014/main" id="{7B2CA97F-9C1C-45EA-B5B6-435D7C7E27CD}"/>
              </a:ext>
            </a:extLst>
          </p:cNvPr>
          <p:cNvSpPr>
            <a:spLocks xmlns:a="http://schemas.openxmlformats.org/drawingml/2006/main" noGrp="1"/>
          </p:cNvSpPr>
          <p:nvPr/>
        </p:nvSpPr>
        <p:spPr>
          <a:xfrm xmlns:a="http://schemas.openxmlformats.org/drawingml/2006/main">
            <a:off x="609600" y="15144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Aptos"/>
                <a:ea typeface="Aptos"/>
                <a:cs typeface="Aptos"/>
              </a:defRPr>
            </a:pPr>
            <a:r>
              <a:rPr sz="1875" b="1">
                <a:solidFill>
                  <a:srgbClr val="087F82"/>
                </a:solidFill>
                <a:latin typeface="Aptos"/>
                <a:ea typeface="Aptos"/>
                <a:cs typeface="Aptos"/>
              </a:rPr>
              <a:t>Applebaum–Barak–Wigderson (2009 / STOC 2010)</a:t>
            </a:r>
          </a:p>
        </p:txBody>
      </p:sp>
      <p:sp>
        <p:nvSpPr>
          <p:cNvPr id="5" name="">
            <a:extLst xmlns:a="http://schemas.openxmlformats.org/drawingml/2006/main">
              <a:ext uri="{FF2B5EF4-FFF2-40B4-BE49-F238E27FC236}">
                <a16:creationId xmlns:a16="http://schemas.microsoft.com/office/drawing/2014/main" id="{B5255691-C75A-447D-9FB6-94F728F5F0A7}"/>
              </a:ext>
            </a:extLst>
          </p:cNvPr>
          <p:cNvSpPr>
            <a:spLocks xmlns:a="http://schemas.openxmlformats.org/drawingml/2006/main" noGrp="1"/>
          </p:cNvSpPr>
          <p:nvPr/>
        </p:nvSpPr>
        <p:spPr>
          <a:xfrm xmlns:a="http://schemas.openxmlformats.org/drawingml/2006/main">
            <a:off x="609600" y="18859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12F43"/>
                </a:solidFill>
                <a:latin typeface="Aptos"/>
                <a:ea typeface="Aptos"/>
                <a:cs typeface="Aptos"/>
              </a:defRPr>
            </a:pPr>
            <a:r>
              <a:rPr sz="1725" b="0">
                <a:solidFill>
                  <a:srgbClr val="112F43"/>
                </a:solidFill>
                <a:latin typeface="Aptos"/>
                <a:ea typeface="Aptos"/>
                <a:cs typeface="Aptos"/>
              </a:rPr>
              <a:t>Public-Key Cryptography from Different Assumptions</a:t>
            </a:r>
          </a:p>
        </p:txBody>
      </p:sp>
      <p:sp>
        <p:nvSpPr>
          <p:cNvPr id="6" name="">
            <a:extLst xmlns:a="http://schemas.openxmlformats.org/drawingml/2006/main">
              <a:ext uri="{FF2B5EF4-FFF2-40B4-BE49-F238E27FC236}">
                <a16:creationId xmlns:a16="http://schemas.microsoft.com/office/drawing/2014/main" id="{2B4C4A23-731B-4844-ABB0-0DAC90BB7C40}"/>
              </a:ext>
            </a:extLst>
          </p:cNvPr>
          <p:cNvSpPr>
            <a:spLocks xmlns:a="http://schemas.openxmlformats.org/drawingml/2006/main" noGrp="1"/>
          </p:cNvSpPr>
          <p:nvPr/>
        </p:nvSpPr>
        <p:spPr>
          <a:xfrm xmlns:a="http://schemas.openxmlformats.org/drawingml/2006/main">
            <a:off x="609600" y="22574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Aptos"/>
                <a:ea typeface="Aptos"/>
                <a:cs typeface="Aptos"/>
              </a:defRPr>
            </a:pPr>
            <a:r>
              <a:rPr sz="1875" b="1">
                <a:solidFill>
                  <a:srgbClr val="087F82"/>
                </a:solidFill>
                <a:latin typeface="Aptos"/>
                <a:ea typeface="Aptos"/>
                <a:cs typeface="Aptos"/>
              </a:rPr>
              <a:t>Holenstein–Renner (2005) and Hofheinz–Hövelmanns–Kiltz (2017)</a:t>
            </a:r>
          </a:p>
        </p:txBody>
      </p:sp>
      <p:sp>
        <p:nvSpPr>
          <p:cNvPr id="7" name="">
            <a:extLst xmlns:a="http://schemas.openxmlformats.org/drawingml/2006/main">
              <a:ext uri="{FF2B5EF4-FFF2-40B4-BE49-F238E27FC236}">
                <a16:creationId xmlns:a16="http://schemas.microsoft.com/office/drawing/2014/main" id="{7CBF327C-C398-4730-A402-A8414DF5373D}"/>
              </a:ext>
            </a:extLst>
          </p:cNvPr>
          <p:cNvSpPr>
            <a:spLocks xmlns:a="http://schemas.openxmlformats.org/drawingml/2006/main" noGrp="1"/>
          </p:cNvSpPr>
          <p:nvPr/>
        </p:nvSpPr>
        <p:spPr>
          <a:xfrm xmlns:a="http://schemas.openxmlformats.org/drawingml/2006/main">
            <a:off x="609600" y="26289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12F43"/>
                </a:solidFill>
                <a:latin typeface="Aptos"/>
                <a:ea typeface="Aptos"/>
                <a:cs typeface="Aptos"/>
              </a:defRPr>
            </a:pPr>
            <a:r>
              <a:rPr sz="1725" b="0">
                <a:solidFill>
                  <a:srgbClr val="112F43"/>
                </a:solidFill>
                <a:latin typeface="Aptos"/>
                <a:ea typeface="Aptos"/>
                <a:cs typeface="Aptos"/>
              </a:rPr>
              <a:t>Weak encryption amplification and modular FO analysis</a:t>
            </a:r>
          </a:p>
        </p:txBody>
      </p:sp>
      <p:sp>
        <p:nvSpPr>
          <p:cNvPr id="8" name="">
            <a:extLst xmlns:a="http://schemas.openxmlformats.org/drawingml/2006/main">
              <a:ext uri="{FF2B5EF4-FFF2-40B4-BE49-F238E27FC236}">
                <a16:creationId xmlns:a16="http://schemas.microsoft.com/office/drawing/2014/main" id="{1E56AF62-B4FE-4E9B-BEB4-1B72A1474324}"/>
              </a:ext>
            </a:extLst>
          </p:cNvPr>
          <p:cNvSpPr>
            <a:spLocks xmlns:a="http://schemas.openxmlformats.org/drawingml/2006/main" noGrp="1"/>
          </p:cNvSpPr>
          <p:nvPr/>
        </p:nvSpPr>
        <p:spPr>
          <a:xfrm xmlns:a="http://schemas.openxmlformats.org/drawingml/2006/main">
            <a:off x="609600" y="30003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Aptos"/>
                <a:ea typeface="Aptos"/>
                <a:cs typeface="Aptos"/>
              </a:defRPr>
            </a:pPr>
            <a:r>
              <a:rPr sz="1875" b="1">
                <a:solidFill>
                  <a:srgbClr val="087F82"/>
                </a:solidFill>
                <a:latin typeface="Aptos"/>
                <a:ea typeface="Aptos"/>
                <a:cs typeface="Aptos"/>
              </a:rPr>
              <a:t>NIST IR 8545 and SP 800-227 (2025)</a:t>
            </a:r>
          </a:p>
        </p:txBody>
      </p:sp>
      <p:sp>
        <p:nvSpPr>
          <p:cNvPr id="9" name="">
            <a:extLst xmlns:a="http://schemas.openxmlformats.org/drawingml/2006/main">
              <a:ext uri="{FF2B5EF4-FFF2-40B4-BE49-F238E27FC236}">
                <a16:creationId xmlns:a16="http://schemas.microsoft.com/office/drawing/2014/main" id="{F9385040-BC86-402C-B076-3E860FAB2954}"/>
              </a:ext>
            </a:extLst>
          </p:cNvPr>
          <p:cNvSpPr>
            <a:spLocks xmlns:a="http://schemas.openxmlformats.org/drawingml/2006/main" noGrp="1"/>
          </p:cNvSpPr>
          <p:nvPr/>
        </p:nvSpPr>
        <p:spPr>
          <a:xfrm xmlns:a="http://schemas.openxmlformats.org/drawingml/2006/main">
            <a:off x="609600" y="33718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12F43"/>
                </a:solidFill>
                <a:latin typeface="Aptos"/>
                <a:ea typeface="Aptos"/>
                <a:cs typeface="Aptos"/>
              </a:defRPr>
            </a:pPr>
            <a:r>
              <a:rPr sz="1725" b="0">
                <a:solidFill>
                  <a:srgbClr val="112F43"/>
                </a:solidFill>
                <a:latin typeface="Aptos"/>
                <a:ea typeface="Aptos"/>
                <a:cs typeface="Aptos"/>
              </a:rPr>
              <a:t>Code-based comparison and KEM use requirements</a:t>
            </a:r>
          </a:p>
        </p:txBody>
      </p:sp>
      <p:sp>
        <p:nvSpPr>
          <p:cNvPr id="10" name="">
            <a:extLst xmlns:a="http://schemas.openxmlformats.org/drawingml/2006/main">
              <a:ext uri="{FF2B5EF4-FFF2-40B4-BE49-F238E27FC236}">
                <a16:creationId xmlns:a16="http://schemas.microsoft.com/office/drawing/2014/main" id="{7C3FCD81-94A6-48F1-A8DF-4CBFA64FD0FF}"/>
              </a:ext>
            </a:extLst>
          </p:cNvPr>
          <p:cNvSpPr>
            <a:spLocks xmlns:a="http://schemas.openxmlformats.org/drawingml/2006/main" noGrp="1"/>
          </p:cNvSpPr>
          <p:nvPr/>
        </p:nvSpPr>
        <p:spPr>
          <a:xfrm xmlns:a="http://schemas.openxmlformats.org/drawingml/2006/main">
            <a:off x="609600" y="37433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Aptos"/>
                <a:ea typeface="Aptos"/>
                <a:cs typeface="Aptos"/>
              </a:defRPr>
            </a:pPr>
            <a:r>
              <a:rPr sz="1875" b="1">
                <a:solidFill>
                  <a:srgbClr val="087F82"/>
                </a:solidFill>
                <a:latin typeface="Aptos"/>
                <a:ea typeface="Aptos"/>
                <a:cs typeface="Aptos"/>
              </a:rPr>
              <a:t>HQC specification (Aug 2025) and FrodoKEM proposal (Sep 2025)</a:t>
            </a:r>
          </a:p>
        </p:txBody>
      </p:sp>
      <p:sp>
        <p:nvSpPr>
          <p:cNvPr id="11" name="">
            <a:extLst xmlns:a="http://schemas.openxmlformats.org/drawingml/2006/main">
              <a:ext uri="{FF2B5EF4-FFF2-40B4-BE49-F238E27FC236}">
                <a16:creationId xmlns:a16="http://schemas.microsoft.com/office/drawing/2014/main" id="{984F7E89-FFBF-42DC-836D-53D2278F4469}"/>
              </a:ext>
            </a:extLst>
          </p:cNvPr>
          <p:cNvSpPr>
            <a:spLocks xmlns:a="http://schemas.openxmlformats.org/drawingml/2006/main" noGrp="1"/>
          </p:cNvSpPr>
          <p:nvPr/>
        </p:nvSpPr>
        <p:spPr>
          <a:xfrm xmlns:a="http://schemas.openxmlformats.org/drawingml/2006/main">
            <a:off x="609600" y="41148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12F43"/>
                </a:solidFill>
                <a:latin typeface="Aptos"/>
                <a:ea typeface="Aptos"/>
                <a:cs typeface="Aptos"/>
              </a:defRPr>
            </a:pPr>
            <a:r>
              <a:rPr sz="1725" b="0">
                <a:solidFill>
                  <a:srgbClr val="112F43"/>
                </a:solidFill>
                <a:latin typeface="Aptos"/>
                <a:ea typeface="Aptos"/>
                <a:cs typeface="Aptos"/>
              </a:rPr>
              <a:t>Exact key and ciphertext sizes for the compared variants</a:t>
            </a:r>
          </a:p>
        </p:txBody>
      </p:sp>
      <p:sp>
        <p:nvSpPr>
          <p:cNvPr id="12" name="">
            <a:extLst xmlns:a="http://schemas.openxmlformats.org/drawingml/2006/main">
              <a:ext uri="{FF2B5EF4-FFF2-40B4-BE49-F238E27FC236}">
                <a16:creationId xmlns:a16="http://schemas.microsoft.com/office/drawing/2014/main" id="{30E3D854-DEF0-4B12-85C6-1377B189E19F}"/>
              </a:ext>
            </a:extLst>
          </p:cNvPr>
          <p:cNvSpPr>
            <a:spLocks xmlns:a="http://schemas.openxmlformats.org/drawingml/2006/main" noGrp="1"/>
          </p:cNvSpPr>
          <p:nvPr/>
        </p:nvSpPr>
        <p:spPr>
          <a:xfrm xmlns:a="http://schemas.openxmlformats.org/drawingml/2006/main">
            <a:off x="609600" y="448627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Aptos"/>
                <a:ea typeface="Aptos"/>
                <a:cs typeface="Aptos"/>
              </a:defRPr>
            </a:pPr>
            <a:r>
              <a:rPr sz="1875" b="1">
                <a:solidFill>
                  <a:srgbClr val="087F82"/>
                </a:solidFill>
                <a:latin typeface="Aptos"/>
                <a:ea typeface="Aptos"/>
                <a:cs typeface="Aptos"/>
              </a:rPr>
              <a:t>Bogdanov–Kothari–Rosen (2023) and Dao–Jain (2024)</a:t>
            </a:r>
          </a:p>
        </p:txBody>
      </p:sp>
      <p:sp>
        <p:nvSpPr>
          <p:cNvPr id="13" name="">
            <a:extLst xmlns:a="http://schemas.openxmlformats.org/drawingml/2006/main">
              <a:ext uri="{FF2B5EF4-FFF2-40B4-BE49-F238E27FC236}">
                <a16:creationId xmlns:a16="http://schemas.microsoft.com/office/drawing/2014/main" id="{98DEEFF0-E7CB-49CC-B669-F512AD66C17E}"/>
              </a:ext>
            </a:extLst>
          </p:cNvPr>
          <p:cNvSpPr>
            <a:spLocks xmlns:a="http://schemas.openxmlformats.org/drawingml/2006/main" noGrp="1"/>
          </p:cNvSpPr>
          <p:nvPr/>
        </p:nvSpPr>
        <p:spPr>
          <a:xfrm xmlns:a="http://schemas.openxmlformats.org/drawingml/2006/main">
            <a:off x="609600" y="485775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12F43"/>
                </a:solidFill>
                <a:latin typeface="Aptos"/>
                <a:ea typeface="Aptos"/>
                <a:cs typeface="Aptos"/>
              </a:defRPr>
            </a:pPr>
            <a:r>
              <a:rPr sz="1725" b="0">
                <a:solidFill>
                  <a:srgbClr val="112F43"/>
                </a:solidFill>
                <a:latin typeface="Aptos"/>
                <a:ea typeface="Aptos"/>
                <a:cs typeface="Aptos"/>
              </a:rPr>
              <a:t>Local PRGs, low-degree evidence and Dense-Sparse LPN</a:t>
            </a:r>
          </a:p>
        </p:txBody>
      </p:sp>
      <p:sp>
        <p:nvSpPr>
          <p:cNvPr id="14" name="">
            <a:extLst xmlns:a="http://schemas.openxmlformats.org/drawingml/2006/main">
              <a:ext uri="{FF2B5EF4-FFF2-40B4-BE49-F238E27FC236}">
                <a16:creationId xmlns:a16="http://schemas.microsoft.com/office/drawing/2014/main" id="{A5C77C8C-B152-4A0F-9B07-399A357301AA}"/>
              </a:ext>
            </a:extLst>
          </p:cNvPr>
          <p:cNvSpPr>
            <a:spLocks xmlns:a="http://schemas.openxmlformats.org/drawingml/2006/main" noGrp="1"/>
          </p:cNvSpPr>
          <p:nvPr/>
        </p:nvSpPr>
        <p:spPr>
          <a:xfrm xmlns:a="http://schemas.openxmlformats.org/drawingml/2006/main">
            <a:off x="609600" y="5229225"/>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1">
                <a:solidFill>
                  <a:srgbClr val="087F82"/>
                </a:solidFill>
                <a:latin typeface="Aptos"/>
                <a:ea typeface="Aptos"/>
                <a:cs typeface="Aptos"/>
              </a:defRPr>
            </a:pPr>
            <a:r>
              <a:rPr sz="1875" b="1">
                <a:solidFill>
                  <a:srgbClr val="087F82"/>
                </a:solidFill>
                <a:latin typeface="Aptos"/>
                <a:ea typeface="Aptos"/>
                <a:cs typeface="Aptos"/>
              </a:rPr>
              <a:t>Hair–Sahai (April 2026 preprint)</a:t>
            </a:r>
          </a:p>
        </p:txBody>
      </p:sp>
      <p:sp>
        <p:nvSpPr>
          <p:cNvPr id="15" name="">
            <a:extLst xmlns:a="http://schemas.openxmlformats.org/drawingml/2006/main">
              <a:ext uri="{FF2B5EF4-FFF2-40B4-BE49-F238E27FC236}">
                <a16:creationId xmlns:a16="http://schemas.microsoft.com/office/drawing/2014/main" id="{09B97518-DADB-43CE-8A82-EC937BBACE18}"/>
              </a:ext>
            </a:extLst>
          </p:cNvPr>
          <p:cNvSpPr>
            <a:spLocks xmlns:a="http://schemas.openxmlformats.org/drawingml/2006/main" noGrp="1"/>
          </p:cNvSpPr>
          <p:nvPr/>
        </p:nvSpPr>
        <p:spPr>
          <a:xfrm xmlns:a="http://schemas.openxmlformats.org/drawingml/2006/main">
            <a:off x="609600" y="5600700"/>
            <a:ext cx="109728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0">
                <a:solidFill>
                  <a:srgbClr val="112F43"/>
                </a:solidFill>
                <a:latin typeface="Aptos"/>
                <a:ea typeface="Aptos"/>
                <a:cs typeface="Aptos"/>
              </a:defRPr>
            </a:pPr>
            <a:r>
              <a:rPr sz="1725" b="0">
                <a:solidFill>
                  <a:srgbClr val="112F43"/>
                </a:solidFill>
                <a:latin typeface="Aptos"/>
                <a:ea typeface="Aptos"/>
                <a:cs typeface="Aptos"/>
              </a:rPr>
              <a:t>Public Key Encryption from High-Corruption CSPs</a:t>
            </a:r>
          </a:p>
        </p:txBody>
      </p:sp>
    </p:spTree>
    <p:extLst>
      <p:ext uri="{BB962C8B-B14F-4D97-AF65-F5344CB8AC3E}">
        <p14:creationId xmlns:p14="http://schemas.microsoft.com/office/powerpoint/2010/main" val="53586153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2026-10-06T03:43:13.9600000Z</dcterms:created>
  <dcterms:modified xsi:type="dcterms:W3CDTF">2026-10-06T03:43:13.9600000Z</dcterms:modified>
</coreProperties>
</file>